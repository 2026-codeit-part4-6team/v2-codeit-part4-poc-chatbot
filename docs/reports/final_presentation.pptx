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0" d="100"/>
          <a:sy n="40" d="100"/>
        </p:scale>
        <p:origin x="78" y="1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6645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코드잇 스프린트 파트4 불꽃6팀, 매출부스터 최종 보고를 시작하겠습니다. 발표는 10분, 시연은 발표가 끝난 뒤에 이어서 진행합니다.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순서입니다. 프로젝트 개요와 팀, 시스템 구성을 먼저 보고, 파트별 결과를 다룹니다. 저는 컨설턴트 챗봇 파트를 맡았고 v0에서 v3까지의 개선 과정을 중심으로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소상공인의 고민은 셋입니다. 무엇을 팔지, 어떻게 알릴지, 그 광고가 법에 걸리지 않는지. 챗봇 두 개는 각각 따로 쓸 수 있고, 원하면 분석이 전략을 카피니로 이어받을 수도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구성입니다. 저는 컨설턴트 챗봇을 담당했습니다.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구조입니다. 서비스가 사용자 요청을 받아 두 챗봇을 호출하고, 두 챗봇은 같은 외부 데이터와 같은 검증 함수 4종을 공유합니다. 검증을 통과한 결과만 사용자에게 돌아갑니다.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카피니가 광고를 만드는 과정입니다. 카피를 3안 만들고, 랭킹으로 고르고, 규제 검증을 통과한 것만 이미지로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카피 프롬프트는 8라운드, 이미지·배너는 10라운드 튜닝했습니다. Judge 평균 4.72, 배너 가독성은 4.13에서 4.60으로 올랐습니다. 다만 금지어를 늘릴수록 카피가 밋밋해져서, 7차는 롤백하고 사후 검증에 방어를 맡기는 쪽으로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카피니를 만들면서 마주친 문제 세 가지입니다. 첫째, 카피에 외국어가 섞이고 이미지의 한글이 깨졌습니다. 프롬프트로는 잡히지 않아 생성 모델과 이미지 모델을 각각 교체했습니다. 둘째, 구체성과 규제가 서로 충돌했습니다. 규제를 조일수록 카피가 밋밋해져서, 비교와 수치는 금지하되 위치 정보만 살려 절충했습니다. 셋째, 배너 하단이 비어 보이는 문제는 스타일 로테이션과 공통 규칙으로 가독성을 4.13에서 4.60까지 올렸습니다.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담당한 분석이 파이프라인입니다. 질문 분석 뒤 상권·트렌드·추천질문 세 조회를 병렬로 보내고, 전략 제안과 검증을 거쳐 응답합니다.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골든 데이터셋을 봄·여름·가을·겨울 각 15문항으로 재구성해 다시 측정했습니다. 60문항 전부 정상 응답했고, 실패율과 환각률은 0%, 계약과 트렌드 경로는 100%입니다. 답변 품질은 v3 초기 4.16에서 최종 4.33으로 올랐습니다. 그리고 좋아졌다는 증거가 없는 변경은 되돌렸습니다.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분석이를 만들면서 마주친 문제 세 가지와 각각을 어떻게 고쳤는지입니다. 첫째, v0은 Judge 평균이 가장 높았지만 응답 자체가 실패한 문항이 다섯 개였습니다. 점수와 별개로 실패율과 계약 준수를 지표로 분리해 회귀 검증에 넣었고, 실패는 0퍼센트가 됐습니다. 둘째, 추천 질문이 챗봇이 사용자에게 되묻는 방향으로 나왔습니다. 어미 필터는 정상 문장을 오탐해서 걷어내고, 화자 방향을 별도 평가축으로 분리했습니다. 셋째, 근거 없는 할인율을 프롬프트 규칙으로 막으려 했지만 실행 항목에서 계속 우회됐습니다. 36문항 반례 실험에서 11문항만 통과해 변경을 전면 롤백했습니다.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요청은 네 개의 검문소를 지납니다. 통과하면 응답으로, 걸리면 차단이나 재질문으로 돌아갑니다. 두 챗봇이 같은 함수를 공유합니다.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서비스를 쓰는 흐름입니다. 가입부터 결과 재사용까지 다섯 단계, 오른쪽은 그 요청을 처리하는 구조입니다.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로그인하면 업종과 위치가 등록되고, 대시보드에서 챗봇 두 개 중 하나를 고릅니다. 왼쪽에 무료 잔여와 크레딧이 항상 보입니다.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대화 화면에서 추천 질문과 예상 사용량을 확인하고, 마이페이지에서 생성 이력과 크레딧을 봅니다. 무료는 하루 10회, 컨설턴트는 10크레딧, 광고 생성은 50크레딧입니다.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외부 데이터는 상권, 검색어 트렌드, 지도, 법률 조문입니다. 조회 결과는 7일 캐시로 재사용해 API 호출을 줄였고, OpenAI 예산은 PM이 매일 스크럼에서 사용량을 공유하며 관리했습니다.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전략에서 광고까지 한 흐름으로 이었고, 안전장치와 데이터는 두 챗봇의 공유 자산으로 만들었습니다. 그리고 인터페이스 계약을 먼저 고정한 덕분에 네 명이 서로를 기다리지 않고 2주 안에 끝낼 수 있었습니다.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파트별로 하나씩 정리했습니다. 컨설턴트는 계절성 표현, 검증은 이미지 텍스트 미검증이 대표적인 한계입니다.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여기까지입니다. 이어서 라이브 시연으로 넘어가겠습니다.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 Id="rId9"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sv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svg"/></Relationships>
</file>

<file path=ppt/slides/_rels/slide1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sv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A5AED"/>
        </a:solidFill>
        <a:effectLst/>
      </p:bgPr>
    </p:bg>
    <p:spTree>
      <p:nvGrpSpPr>
        <p:cNvPr id="1" name=""/>
        <p:cNvGrpSpPr/>
        <p:nvPr/>
      </p:nvGrpSpPr>
      <p:grpSpPr>
        <a:xfrm>
          <a:off x="0" y="0"/>
          <a:ext cx="0" cy="0"/>
          <a:chOff x="0" y="0"/>
          <a:chExt cx="0" cy="0"/>
        </a:xfrm>
      </p:grpSpPr>
      <p:sp>
        <p:nvSpPr>
          <p:cNvPr id="2" name="Shape 0"/>
          <p:cNvSpPr/>
          <p:nvPr/>
        </p:nvSpPr>
        <p:spPr>
          <a:xfrm>
            <a:off x="914400" y="838200"/>
            <a:ext cx="114300" cy="114300"/>
          </a:xfrm>
          <a:prstGeom prst="ellipse">
            <a:avLst/>
          </a:prstGeom>
          <a:solidFill>
            <a:srgbClr val="FFB703"/>
          </a:solidFill>
          <a:ln/>
        </p:spPr>
        <p:txBody>
          <a:bodyPr/>
          <a:lstStyle/>
          <a:p>
            <a:endParaRPr lang="ko-KR" altLang="en-US"/>
          </a:p>
        </p:txBody>
      </p:sp>
      <p:sp>
        <p:nvSpPr>
          <p:cNvPr id="3" name="Text 1"/>
          <p:cNvSpPr/>
          <p:nvPr/>
        </p:nvSpPr>
        <p:spPr>
          <a:xfrm>
            <a:off x="1181100" y="723900"/>
            <a:ext cx="7040880" cy="381000"/>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D6D0FF"/>
                </a:solidFill>
                <a:latin typeface="IBM Plex Mono" pitchFamily="34" charset="0"/>
                <a:ea typeface="IBM Plex Mono" pitchFamily="34" charset="-122"/>
                <a:cs typeface="IBM Plex Mono" pitchFamily="34" charset="-120"/>
              </a:rPr>
              <a:t>CODEIT SPRINT PART4 · 불꽃6팀 · 2026.08</a:t>
            </a:r>
            <a:endParaRPr lang="en-US" sz="1875" dirty="0"/>
          </a:p>
        </p:txBody>
      </p:sp>
      <p:sp>
        <p:nvSpPr>
          <p:cNvPr id="4" name="Text 2"/>
          <p:cNvSpPr/>
          <p:nvPr/>
        </p:nvSpPr>
        <p:spPr>
          <a:xfrm>
            <a:off x="914400" y="3297585"/>
            <a:ext cx="6692667" cy="1428750"/>
          </a:xfrm>
          <a:prstGeom prst="rect">
            <a:avLst/>
          </a:prstGeom>
          <a:noFill/>
          <a:ln/>
        </p:spPr>
        <p:txBody>
          <a:bodyPr wrap="square" lIns="25400" tIns="25400" rIns="25400" bIns="25400" rtlCol="0" anchor="t">
            <a:normAutofit/>
          </a:bodyPr>
          <a:lstStyle/>
          <a:p>
            <a:pPr marL="0" indent="0" algn="l">
              <a:lnSpc>
                <a:spcPct val="69194"/>
              </a:lnSpc>
              <a:buNone/>
            </a:pPr>
            <a:r>
              <a:rPr lang="en-US" sz="10950" b="1" kern="0" spc="-493" dirty="0">
                <a:solidFill>
                  <a:srgbClr val="FFFFFF"/>
                </a:solidFill>
                <a:latin typeface="Noto Sans KR" pitchFamily="34" charset="0"/>
                <a:ea typeface="Noto Sans KR" pitchFamily="34" charset="-122"/>
                <a:cs typeface="Noto Sans KR" pitchFamily="34" charset="-120"/>
              </a:rPr>
              <a:t>매출부스터</a:t>
            </a:r>
            <a:endParaRPr lang="en-US" sz="109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8193" y="3011835"/>
            <a:ext cx="1428750" cy="1143000"/>
          </a:xfrm>
          <a:prstGeom prst="rect">
            <a:avLst/>
          </a:prstGeom>
        </p:spPr>
      </p:pic>
      <p:sp>
        <p:nvSpPr>
          <p:cNvPr id="6" name="Text 3"/>
          <p:cNvSpPr/>
          <p:nvPr/>
        </p:nvSpPr>
        <p:spPr>
          <a:xfrm>
            <a:off x="914400" y="5012085"/>
            <a:ext cx="9614535" cy="1272480"/>
          </a:xfrm>
          <a:prstGeom prst="rect">
            <a:avLst/>
          </a:prstGeom>
          <a:noFill/>
          <a:ln/>
        </p:spPr>
        <p:txBody>
          <a:bodyPr wrap="square" lIns="25400" tIns="25400" rIns="25400" bIns="25400" rtlCol="0" anchor="t">
            <a:normAutofit/>
          </a:bodyPr>
          <a:lstStyle/>
          <a:p>
            <a:pPr marL="0" indent="0" algn="l">
              <a:lnSpc>
                <a:spcPct val="92571"/>
              </a:lnSpc>
              <a:buNone/>
            </a:pPr>
            <a:r>
              <a:rPr lang="en-US" sz="3600" b="1" dirty="0">
                <a:solidFill>
                  <a:srgbClr val="EDEAFE"/>
                </a:solidFill>
                <a:latin typeface="Noto Sans KR" pitchFamily="34" charset="0"/>
                <a:ea typeface="Noto Sans KR" pitchFamily="34" charset="-122"/>
                <a:cs typeface="Noto Sans KR" pitchFamily="34" charset="-120"/>
              </a:rPr>
              <a:t>상권 데이터로 전략을, 전략으로 광고를</a:t>
            </a:r>
            <a:endParaRPr lang="en-US" sz="3600" dirty="0"/>
          </a:p>
        </p:txBody>
      </p:sp>
      <p:sp>
        <p:nvSpPr>
          <p:cNvPr id="7" name="Text 4"/>
          <p:cNvSpPr/>
          <p:nvPr/>
        </p:nvSpPr>
        <p:spPr>
          <a:xfrm>
            <a:off x="914400" y="6570315"/>
            <a:ext cx="8591550" cy="495300"/>
          </a:xfrm>
          <a:prstGeom prst="rect">
            <a:avLst/>
          </a:prstGeom>
          <a:noFill/>
          <a:ln/>
        </p:spPr>
        <p:txBody>
          <a:bodyPr wrap="square" lIns="25400" tIns="25400" rIns="25400" bIns="25400" rtlCol="0" anchor="t">
            <a:normAutofit/>
          </a:bodyPr>
          <a:lstStyle/>
          <a:p>
            <a:pPr marL="0" indent="0" algn="l">
              <a:lnSpc>
                <a:spcPct val="104348"/>
              </a:lnSpc>
              <a:buNone/>
            </a:pPr>
            <a:r>
              <a:rPr lang="en-US" sz="2400" dirty="0">
                <a:solidFill>
                  <a:srgbClr val="C7BEFB"/>
                </a:solidFill>
                <a:latin typeface="Noto Sans KR" pitchFamily="34" charset="0"/>
                <a:ea typeface="Noto Sans KR" pitchFamily="34" charset="-122"/>
                <a:cs typeface="Noto Sans KR" pitchFamily="34" charset="-120"/>
              </a:rPr>
              <a:t>당신의 가게, 데이터로 성공까지</a:t>
            </a:r>
            <a:endParaRPr lang="en-US" sz="2400" dirty="0"/>
          </a:p>
        </p:txBody>
      </p:sp>
      <p:sp>
        <p:nvSpPr>
          <p:cNvPr id="8" name="Text 5"/>
          <p:cNvSpPr/>
          <p:nvPr/>
        </p:nvSpPr>
        <p:spPr>
          <a:xfrm>
            <a:off x="914400" y="9258300"/>
            <a:ext cx="1026795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C7BEFB"/>
                </a:solidFill>
                <a:latin typeface="Noto Sans KR" pitchFamily="34" charset="0"/>
                <a:ea typeface="Noto Sans KR" pitchFamily="34" charset="-122"/>
                <a:cs typeface="Noto Sans KR" pitchFamily="34" charset="-120"/>
              </a:rPr>
              <a:t>프로젝트 최종 보고 · 전민재 · 김재헌 · 조희원 · 윤승준</a:t>
            </a:r>
            <a:endParaRPr lang="en-US" sz="1875" dirty="0"/>
          </a:p>
        </p:txBody>
      </p:sp>
      <p:pic>
        <p:nvPicPr>
          <p:cNvPr id="9" name="Image 1" descr="preencoded.png"/>
          <p:cNvPicPr>
            <a:picLocks noChangeAspect="1"/>
          </p:cNvPicPr>
          <p:nvPr/>
        </p:nvPicPr>
        <p:blipFill>
          <a:blip r:embed="rId4"/>
          <a:srcRect/>
          <a:stretch/>
        </p:blipFill>
        <p:spPr>
          <a:xfrm>
            <a:off x="10439400" y="5988397"/>
            <a:ext cx="7467600" cy="42986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76300"/>
            <a:ext cx="18105120"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CONTENTS</a:t>
            </a:r>
            <a:endParaRPr lang="en-US" sz="1875" dirty="0"/>
          </a:p>
        </p:txBody>
      </p:sp>
      <p:sp>
        <p:nvSpPr>
          <p:cNvPr id="3" name="Text 1"/>
          <p:cNvSpPr/>
          <p:nvPr/>
        </p:nvSpPr>
        <p:spPr>
          <a:xfrm>
            <a:off x="914400" y="1343025"/>
            <a:ext cx="18105120" cy="782836"/>
          </a:xfrm>
          <a:prstGeom prst="rect">
            <a:avLst/>
          </a:prstGeom>
          <a:noFill/>
          <a:ln/>
        </p:spPr>
        <p:txBody>
          <a:bodyPr wrap="square" lIns="25400" tIns="25400" rIns="25400" bIns="25400" rtlCol="0" anchor="t">
            <a:normAutofit/>
          </a:bodyPr>
          <a:lstStyle/>
          <a:p>
            <a:pPr marL="0" indent="0" algn="l">
              <a:lnSpc>
                <a:spcPct val="78990"/>
              </a:lnSpc>
              <a:buNone/>
            </a:pPr>
            <a:r>
              <a:rPr lang="en-US" sz="5100" b="1" kern="0" spc="-153" dirty="0">
                <a:solidFill>
                  <a:srgbClr val="1F2937"/>
                </a:solidFill>
                <a:latin typeface="Noto Sans KR" pitchFamily="34" charset="0"/>
                <a:ea typeface="Noto Sans KR" pitchFamily="34" charset="-122"/>
                <a:cs typeface="Noto Sans KR" pitchFamily="34" charset="-120"/>
              </a:rPr>
              <a:t>목차</a:t>
            </a:r>
            <a:endParaRPr lang="en-US" sz="5100" dirty="0"/>
          </a:p>
        </p:txBody>
      </p:sp>
      <p:sp>
        <p:nvSpPr>
          <p:cNvPr id="4" name="Shape 2"/>
          <p:cNvSpPr/>
          <p:nvPr/>
        </p:nvSpPr>
        <p:spPr>
          <a:xfrm>
            <a:off x="914400" y="2621161"/>
            <a:ext cx="7943850" cy="1000125"/>
          </a:xfrm>
          <a:prstGeom prst="roundRect">
            <a:avLst>
              <a:gd name="adj" fmla="val 20952"/>
            </a:avLst>
          </a:prstGeom>
          <a:solidFill>
            <a:srgbClr val="FFFFFF"/>
          </a:solidFill>
          <a:ln/>
        </p:spPr>
        <p:txBody>
          <a:bodyPr/>
          <a:lstStyle/>
          <a:p>
            <a:endParaRPr lang="ko-KR" altLang="en-US"/>
          </a:p>
        </p:txBody>
      </p:sp>
      <p:sp>
        <p:nvSpPr>
          <p:cNvPr id="5" name="Text 3"/>
          <p:cNvSpPr/>
          <p:nvPr/>
        </p:nvSpPr>
        <p:spPr>
          <a:xfrm>
            <a:off x="1238250" y="2945011"/>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01</a:t>
            </a:r>
            <a:endParaRPr lang="en-US" sz="2100" dirty="0"/>
          </a:p>
        </p:txBody>
      </p:sp>
      <p:sp>
        <p:nvSpPr>
          <p:cNvPr id="6" name="Text 4"/>
          <p:cNvSpPr/>
          <p:nvPr/>
        </p:nvSpPr>
        <p:spPr>
          <a:xfrm>
            <a:off x="1786979" y="2887861"/>
            <a:ext cx="2047369"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프로젝트 개요</a:t>
            </a:r>
            <a:endParaRPr lang="en-US" sz="2550" dirty="0"/>
          </a:p>
        </p:txBody>
      </p:sp>
      <p:sp>
        <p:nvSpPr>
          <p:cNvPr id="7" name="Shape 5"/>
          <p:cNvSpPr/>
          <p:nvPr/>
        </p:nvSpPr>
        <p:spPr>
          <a:xfrm>
            <a:off x="9429750" y="2621161"/>
            <a:ext cx="7943850" cy="1000125"/>
          </a:xfrm>
          <a:prstGeom prst="roundRect">
            <a:avLst>
              <a:gd name="adj" fmla="val 20952"/>
            </a:avLst>
          </a:prstGeom>
          <a:solidFill>
            <a:srgbClr val="FFFFFF"/>
          </a:solidFill>
          <a:ln/>
        </p:spPr>
        <p:txBody>
          <a:bodyPr/>
          <a:lstStyle/>
          <a:p>
            <a:endParaRPr lang="ko-KR" altLang="en-US"/>
          </a:p>
        </p:txBody>
      </p:sp>
      <p:sp>
        <p:nvSpPr>
          <p:cNvPr id="8" name="Text 6"/>
          <p:cNvSpPr/>
          <p:nvPr/>
        </p:nvSpPr>
        <p:spPr>
          <a:xfrm>
            <a:off x="9753600" y="2945011"/>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06</a:t>
            </a:r>
            <a:endParaRPr lang="en-US" sz="2100" dirty="0"/>
          </a:p>
        </p:txBody>
      </p:sp>
      <p:sp>
        <p:nvSpPr>
          <p:cNvPr id="9" name="Text 7"/>
          <p:cNvSpPr/>
          <p:nvPr/>
        </p:nvSpPr>
        <p:spPr>
          <a:xfrm>
            <a:off x="10302329" y="2887861"/>
            <a:ext cx="2010698"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검증 함수 4종</a:t>
            </a:r>
            <a:endParaRPr lang="en-US" sz="2550" dirty="0"/>
          </a:p>
        </p:txBody>
      </p:sp>
      <p:sp>
        <p:nvSpPr>
          <p:cNvPr id="10" name="Shape 8"/>
          <p:cNvSpPr/>
          <p:nvPr/>
        </p:nvSpPr>
        <p:spPr>
          <a:xfrm>
            <a:off x="914400" y="3830836"/>
            <a:ext cx="7943850" cy="1000125"/>
          </a:xfrm>
          <a:prstGeom prst="roundRect">
            <a:avLst>
              <a:gd name="adj" fmla="val 20952"/>
            </a:avLst>
          </a:prstGeom>
          <a:solidFill>
            <a:srgbClr val="FFFFFF"/>
          </a:solidFill>
          <a:ln/>
        </p:spPr>
        <p:txBody>
          <a:bodyPr/>
          <a:lstStyle/>
          <a:p>
            <a:endParaRPr lang="ko-KR" altLang="en-US"/>
          </a:p>
        </p:txBody>
      </p:sp>
      <p:sp>
        <p:nvSpPr>
          <p:cNvPr id="11" name="Text 9"/>
          <p:cNvSpPr/>
          <p:nvPr/>
        </p:nvSpPr>
        <p:spPr>
          <a:xfrm>
            <a:off x="1238250" y="4154686"/>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02</a:t>
            </a:r>
            <a:endParaRPr lang="en-US" sz="2100" dirty="0"/>
          </a:p>
        </p:txBody>
      </p:sp>
      <p:sp>
        <p:nvSpPr>
          <p:cNvPr id="12" name="Text 10"/>
          <p:cNvSpPr/>
          <p:nvPr/>
        </p:nvSpPr>
        <p:spPr>
          <a:xfrm>
            <a:off x="1786979" y="4097536"/>
            <a:ext cx="1043583"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팀 소개</a:t>
            </a:r>
            <a:endParaRPr lang="en-US" sz="2550" dirty="0"/>
          </a:p>
        </p:txBody>
      </p:sp>
      <p:sp>
        <p:nvSpPr>
          <p:cNvPr id="13" name="Shape 11"/>
          <p:cNvSpPr/>
          <p:nvPr/>
        </p:nvSpPr>
        <p:spPr>
          <a:xfrm>
            <a:off x="9429750" y="3830836"/>
            <a:ext cx="7943850" cy="1000125"/>
          </a:xfrm>
          <a:prstGeom prst="roundRect">
            <a:avLst>
              <a:gd name="adj" fmla="val 20952"/>
            </a:avLst>
          </a:prstGeom>
          <a:solidFill>
            <a:srgbClr val="FFFFFF"/>
          </a:solidFill>
          <a:ln/>
        </p:spPr>
        <p:txBody>
          <a:bodyPr/>
          <a:lstStyle/>
          <a:p>
            <a:endParaRPr lang="ko-KR" altLang="en-US"/>
          </a:p>
        </p:txBody>
      </p:sp>
      <p:sp>
        <p:nvSpPr>
          <p:cNvPr id="14" name="Text 12"/>
          <p:cNvSpPr/>
          <p:nvPr/>
        </p:nvSpPr>
        <p:spPr>
          <a:xfrm>
            <a:off x="9753600" y="4154686"/>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07</a:t>
            </a:r>
            <a:endParaRPr lang="en-US" sz="2100" dirty="0"/>
          </a:p>
        </p:txBody>
      </p:sp>
      <p:sp>
        <p:nvSpPr>
          <p:cNvPr id="15" name="Text 13"/>
          <p:cNvSpPr/>
          <p:nvPr/>
        </p:nvSpPr>
        <p:spPr>
          <a:xfrm>
            <a:off x="10302329" y="4097536"/>
            <a:ext cx="2523277"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서비스 · UI / UX</a:t>
            </a:r>
            <a:endParaRPr lang="en-US" sz="2550" dirty="0"/>
          </a:p>
        </p:txBody>
      </p:sp>
      <p:sp>
        <p:nvSpPr>
          <p:cNvPr id="16" name="Shape 14"/>
          <p:cNvSpPr/>
          <p:nvPr/>
        </p:nvSpPr>
        <p:spPr>
          <a:xfrm>
            <a:off x="914400" y="5040511"/>
            <a:ext cx="7943850" cy="1000125"/>
          </a:xfrm>
          <a:prstGeom prst="roundRect">
            <a:avLst>
              <a:gd name="adj" fmla="val 20952"/>
            </a:avLst>
          </a:prstGeom>
          <a:solidFill>
            <a:srgbClr val="FFFFFF"/>
          </a:solidFill>
          <a:ln/>
        </p:spPr>
        <p:txBody>
          <a:bodyPr/>
          <a:lstStyle/>
          <a:p>
            <a:endParaRPr lang="ko-KR" altLang="en-US"/>
          </a:p>
        </p:txBody>
      </p:sp>
      <p:sp>
        <p:nvSpPr>
          <p:cNvPr id="17" name="Text 15"/>
          <p:cNvSpPr/>
          <p:nvPr/>
        </p:nvSpPr>
        <p:spPr>
          <a:xfrm>
            <a:off x="1238250" y="5364361"/>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03</a:t>
            </a:r>
            <a:endParaRPr lang="en-US" sz="2100" dirty="0"/>
          </a:p>
        </p:txBody>
      </p:sp>
      <p:sp>
        <p:nvSpPr>
          <p:cNvPr id="18" name="Text 16"/>
          <p:cNvSpPr/>
          <p:nvPr/>
        </p:nvSpPr>
        <p:spPr>
          <a:xfrm>
            <a:off x="1786979" y="5307211"/>
            <a:ext cx="2455991"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전체 시스템 구성</a:t>
            </a:r>
            <a:endParaRPr lang="en-US" sz="2550" dirty="0"/>
          </a:p>
        </p:txBody>
      </p:sp>
      <p:sp>
        <p:nvSpPr>
          <p:cNvPr id="19" name="Shape 17"/>
          <p:cNvSpPr/>
          <p:nvPr/>
        </p:nvSpPr>
        <p:spPr>
          <a:xfrm>
            <a:off x="9429750" y="5040511"/>
            <a:ext cx="7943850" cy="1000125"/>
          </a:xfrm>
          <a:prstGeom prst="roundRect">
            <a:avLst>
              <a:gd name="adj" fmla="val 20952"/>
            </a:avLst>
          </a:prstGeom>
          <a:solidFill>
            <a:srgbClr val="FFFFFF"/>
          </a:solidFill>
          <a:ln/>
        </p:spPr>
        <p:txBody>
          <a:bodyPr/>
          <a:lstStyle/>
          <a:p>
            <a:endParaRPr lang="ko-KR" altLang="en-US"/>
          </a:p>
        </p:txBody>
      </p:sp>
      <p:sp>
        <p:nvSpPr>
          <p:cNvPr id="20" name="Text 18"/>
          <p:cNvSpPr/>
          <p:nvPr/>
        </p:nvSpPr>
        <p:spPr>
          <a:xfrm>
            <a:off x="9753600" y="5364361"/>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08</a:t>
            </a:r>
            <a:endParaRPr lang="en-US" sz="2100" dirty="0"/>
          </a:p>
        </p:txBody>
      </p:sp>
      <p:sp>
        <p:nvSpPr>
          <p:cNvPr id="21" name="Text 19"/>
          <p:cNvSpPr/>
          <p:nvPr/>
        </p:nvSpPr>
        <p:spPr>
          <a:xfrm>
            <a:off x="10302329" y="5307211"/>
            <a:ext cx="2047369"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데이터와 운영</a:t>
            </a:r>
            <a:endParaRPr lang="en-US" sz="2550" dirty="0"/>
          </a:p>
        </p:txBody>
      </p:sp>
      <p:sp>
        <p:nvSpPr>
          <p:cNvPr id="22" name="Shape 20"/>
          <p:cNvSpPr/>
          <p:nvPr/>
        </p:nvSpPr>
        <p:spPr>
          <a:xfrm>
            <a:off x="914400" y="6250186"/>
            <a:ext cx="7943850" cy="1000125"/>
          </a:xfrm>
          <a:prstGeom prst="roundRect">
            <a:avLst>
              <a:gd name="adj" fmla="val 20952"/>
            </a:avLst>
          </a:prstGeom>
          <a:solidFill>
            <a:srgbClr val="FFFFFF"/>
          </a:solidFill>
          <a:ln/>
        </p:spPr>
        <p:txBody>
          <a:bodyPr/>
          <a:lstStyle/>
          <a:p>
            <a:endParaRPr lang="ko-KR" altLang="en-US"/>
          </a:p>
        </p:txBody>
      </p:sp>
      <p:sp>
        <p:nvSpPr>
          <p:cNvPr id="23" name="Text 21"/>
          <p:cNvSpPr/>
          <p:nvPr/>
        </p:nvSpPr>
        <p:spPr>
          <a:xfrm>
            <a:off x="1238250" y="6574036"/>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04</a:t>
            </a:r>
            <a:endParaRPr lang="en-US" sz="2100" dirty="0"/>
          </a:p>
        </p:txBody>
      </p:sp>
      <p:sp>
        <p:nvSpPr>
          <p:cNvPr id="24" name="Text 22"/>
          <p:cNvSpPr/>
          <p:nvPr/>
        </p:nvSpPr>
        <p:spPr>
          <a:xfrm>
            <a:off x="1786979" y="6516886"/>
            <a:ext cx="2668652"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기본 챗봇 - 카피니</a:t>
            </a:r>
            <a:endParaRPr lang="en-US" sz="2550" dirty="0"/>
          </a:p>
        </p:txBody>
      </p:sp>
      <p:sp>
        <p:nvSpPr>
          <p:cNvPr id="25" name="Shape 23"/>
          <p:cNvSpPr/>
          <p:nvPr/>
        </p:nvSpPr>
        <p:spPr>
          <a:xfrm>
            <a:off x="9429750" y="6250186"/>
            <a:ext cx="7943850" cy="1000125"/>
          </a:xfrm>
          <a:prstGeom prst="roundRect">
            <a:avLst>
              <a:gd name="adj" fmla="val 20952"/>
            </a:avLst>
          </a:prstGeom>
          <a:solidFill>
            <a:srgbClr val="1F2937"/>
          </a:solidFill>
          <a:ln/>
        </p:spPr>
        <p:txBody>
          <a:bodyPr/>
          <a:lstStyle/>
          <a:p>
            <a:endParaRPr lang="ko-KR" altLang="en-US"/>
          </a:p>
        </p:txBody>
      </p:sp>
      <p:sp>
        <p:nvSpPr>
          <p:cNvPr id="26" name="Text 24"/>
          <p:cNvSpPr/>
          <p:nvPr/>
        </p:nvSpPr>
        <p:spPr>
          <a:xfrm>
            <a:off x="9753600" y="6574036"/>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FFB703"/>
                </a:solidFill>
                <a:latin typeface="IBM Plex Mono" pitchFamily="34" charset="0"/>
                <a:ea typeface="IBM Plex Mono" pitchFamily="34" charset="-122"/>
                <a:cs typeface="IBM Plex Mono" pitchFamily="34" charset="-120"/>
              </a:rPr>
              <a:t>09</a:t>
            </a:r>
            <a:endParaRPr lang="en-US" sz="2100" dirty="0"/>
          </a:p>
        </p:txBody>
      </p:sp>
      <p:sp>
        <p:nvSpPr>
          <p:cNvPr id="27" name="Text 25"/>
          <p:cNvSpPr/>
          <p:nvPr/>
        </p:nvSpPr>
        <p:spPr>
          <a:xfrm>
            <a:off x="10302329" y="6516886"/>
            <a:ext cx="3075474"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FFFFFF"/>
                </a:solidFill>
                <a:latin typeface="Noto Sans KR" pitchFamily="34" charset="0"/>
                <a:ea typeface="Noto Sans KR" pitchFamily="34" charset="-122"/>
                <a:cs typeface="Noto Sans KR" pitchFamily="34" charset="-120"/>
              </a:rPr>
              <a:t>결론 · 프로그램 시연</a:t>
            </a:r>
            <a:endParaRPr lang="en-US" sz="2550" dirty="0"/>
          </a:p>
        </p:txBody>
      </p:sp>
      <p:sp>
        <p:nvSpPr>
          <p:cNvPr id="28" name="Shape 26"/>
          <p:cNvSpPr/>
          <p:nvPr/>
        </p:nvSpPr>
        <p:spPr>
          <a:xfrm>
            <a:off x="914400" y="7459861"/>
            <a:ext cx="7943850" cy="1000125"/>
          </a:xfrm>
          <a:prstGeom prst="roundRect">
            <a:avLst>
              <a:gd name="adj" fmla="val 20952"/>
            </a:avLst>
          </a:prstGeom>
          <a:solidFill>
            <a:srgbClr val="FFFFFF"/>
          </a:solidFill>
          <a:ln/>
        </p:spPr>
        <p:txBody>
          <a:bodyPr/>
          <a:lstStyle/>
          <a:p>
            <a:endParaRPr lang="ko-KR" altLang="en-US"/>
          </a:p>
        </p:txBody>
      </p:sp>
      <p:sp>
        <p:nvSpPr>
          <p:cNvPr id="29" name="Text 27"/>
          <p:cNvSpPr/>
          <p:nvPr/>
        </p:nvSpPr>
        <p:spPr>
          <a:xfrm>
            <a:off x="1238250" y="7783711"/>
            <a:ext cx="396329" cy="390525"/>
          </a:xfrm>
          <a:prstGeom prst="rect">
            <a:avLst/>
          </a:prstGeom>
          <a:noFill/>
          <a:ln/>
        </p:spPr>
        <p:txBody>
          <a:bodyPr wrap="square" lIns="25400" tIns="25400" rIns="25400" bIns="25400" rtlCol="0" anchor="t">
            <a:normAutofit/>
          </a:bodyPr>
          <a:lstStyle/>
          <a:p>
            <a:pPr marL="0" indent="0" algn="l">
              <a:buNone/>
            </a:pPr>
            <a:r>
              <a:rPr lang="en-US" sz="2100" b="1" dirty="0">
                <a:solidFill>
                  <a:srgbClr val="6A5AED"/>
                </a:solidFill>
                <a:latin typeface="IBM Plex Mono" pitchFamily="34" charset="0"/>
                <a:ea typeface="IBM Plex Mono" pitchFamily="34" charset="-122"/>
                <a:cs typeface="IBM Plex Mono" pitchFamily="34" charset="-120"/>
              </a:rPr>
              <a:t>05</a:t>
            </a:r>
            <a:endParaRPr lang="en-US" sz="2100" dirty="0"/>
          </a:p>
        </p:txBody>
      </p:sp>
      <p:sp>
        <p:nvSpPr>
          <p:cNvPr id="30" name="Text 28"/>
          <p:cNvSpPr/>
          <p:nvPr/>
        </p:nvSpPr>
        <p:spPr>
          <a:xfrm>
            <a:off x="1786979" y="7726561"/>
            <a:ext cx="3324151"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컨설턴트 챗봇 - 분석이</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00100"/>
            <a:ext cx="7404809"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01 · OVERVIEW</a:t>
            </a:r>
            <a:endParaRPr lang="en-US" sz="1875" dirty="0"/>
          </a:p>
        </p:txBody>
      </p:sp>
      <p:sp>
        <p:nvSpPr>
          <p:cNvPr id="3" name="Text 1"/>
          <p:cNvSpPr/>
          <p:nvPr/>
        </p:nvSpPr>
        <p:spPr>
          <a:xfrm>
            <a:off x="914400" y="1247775"/>
            <a:ext cx="7404809"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무엇을 팔지, 어떻게 알릴지</a:t>
            </a:r>
            <a:endParaRPr lang="en-US" sz="4950" dirty="0"/>
          </a:p>
        </p:txBody>
      </p:sp>
      <p:sp>
        <p:nvSpPr>
          <p:cNvPr id="4" name="Shape 2"/>
          <p:cNvSpPr/>
          <p:nvPr/>
        </p:nvSpPr>
        <p:spPr>
          <a:xfrm>
            <a:off x="914400" y="2351633"/>
            <a:ext cx="5359301" cy="914400"/>
          </a:xfrm>
          <a:prstGeom prst="roundRect">
            <a:avLst>
              <a:gd name="adj" fmla="val 22917"/>
            </a:avLst>
          </a:prstGeom>
          <a:solidFill>
            <a:srgbClr val="FFFFFF"/>
          </a:solidFill>
          <a:ln/>
        </p:spPr>
        <p:txBody>
          <a:bodyPr/>
          <a:lstStyle/>
          <a:p>
            <a:endParaRPr lang="ko-KR" altLang="en-US"/>
          </a:p>
        </p:txBody>
      </p:sp>
      <p:sp>
        <p:nvSpPr>
          <p:cNvPr id="5" name="Text 3"/>
          <p:cNvSpPr/>
          <p:nvPr/>
        </p:nvSpPr>
        <p:spPr>
          <a:xfrm>
            <a:off x="1200150" y="2599283"/>
            <a:ext cx="4948580"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무엇을 팔아야 할지 모른다</a:t>
            </a:r>
            <a:endParaRPr lang="en-US" sz="2250" dirty="0"/>
          </a:p>
        </p:txBody>
      </p:sp>
      <p:sp>
        <p:nvSpPr>
          <p:cNvPr id="6" name="Shape 4"/>
          <p:cNvSpPr/>
          <p:nvPr/>
        </p:nvSpPr>
        <p:spPr>
          <a:xfrm>
            <a:off x="6464201" y="2351633"/>
            <a:ext cx="5359450" cy="914400"/>
          </a:xfrm>
          <a:prstGeom prst="roundRect">
            <a:avLst>
              <a:gd name="adj" fmla="val 22917"/>
            </a:avLst>
          </a:prstGeom>
          <a:solidFill>
            <a:srgbClr val="FFFFFF"/>
          </a:solidFill>
          <a:ln/>
        </p:spPr>
        <p:txBody>
          <a:bodyPr/>
          <a:lstStyle/>
          <a:p>
            <a:endParaRPr lang="ko-KR" altLang="en-US"/>
          </a:p>
        </p:txBody>
      </p:sp>
      <p:sp>
        <p:nvSpPr>
          <p:cNvPr id="7" name="Text 5"/>
          <p:cNvSpPr/>
          <p:nvPr/>
        </p:nvSpPr>
        <p:spPr>
          <a:xfrm>
            <a:off x="6749951" y="2599283"/>
            <a:ext cx="4948733"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어떻게 알려야 할지 모른다</a:t>
            </a:r>
            <a:endParaRPr lang="en-US" sz="2250" dirty="0"/>
          </a:p>
        </p:txBody>
      </p:sp>
      <p:sp>
        <p:nvSpPr>
          <p:cNvPr id="8" name="Shape 6"/>
          <p:cNvSpPr/>
          <p:nvPr/>
        </p:nvSpPr>
        <p:spPr>
          <a:xfrm>
            <a:off x="12014150" y="2351633"/>
            <a:ext cx="5359450" cy="914400"/>
          </a:xfrm>
          <a:prstGeom prst="roundRect">
            <a:avLst>
              <a:gd name="adj" fmla="val 22917"/>
            </a:avLst>
          </a:prstGeom>
          <a:solidFill>
            <a:srgbClr val="FFFFFF"/>
          </a:solidFill>
          <a:ln/>
        </p:spPr>
        <p:txBody>
          <a:bodyPr/>
          <a:lstStyle/>
          <a:p>
            <a:endParaRPr lang="ko-KR" altLang="en-US"/>
          </a:p>
        </p:txBody>
      </p:sp>
      <p:sp>
        <p:nvSpPr>
          <p:cNvPr id="9" name="Text 7"/>
          <p:cNvSpPr/>
          <p:nvPr/>
        </p:nvSpPr>
        <p:spPr>
          <a:xfrm>
            <a:off x="12299900" y="2599283"/>
            <a:ext cx="4948733"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광고가 법에 걸리는지 모른다</a:t>
            </a:r>
            <a:endParaRPr lang="en-US" sz="2250" dirty="0"/>
          </a:p>
        </p:txBody>
      </p:sp>
      <p:sp>
        <p:nvSpPr>
          <p:cNvPr id="10" name="Shape 8"/>
          <p:cNvSpPr/>
          <p:nvPr/>
        </p:nvSpPr>
        <p:spPr>
          <a:xfrm>
            <a:off x="914400" y="3647033"/>
            <a:ext cx="5355282" cy="5916067"/>
          </a:xfrm>
          <a:prstGeom prst="roundRect">
            <a:avLst>
              <a:gd name="adj" fmla="val 4624"/>
            </a:avLst>
          </a:prstGeom>
          <a:solidFill>
            <a:srgbClr val="6A5AED"/>
          </a:solidFill>
          <a:ln/>
        </p:spPr>
        <p:txBody>
          <a:bodyPr/>
          <a:lstStyle/>
          <a:p>
            <a:endParaRPr lang="ko-KR" altLang="en-US"/>
          </a:p>
        </p:txBody>
      </p:sp>
      <p:pic>
        <p:nvPicPr>
          <p:cNvPr id="11" name="Image 0" descr="preencoded.png"/>
          <p:cNvPicPr>
            <a:picLocks noChangeAspect="1"/>
          </p:cNvPicPr>
          <p:nvPr/>
        </p:nvPicPr>
        <p:blipFill>
          <a:blip r:embed="rId3"/>
          <a:srcRect/>
          <a:stretch/>
        </p:blipFill>
        <p:spPr>
          <a:xfrm>
            <a:off x="1238250" y="5154811"/>
            <a:ext cx="1143000" cy="1143000"/>
          </a:xfrm>
          <a:prstGeom prst="ellipse">
            <a:avLst/>
          </a:prstGeom>
        </p:spPr>
      </p:pic>
      <p:sp>
        <p:nvSpPr>
          <p:cNvPr id="12" name="Text 9"/>
          <p:cNvSpPr/>
          <p:nvPr/>
        </p:nvSpPr>
        <p:spPr>
          <a:xfrm>
            <a:off x="1238250" y="6469261"/>
            <a:ext cx="5178341"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B703"/>
                </a:solidFill>
                <a:latin typeface="Noto Sans KR" pitchFamily="34" charset="0"/>
                <a:ea typeface="Noto Sans KR" pitchFamily="34" charset="-122"/>
                <a:cs typeface="Noto Sans KR" pitchFamily="34" charset="-120"/>
              </a:rPr>
              <a:t>분석이 · CONSULTANT</a:t>
            </a:r>
            <a:endParaRPr lang="en-US" sz="1875" dirty="0"/>
          </a:p>
        </p:txBody>
      </p:sp>
      <p:sp>
        <p:nvSpPr>
          <p:cNvPr id="13" name="Text 10"/>
          <p:cNvSpPr/>
          <p:nvPr/>
        </p:nvSpPr>
        <p:spPr>
          <a:xfrm>
            <a:off x="1238250" y="6983611"/>
            <a:ext cx="5178341" cy="538163"/>
          </a:xfrm>
          <a:prstGeom prst="rect">
            <a:avLst/>
          </a:prstGeom>
          <a:noFill/>
          <a:ln/>
        </p:spPr>
        <p:txBody>
          <a:bodyPr wrap="square" lIns="25400" tIns="25400" rIns="25400" bIns="25400" rtlCol="0" anchor="t">
            <a:normAutofit/>
          </a:bodyPr>
          <a:lstStyle/>
          <a:p>
            <a:pPr marL="0" indent="0" algn="l">
              <a:lnSpc>
                <a:spcPct val="86066"/>
              </a:lnSpc>
              <a:buNone/>
            </a:pPr>
            <a:r>
              <a:rPr lang="en-US" sz="3150" b="1" dirty="0">
                <a:solidFill>
                  <a:srgbClr val="FFFFFF"/>
                </a:solidFill>
                <a:latin typeface="Noto Sans KR" pitchFamily="34" charset="0"/>
                <a:ea typeface="Noto Sans KR" pitchFamily="34" charset="-122"/>
                <a:cs typeface="Noto Sans KR" pitchFamily="34" charset="-120"/>
              </a:rPr>
              <a:t>무엇을 팔아야 하나</a:t>
            </a:r>
            <a:endParaRPr lang="en-US" sz="3150" dirty="0"/>
          </a:p>
        </p:txBody>
      </p:sp>
      <p:sp>
        <p:nvSpPr>
          <p:cNvPr id="14" name="Text 11"/>
          <p:cNvSpPr/>
          <p:nvPr/>
        </p:nvSpPr>
        <p:spPr>
          <a:xfrm>
            <a:off x="1238250" y="7655123"/>
            <a:ext cx="5178341" cy="43815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D6D0FF"/>
                </a:solidFill>
                <a:latin typeface="Noto Sans KR" pitchFamily="34" charset="0"/>
                <a:ea typeface="Noto Sans KR" pitchFamily="34" charset="-122"/>
                <a:cs typeface="Noto Sans KR" pitchFamily="34" charset="-120"/>
              </a:rPr>
              <a:t>상권 · 트렌드 기반 전략 제안</a:t>
            </a:r>
            <a:endParaRPr lang="en-US" sz="2100" dirty="0"/>
          </a:p>
        </p:txBody>
      </p:sp>
      <p:sp>
        <p:nvSpPr>
          <p:cNvPr id="15" name="Text 12"/>
          <p:cNvSpPr/>
          <p:nvPr/>
        </p:nvSpPr>
        <p:spPr>
          <a:xfrm>
            <a:off x="6517332" y="3647033"/>
            <a:ext cx="432792" cy="5954167"/>
          </a:xfrm>
          <a:prstGeom prst="rect">
            <a:avLst/>
          </a:prstGeom>
          <a:noFill/>
          <a:ln/>
        </p:spPr>
        <p:txBody>
          <a:bodyPr wrap="none" lIns="25400" tIns="25400" rIns="25400" bIns="25400" rtlCol="0" anchor="ctr">
            <a:normAutofit/>
          </a:bodyPr>
          <a:lstStyle/>
          <a:p>
            <a:pPr marL="0" indent="0" algn="l">
              <a:buNone/>
            </a:pPr>
            <a:r>
              <a:rPr lang="en-US" sz="2550" b="1" dirty="0">
                <a:solidFill>
                  <a:srgbClr val="6A5AED"/>
                </a:solidFill>
                <a:latin typeface="Noto Sans KR" pitchFamily="34" charset="0"/>
                <a:ea typeface="Noto Sans KR" pitchFamily="34" charset="-122"/>
                <a:cs typeface="Noto Sans KR" pitchFamily="34" charset="-120"/>
              </a:rPr>
              <a:t>or</a:t>
            </a:r>
            <a:endParaRPr lang="en-US" sz="2550" dirty="0"/>
          </a:p>
        </p:txBody>
      </p:sp>
      <p:sp>
        <p:nvSpPr>
          <p:cNvPr id="16" name="Shape 13"/>
          <p:cNvSpPr/>
          <p:nvPr/>
        </p:nvSpPr>
        <p:spPr>
          <a:xfrm>
            <a:off x="7121575" y="3647033"/>
            <a:ext cx="5355282" cy="5916067"/>
          </a:xfrm>
          <a:prstGeom prst="roundRect">
            <a:avLst>
              <a:gd name="adj" fmla="val 4624"/>
            </a:avLst>
          </a:prstGeom>
          <a:solidFill>
            <a:srgbClr val="6A5AED"/>
          </a:solidFill>
          <a:ln/>
        </p:spPr>
        <p:txBody>
          <a:bodyPr/>
          <a:lstStyle/>
          <a:p>
            <a:endParaRPr lang="ko-KR" altLang="en-US"/>
          </a:p>
        </p:txBody>
      </p:sp>
      <p:pic>
        <p:nvPicPr>
          <p:cNvPr id="17" name="Image 1" descr="preencoded.png"/>
          <p:cNvPicPr>
            <a:picLocks noChangeAspect="1"/>
          </p:cNvPicPr>
          <p:nvPr/>
        </p:nvPicPr>
        <p:blipFill>
          <a:blip r:embed="rId4"/>
          <a:srcRect/>
          <a:stretch/>
        </p:blipFill>
        <p:spPr>
          <a:xfrm>
            <a:off x="7445425" y="5154811"/>
            <a:ext cx="1143000" cy="1143000"/>
          </a:xfrm>
          <a:prstGeom prst="ellipse">
            <a:avLst/>
          </a:prstGeom>
        </p:spPr>
      </p:pic>
      <p:sp>
        <p:nvSpPr>
          <p:cNvPr id="18" name="Text 14"/>
          <p:cNvSpPr/>
          <p:nvPr/>
        </p:nvSpPr>
        <p:spPr>
          <a:xfrm>
            <a:off x="7445425" y="6469261"/>
            <a:ext cx="5178341"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B703"/>
                </a:solidFill>
                <a:latin typeface="Noto Sans KR" pitchFamily="34" charset="0"/>
                <a:ea typeface="Noto Sans KR" pitchFamily="34" charset="-122"/>
                <a:cs typeface="Noto Sans KR" pitchFamily="34" charset="-120"/>
              </a:rPr>
              <a:t>카피니 · BASIC</a:t>
            </a:r>
            <a:endParaRPr lang="en-US" sz="1875" dirty="0"/>
          </a:p>
        </p:txBody>
      </p:sp>
      <p:sp>
        <p:nvSpPr>
          <p:cNvPr id="19" name="Text 15"/>
          <p:cNvSpPr/>
          <p:nvPr/>
        </p:nvSpPr>
        <p:spPr>
          <a:xfrm>
            <a:off x="7445425" y="6983611"/>
            <a:ext cx="5178341" cy="538163"/>
          </a:xfrm>
          <a:prstGeom prst="rect">
            <a:avLst/>
          </a:prstGeom>
          <a:noFill/>
          <a:ln/>
        </p:spPr>
        <p:txBody>
          <a:bodyPr wrap="square" lIns="25400" tIns="25400" rIns="25400" bIns="25400" rtlCol="0" anchor="t">
            <a:normAutofit/>
          </a:bodyPr>
          <a:lstStyle/>
          <a:p>
            <a:pPr marL="0" indent="0" algn="l">
              <a:lnSpc>
                <a:spcPct val="86066"/>
              </a:lnSpc>
              <a:buNone/>
            </a:pPr>
            <a:r>
              <a:rPr lang="en-US" sz="3150" b="1" dirty="0">
                <a:solidFill>
                  <a:srgbClr val="FFFFFF"/>
                </a:solidFill>
                <a:latin typeface="Noto Sans KR" pitchFamily="34" charset="0"/>
                <a:ea typeface="Noto Sans KR" pitchFamily="34" charset="-122"/>
                <a:cs typeface="Noto Sans KR" pitchFamily="34" charset="-120"/>
              </a:rPr>
              <a:t>어떻게 알려야 하나</a:t>
            </a:r>
            <a:endParaRPr lang="en-US" sz="3150" dirty="0"/>
          </a:p>
        </p:txBody>
      </p:sp>
      <p:sp>
        <p:nvSpPr>
          <p:cNvPr id="20" name="Text 16"/>
          <p:cNvSpPr/>
          <p:nvPr/>
        </p:nvSpPr>
        <p:spPr>
          <a:xfrm>
            <a:off x="7445425" y="7655123"/>
            <a:ext cx="5178341" cy="43815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D6D0FF"/>
                </a:solidFill>
                <a:latin typeface="Noto Sans KR" pitchFamily="34" charset="0"/>
                <a:ea typeface="Noto Sans KR" pitchFamily="34" charset="-122"/>
                <a:cs typeface="Noto Sans KR" pitchFamily="34" charset="-120"/>
              </a:rPr>
              <a:t>단독 사용 가능 · 분석이 전략 연계도 가능</a:t>
            </a:r>
            <a:endParaRPr lang="en-US" sz="2100" dirty="0"/>
          </a:p>
        </p:txBody>
      </p:sp>
      <p:sp>
        <p:nvSpPr>
          <p:cNvPr id="21" name="Shape 17"/>
          <p:cNvSpPr/>
          <p:nvPr/>
        </p:nvSpPr>
        <p:spPr>
          <a:xfrm>
            <a:off x="12724507" y="3647033"/>
            <a:ext cx="4649093" cy="5916067"/>
          </a:xfrm>
          <a:prstGeom prst="roundRect">
            <a:avLst>
              <a:gd name="adj" fmla="val 5327"/>
            </a:avLst>
          </a:prstGeom>
          <a:solidFill>
            <a:srgbClr val="1F2937"/>
          </a:solidFill>
          <a:ln/>
        </p:spPr>
        <p:txBody>
          <a:bodyPr/>
          <a:lstStyle/>
          <a:p>
            <a:endParaRPr lang="ko-KR" altLang="en-US"/>
          </a:p>
        </p:txBody>
      </p:sp>
      <p:sp>
        <p:nvSpPr>
          <p:cNvPr id="22" name="Text 18"/>
          <p:cNvSpPr/>
          <p:nvPr/>
        </p:nvSpPr>
        <p:spPr>
          <a:xfrm>
            <a:off x="13048357" y="5812036"/>
            <a:ext cx="4401532"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B703"/>
                </a:solidFill>
                <a:latin typeface="Noto Sans KR" pitchFamily="34" charset="0"/>
                <a:ea typeface="Noto Sans KR" pitchFamily="34" charset="-122"/>
                <a:cs typeface="Noto Sans KR" pitchFamily="34" charset="-120"/>
              </a:rPr>
              <a:t>공용 검증 계층</a:t>
            </a:r>
            <a:endParaRPr lang="en-US" sz="1875" dirty="0"/>
          </a:p>
        </p:txBody>
      </p:sp>
      <p:sp>
        <p:nvSpPr>
          <p:cNvPr id="23" name="Text 19"/>
          <p:cNvSpPr/>
          <p:nvPr/>
        </p:nvSpPr>
        <p:spPr>
          <a:xfrm>
            <a:off x="13048357" y="6326386"/>
            <a:ext cx="4401532" cy="538163"/>
          </a:xfrm>
          <a:prstGeom prst="rect">
            <a:avLst/>
          </a:prstGeom>
          <a:noFill/>
          <a:ln/>
        </p:spPr>
        <p:txBody>
          <a:bodyPr wrap="square" lIns="25400" tIns="25400" rIns="25400" bIns="25400" rtlCol="0" anchor="t">
            <a:normAutofit/>
          </a:bodyPr>
          <a:lstStyle/>
          <a:p>
            <a:pPr marL="0" indent="0" algn="l">
              <a:lnSpc>
                <a:spcPct val="86066"/>
              </a:lnSpc>
              <a:buNone/>
            </a:pPr>
            <a:r>
              <a:rPr lang="en-US" sz="3150" b="1" dirty="0">
                <a:solidFill>
                  <a:srgbClr val="FFFFFF"/>
                </a:solidFill>
                <a:latin typeface="Noto Sans KR" pitchFamily="34" charset="0"/>
                <a:ea typeface="Noto Sans KR" pitchFamily="34" charset="-122"/>
                <a:cs typeface="Noto Sans KR" pitchFamily="34" charset="-120"/>
              </a:rPr>
              <a:t>법에 걸리지 않게</a:t>
            </a:r>
            <a:endParaRPr lang="en-US" sz="3150" dirty="0"/>
          </a:p>
        </p:txBody>
      </p:sp>
      <p:sp>
        <p:nvSpPr>
          <p:cNvPr id="24" name="Text 20"/>
          <p:cNvSpPr/>
          <p:nvPr/>
        </p:nvSpPr>
        <p:spPr>
          <a:xfrm>
            <a:off x="13048357" y="6997898"/>
            <a:ext cx="4401532" cy="43815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B6C0CC"/>
                </a:solidFill>
                <a:latin typeface="Noto Sans KR" pitchFamily="34" charset="0"/>
                <a:ea typeface="Noto Sans KR" pitchFamily="34" charset="-122"/>
                <a:cs typeface="Noto Sans KR" pitchFamily="34" charset="-120"/>
              </a:rPr>
              <a:t>검증 함수 4종으로 규제 · 보안 차단</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76300"/>
            <a:ext cx="2044095"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02 · TEAM</a:t>
            </a:r>
            <a:endParaRPr lang="en-US" sz="1875" dirty="0"/>
          </a:p>
        </p:txBody>
      </p:sp>
      <p:sp>
        <p:nvSpPr>
          <p:cNvPr id="3" name="Text 1"/>
          <p:cNvSpPr/>
          <p:nvPr/>
        </p:nvSpPr>
        <p:spPr>
          <a:xfrm>
            <a:off x="914400" y="1343025"/>
            <a:ext cx="2044095" cy="782836"/>
          </a:xfrm>
          <a:prstGeom prst="rect">
            <a:avLst/>
          </a:prstGeom>
          <a:noFill/>
          <a:ln/>
        </p:spPr>
        <p:txBody>
          <a:bodyPr wrap="square" lIns="25400" tIns="25400" rIns="25400" bIns="25400" rtlCol="0" anchor="t">
            <a:normAutofit/>
          </a:bodyPr>
          <a:lstStyle/>
          <a:p>
            <a:pPr marL="0" indent="0" algn="l">
              <a:lnSpc>
                <a:spcPct val="78990"/>
              </a:lnSpc>
              <a:buNone/>
            </a:pPr>
            <a:r>
              <a:rPr lang="en-US" sz="5100" b="1" kern="0" spc="-153" dirty="0">
                <a:solidFill>
                  <a:srgbClr val="1F2937"/>
                </a:solidFill>
                <a:latin typeface="Noto Sans KR" pitchFamily="34" charset="0"/>
                <a:ea typeface="Noto Sans KR" pitchFamily="34" charset="-122"/>
                <a:cs typeface="Noto Sans KR" pitchFamily="34" charset="-120"/>
              </a:rPr>
              <a:t>팀 소개</a:t>
            </a:r>
            <a:endParaRPr lang="en-US" sz="5100" dirty="0"/>
          </a:p>
        </p:txBody>
      </p:sp>
      <p:sp>
        <p:nvSpPr>
          <p:cNvPr id="4" name="Shape 2"/>
          <p:cNvSpPr/>
          <p:nvPr/>
        </p:nvSpPr>
        <p:spPr>
          <a:xfrm>
            <a:off x="914400" y="2506861"/>
            <a:ext cx="3943350" cy="7018139"/>
          </a:xfrm>
          <a:prstGeom prst="roundRect">
            <a:avLst>
              <a:gd name="adj" fmla="val 6280"/>
            </a:avLst>
          </a:prstGeom>
          <a:solidFill>
            <a:srgbClr val="FFFFFF"/>
          </a:solidFill>
          <a:ln/>
        </p:spPr>
        <p:txBody>
          <a:bodyPr/>
          <a:lstStyle/>
          <a:p>
            <a:endParaRPr lang="ko-KR" altLang="en-US"/>
          </a:p>
        </p:txBody>
      </p:sp>
      <p:sp>
        <p:nvSpPr>
          <p:cNvPr id="5" name="Text 3"/>
          <p:cNvSpPr/>
          <p:nvPr/>
        </p:nvSpPr>
        <p:spPr>
          <a:xfrm>
            <a:off x="1200150" y="2849761"/>
            <a:ext cx="3709035" cy="352425"/>
          </a:xfrm>
          <a:prstGeom prst="rect">
            <a:avLst/>
          </a:prstGeom>
          <a:noFill/>
          <a:ln/>
        </p:spPr>
        <p:txBody>
          <a:bodyPr wrap="square" lIns="25400" tIns="25400" rIns="25400" bIns="25400" rtlCol="0" anchor="t">
            <a:normAutofit/>
          </a:bodyPr>
          <a:lstStyle/>
          <a:p>
            <a:pPr marL="0" indent="0" algn="l">
              <a:buNone/>
            </a:pPr>
            <a:r>
              <a:rPr lang="en-US" sz="1875" dirty="0">
                <a:solidFill>
                  <a:srgbClr val="6A5AED"/>
                </a:solidFill>
                <a:latin typeface="IBM Plex Mono" pitchFamily="34" charset="0"/>
                <a:ea typeface="IBM Plex Mono" pitchFamily="34" charset="-122"/>
                <a:cs typeface="IBM Plex Mono" pitchFamily="34" charset="-120"/>
              </a:rPr>
              <a:t>PM</a:t>
            </a:r>
            <a:endParaRPr lang="en-US" sz="1875" dirty="0"/>
          </a:p>
        </p:txBody>
      </p:sp>
      <p:sp>
        <p:nvSpPr>
          <p:cNvPr id="6" name="Text 4"/>
          <p:cNvSpPr/>
          <p:nvPr/>
        </p:nvSpPr>
        <p:spPr>
          <a:xfrm>
            <a:off x="1200150" y="3316486"/>
            <a:ext cx="3709035" cy="704850"/>
          </a:xfrm>
          <a:prstGeom prst="rect">
            <a:avLst/>
          </a:prstGeom>
          <a:noFill/>
          <a:ln/>
        </p:spPr>
        <p:txBody>
          <a:bodyPr wrap="square" lIns="25400" tIns="25400" rIns="25400" bIns="25400" rtlCol="0" anchor="t">
            <a:normAutofit/>
          </a:bodyPr>
          <a:lstStyle/>
          <a:p>
            <a:pPr marL="0" indent="0" algn="l">
              <a:buNone/>
            </a:pPr>
            <a:r>
              <a:rPr lang="en-US" sz="3600" b="1" dirty="0">
                <a:solidFill>
                  <a:srgbClr val="1F2937"/>
                </a:solidFill>
                <a:latin typeface="Noto Sans KR" pitchFamily="34" charset="0"/>
                <a:ea typeface="Noto Sans KR" pitchFamily="34" charset="-122"/>
                <a:cs typeface="Noto Sans KR" pitchFamily="34" charset="-120"/>
              </a:rPr>
              <a:t>전민재</a:t>
            </a:r>
            <a:endParaRPr lang="en-US" sz="3600" dirty="0"/>
          </a:p>
        </p:txBody>
      </p:sp>
      <p:sp>
        <p:nvSpPr>
          <p:cNvPr id="7" name="Text 5"/>
          <p:cNvSpPr/>
          <p:nvPr/>
        </p:nvSpPr>
        <p:spPr>
          <a:xfrm>
            <a:off x="1200150" y="4135636"/>
            <a:ext cx="3473006" cy="866775"/>
          </a:xfrm>
          <a:prstGeom prst="rect">
            <a:avLst/>
          </a:prstGeom>
          <a:noFill/>
          <a:ln/>
        </p:spPr>
        <p:txBody>
          <a:bodyPr wrap="square" lIns="25400" tIns="25400" rIns="25400" bIns="25400" rtlCol="0" anchor="t">
            <a:normAutofit/>
          </a:bodyPr>
          <a:lstStyle/>
          <a:p>
            <a:pPr marL="0" indent="0" algn="l">
              <a:lnSpc>
                <a:spcPct val="103571"/>
              </a:lnSpc>
              <a:buNone/>
            </a:pPr>
            <a:r>
              <a:rPr lang="en-US" sz="2175" dirty="0">
                <a:solidFill>
                  <a:srgbClr val="6B7280"/>
                </a:solidFill>
                <a:latin typeface="Noto Sans KR" pitchFamily="34" charset="0"/>
                <a:ea typeface="Noto Sans KR" pitchFamily="34" charset="-122"/>
                <a:cs typeface="Noto Sans KR" pitchFamily="34" charset="-120"/>
              </a:rPr>
              <a:t>검증 함수 4종 · 규제 RAG · 일정과 예산</a:t>
            </a:r>
            <a:endParaRPr lang="en-US" sz="2175" dirty="0"/>
          </a:p>
        </p:txBody>
      </p:sp>
      <p:pic>
        <p:nvPicPr>
          <p:cNvPr id="8" name="Image 0" descr="preencoded.png"/>
          <p:cNvPicPr>
            <a:picLocks noChangeAspect="1"/>
          </p:cNvPicPr>
          <p:nvPr/>
        </p:nvPicPr>
        <p:blipFill>
          <a:blip r:embed="rId3"/>
          <a:srcRect l="-37310" r="-37310"/>
          <a:stretch/>
        </p:blipFill>
        <p:spPr>
          <a:xfrm>
            <a:off x="1200150" y="7086600"/>
            <a:ext cx="3371850" cy="2095500"/>
          </a:xfrm>
          <a:prstGeom prst="rect">
            <a:avLst/>
          </a:prstGeom>
        </p:spPr>
      </p:pic>
      <p:sp>
        <p:nvSpPr>
          <p:cNvPr id="9" name="Shape 6"/>
          <p:cNvSpPr/>
          <p:nvPr/>
        </p:nvSpPr>
        <p:spPr>
          <a:xfrm>
            <a:off x="5086350" y="2506861"/>
            <a:ext cx="3943350" cy="7018139"/>
          </a:xfrm>
          <a:prstGeom prst="roundRect">
            <a:avLst>
              <a:gd name="adj" fmla="val 6280"/>
            </a:avLst>
          </a:prstGeom>
          <a:solidFill>
            <a:srgbClr val="FFFFFF"/>
          </a:solidFill>
          <a:ln/>
        </p:spPr>
        <p:txBody>
          <a:bodyPr/>
          <a:lstStyle/>
          <a:p>
            <a:endParaRPr lang="ko-KR" altLang="en-US"/>
          </a:p>
        </p:txBody>
      </p:sp>
      <p:sp>
        <p:nvSpPr>
          <p:cNvPr id="10" name="Text 7"/>
          <p:cNvSpPr/>
          <p:nvPr/>
        </p:nvSpPr>
        <p:spPr>
          <a:xfrm>
            <a:off x="5372100" y="2849761"/>
            <a:ext cx="3709035"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A5AED"/>
                </a:solidFill>
                <a:latin typeface="Noto Sans KR" pitchFamily="34" charset="0"/>
                <a:ea typeface="Noto Sans KR" pitchFamily="34" charset="-122"/>
                <a:cs typeface="Noto Sans KR" pitchFamily="34" charset="-120"/>
              </a:rPr>
              <a:t>CONSULTANT · 분석이</a:t>
            </a:r>
            <a:endParaRPr lang="en-US" sz="1875" dirty="0"/>
          </a:p>
        </p:txBody>
      </p:sp>
      <p:sp>
        <p:nvSpPr>
          <p:cNvPr id="11" name="Text 8"/>
          <p:cNvSpPr/>
          <p:nvPr/>
        </p:nvSpPr>
        <p:spPr>
          <a:xfrm>
            <a:off x="5372100" y="3345061"/>
            <a:ext cx="3709035" cy="704850"/>
          </a:xfrm>
          <a:prstGeom prst="rect">
            <a:avLst/>
          </a:prstGeom>
          <a:noFill/>
          <a:ln/>
        </p:spPr>
        <p:txBody>
          <a:bodyPr wrap="square" lIns="25400" tIns="25400" rIns="25400" bIns="25400" rtlCol="0" anchor="t">
            <a:normAutofit/>
          </a:bodyPr>
          <a:lstStyle/>
          <a:p>
            <a:pPr marL="0" indent="0" algn="l">
              <a:buNone/>
            </a:pPr>
            <a:r>
              <a:rPr lang="en-US" sz="3600" b="1" dirty="0">
                <a:solidFill>
                  <a:srgbClr val="1F2937"/>
                </a:solidFill>
                <a:latin typeface="Noto Sans KR" pitchFamily="34" charset="0"/>
                <a:ea typeface="Noto Sans KR" pitchFamily="34" charset="-122"/>
                <a:cs typeface="Noto Sans KR" pitchFamily="34" charset="-120"/>
              </a:rPr>
              <a:t>김재헌</a:t>
            </a:r>
            <a:endParaRPr lang="en-US" sz="3600" dirty="0"/>
          </a:p>
        </p:txBody>
      </p:sp>
      <p:sp>
        <p:nvSpPr>
          <p:cNvPr id="12" name="Text 9"/>
          <p:cNvSpPr/>
          <p:nvPr/>
        </p:nvSpPr>
        <p:spPr>
          <a:xfrm>
            <a:off x="5372100" y="4164211"/>
            <a:ext cx="3473006" cy="866775"/>
          </a:xfrm>
          <a:prstGeom prst="rect">
            <a:avLst/>
          </a:prstGeom>
          <a:noFill/>
          <a:ln/>
        </p:spPr>
        <p:txBody>
          <a:bodyPr wrap="square" lIns="25400" tIns="25400" rIns="25400" bIns="25400" rtlCol="0" anchor="t">
            <a:normAutofit/>
          </a:bodyPr>
          <a:lstStyle/>
          <a:p>
            <a:pPr marL="0" indent="0" algn="l">
              <a:lnSpc>
                <a:spcPct val="103571"/>
              </a:lnSpc>
              <a:buNone/>
            </a:pPr>
            <a:r>
              <a:rPr lang="en-US" sz="2175" dirty="0">
                <a:solidFill>
                  <a:srgbClr val="6B7280"/>
                </a:solidFill>
                <a:latin typeface="Noto Sans KR" pitchFamily="34" charset="0"/>
                <a:ea typeface="Noto Sans KR" pitchFamily="34" charset="-122"/>
                <a:cs typeface="Noto Sans KR" pitchFamily="34" charset="-120"/>
              </a:rPr>
              <a:t>데이터 계층 · 전략 제안 · 품질 평가</a:t>
            </a:r>
            <a:endParaRPr lang="en-US" sz="2175" dirty="0"/>
          </a:p>
        </p:txBody>
      </p:sp>
      <p:pic>
        <p:nvPicPr>
          <p:cNvPr id="13" name="Image 1" descr="preencoded.png"/>
          <p:cNvPicPr>
            <a:picLocks noChangeAspect="1"/>
          </p:cNvPicPr>
          <p:nvPr/>
        </p:nvPicPr>
        <p:blipFill>
          <a:blip r:embed="rId4"/>
          <a:srcRect l="-19280" r="-19280"/>
          <a:stretch/>
        </p:blipFill>
        <p:spPr>
          <a:xfrm>
            <a:off x="5372100" y="7086600"/>
            <a:ext cx="3371850" cy="2095500"/>
          </a:xfrm>
          <a:prstGeom prst="rect">
            <a:avLst/>
          </a:prstGeom>
        </p:spPr>
      </p:pic>
      <p:sp>
        <p:nvSpPr>
          <p:cNvPr id="14" name="Shape 10"/>
          <p:cNvSpPr/>
          <p:nvPr/>
        </p:nvSpPr>
        <p:spPr>
          <a:xfrm>
            <a:off x="9258300" y="2506861"/>
            <a:ext cx="3943350" cy="7018139"/>
          </a:xfrm>
          <a:prstGeom prst="roundRect">
            <a:avLst>
              <a:gd name="adj" fmla="val 6280"/>
            </a:avLst>
          </a:prstGeom>
          <a:solidFill>
            <a:srgbClr val="FFFFFF"/>
          </a:solidFill>
          <a:ln/>
        </p:spPr>
        <p:txBody>
          <a:bodyPr/>
          <a:lstStyle/>
          <a:p>
            <a:endParaRPr lang="ko-KR" altLang="en-US"/>
          </a:p>
        </p:txBody>
      </p:sp>
      <p:sp>
        <p:nvSpPr>
          <p:cNvPr id="15" name="Text 11"/>
          <p:cNvSpPr/>
          <p:nvPr/>
        </p:nvSpPr>
        <p:spPr>
          <a:xfrm>
            <a:off x="9544050" y="2849761"/>
            <a:ext cx="3709035"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A5AED"/>
                </a:solidFill>
                <a:latin typeface="Noto Sans KR" pitchFamily="34" charset="0"/>
                <a:ea typeface="Noto Sans KR" pitchFamily="34" charset="-122"/>
                <a:cs typeface="Noto Sans KR" pitchFamily="34" charset="-120"/>
              </a:rPr>
              <a:t>BASIC · 카피니</a:t>
            </a:r>
            <a:endParaRPr lang="en-US" sz="1875" dirty="0"/>
          </a:p>
        </p:txBody>
      </p:sp>
      <p:sp>
        <p:nvSpPr>
          <p:cNvPr id="16" name="Text 12"/>
          <p:cNvSpPr/>
          <p:nvPr/>
        </p:nvSpPr>
        <p:spPr>
          <a:xfrm>
            <a:off x="9544050" y="3345061"/>
            <a:ext cx="3709035" cy="704850"/>
          </a:xfrm>
          <a:prstGeom prst="rect">
            <a:avLst/>
          </a:prstGeom>
          <a:noFill/>
          <a:ln/>
        </p:spPr>
        <p:txBody>
          <a:bodyPr wrap="square" lIns="25400" tIns="25400" rIns="25400" bIns="25400" rtlCol="0" anchor="t">
            <a:normAutofit/>
          </a:bodyPr>
          <a:lstStyle/>
          <a:p>
            <a:pPr marL="0" indent="0" algn="l">
              <a:buNone/>
            </a:pPr>
            <a:r>
              <a:rPr lang="en-US" sz="3600" b="1" dirty="0">
                <a:solidFill>
                  <a:srgbClr val="1F2937"/>
                </a:solidFill>
                <a:latin typeface="Noto Sans KR" pitchFamily="34" charset="0"/>
                <a:ea typeface="Noto Sans KR" pitchFamily="34" charset="-122"/>
                <a:cs typeface="Noto Sans KR" pitchFamily="34" charset="-120"/>
              </a:rPr>
              <a:t>조희원</a:t>
            </a:r>
            <a:endParaRPr lang="en-US" sz="3600" dirty="0"/>
          </a:p>
        </p:txBody>
      </p:sp>
      <p:sp>
        <p:nvSpPr>
          <p:cNvPr id="17" name="Text 13"/>
          <p:cNvSpPr/>
          <p:nvPr/>
        </p:nvSpPr>
        <p:spPr>
          <a:xfrm>
            <a:off x="9544050" y="4164211"/>
            <a:ext cx="3473006" cy="866775"/>
          </a:xfrm>
          <a:prstGeom prst="rect">
            <a:avLst/>
          </a:prstGeom>
          <a:noFill/>
          <a:ln/>
        </p:spPr>
        <p:txBody>
          <a:bodyPr wrap="square" lIns="25400" tIns="25400" rIns="25400" bIns="25400" rtlCol="0" anchor="t">
            <a:normAutofit/>
          </a:bodyPr>
          <a:lstStyle/>
          <a:p>
            <a:pPr marL="0" indent="0" algn="l">
              <a:lnSpc>
                <a:spcPct val="103571"/>
              </a:lnSpc>
              <a:buNone/>
            </a:pPr>
            <a:r>
              <a:rPr lang="en-US" sz="2175" dirty="0">
                <a:solidFill>
                  <a:srgbClr val="6B7280"/>
                </a:solidFill>
                <a:latin typeface="Noto Sans KR" pitchFamily="34" charset="0"/>
                <a:ea typeface="Noto Sans KR" pitchFamily="34" charset="-122"/>
                <a:cs typeface="Noto Sans KR" pitchFamily="34" charset="-120"/>
              </a:rPr>
              <a:t>광고 카피 · 이미지 생성 · </a:t>
            </a:r>
            <a:br>
              <a:rPr lang="en-US" sz="2175" dirty="0">
                <a:solidFill>
                  <a:srgbClr val="6B7280"/>
                </a:solidFill>
                <a:latin typeface="Noto Sans KR" pitchFamily="34" charset="0"/>
                <a:ea typeface="Noto Sans KR" pitchFamily="34" charset="-122"/>
                <a:cs typeface="Noto Sans KR" pitchFamily="34" charset="-120"/>
              </a:rPr>
            </a:br>
            <a:r>
              <a:rPr lang="en-US" sz="2175" dirty="0" err="1">
                <a:solidFill>
                  <a:srgbClr val="6B7280"/>
                </a:solidFill>
                <a:latin typeface="Noto Sans KR" pitchFamily="34" charset="0"/>
                <a:ea typeface="Noto Sans KR" pitchFamily="34" charset="-122"/>
                <a:cs typeface="Noto Sans KR" pitchFamily="34" charset="-120"/>
              </a:rPr>
              <a:t>채널</a:t>
            </a:r>
            <a:r>
              <a:rPr lang="en-US" sz="2175" dirty="0">
                <a:solidFill>
                  <a:srgbClr val="6B7280"/>
                </a:solidFill>
                <a:latin typeface="Noto Sans KR" pitchFamily="34" charset="0"/>
                <a:ea typeface="Noto Sans KR" pitchFamily="34" charset="-122"/>
                <a:cs typeface="Noto Sans KR" pitchFamily="34" charset="-120"/>
              </a:rPr>
              <a:t> 리포맷</a:t>
            </a:r>
            <a:endParaRPr lang="en-US" sz="2175" dirty="0"/>
          </a:p>
        </p:txBody>
      </p:sp>
      <p:pic>
        <p:nvPicPr>
          <p:cNvPr id="18" name="Image 2" descr="preencoded.png"/>
          <p:cNvPicPr>
            <a:picLocks noChangeAspect="1"/>
          </p:cNvPicPr>
          <p:nvPr/>
        </p:nvPicPr>
        <p:blipFill>
          <a:blip r:embed="rId5"/>
          <a:srcRect l="-23683" r="-23683"/>
          <a:stretch/>
        </p:blipFill>
        <p:spPr>
          <a:xfrm>
            <a:off x="9544050" y="7086600"/>
            <a:ext cx="3371850" cy="2095500"/>
          </a:xfrm>
          <a:prstGeom prst="rect">
            <a:avLst/>
          </a:prstGeom>
        </p:spPr>
      </p:pic>
      <p:sp>
        <p:nvSpPr>
          <p:cNvPr id="19" name="Shape 14"/>
          <p:cNvSpPr/>
          <p:nvPr/>
        </p:nvSpPr>
        <p:spPr>
          <a:xfrm>
            <a:off x="13430250" y="2506861"/>
            <a:ext cx="3943350" cy="7018139"/>
          </a:xfrm>
          <a:prstGeom prst="roundRect">
            <a:avLst>
              <a:gd name="adj" fmla="val 6280"/>
            </a:avLst>
          </a:prstGeom>
          <a:solidFill>
            <a:srgbClr val="FFFFFF"/>
          </a:solidFill>
          <a:ln/>
        </p:spPr>
        <p:txBody>
          <a:bodyPr/>
          <a:lstStyle/>
          <a:p>
            <a:endParaRPr lang="ko-KR" altLang="en-US"/>
          </a:p>
        </p:txBody>
      </p:sp>
      <p:sp>
        <p:nvSpPr>
          <p:cNvPr id="20" name="Text 15"/>
          <p:cNvSpPr/>
          <p:nvPr/>
        </p:nvSpPr>
        <p:spPr>
          <a:xfrm>
            <a:off x="13716000" y="2849761"/>
            <a:ext cx="3709035" cy="352425"/>
          </a:xfrm>
          <a:prstGeom prst="rect">
            <a:avLst/>
          </a:prstGeom>
          <a:noFill/>
          <a:ln/>
        </p:spPr>
        <p:txBody>
          <a:bodyPr wrap="square" lIns="25400" tIns="25400" rIns="25400" bIns="25400" rtlCol="0" anchor="t">
            <a:normAutofit/>
          </a:bodyPr>
          <a:lstStyle/>
          <a:p>
            <a:pPr marL="0" indent="0" algn="l">
              <a:buNone/>
            </a:pPr>
            <a:r>
              <a:rPr lang="en-US" sz="1875" dirty="0">
                <a:solidFill>
                  <a:srgbClr val="6A5AED"/>
                </a:solidFill>
                <a:latin typeface="IBM Plex Mono" pitchFamily="34" charset="0"/>
                <a:ea typeface="IBM Plex Mono" pitchFamily="34" charset="-122"/>
                <a:cs typeface="IBM Plex Mono" pitchFamily="34" charset="-120"/>
              </a:rPr>
              <a:t>SERVICE</a:t>
            </a:r>
            <a:endParaRPr lang="en-US" sz="1875" dirty="0"/>
          </a:p>
        </p:txBody>
      </p:sp>
      <p:sp>
        <p:nvSpPr>
          <p:cNvPr id="21" name="Text 16"/>
          <p:cNvSpPr/>
          <p:nvPr/>
        </p:nvSpPr>
        <p:spPr>
          <a:xfrm>
            <a:off x="13716000" y="3316486"/>
            <a:ext cx="3709035" cy="704850"/>
          </a:xfrm>
          <a:prstGeom prst="rect">
            <a:avLst/>
          </a:prstGeom>
          <a:noFill/>
          <a:ln/>
        </p:spPr>
        <p:txBody>
          <a:bodyPr wrap="square" lIns="25400" tIns="25400" rIns="25400" bIns="25400" rtlCol="0" anchor="t">
            <a:normAutofit/>
          </a:bodyPr>
          <a:lstStyle/>
          <a:p>
            <a:pPr marL="0" indent="0" algn="l">
              <a:buNone/>
            </a:pPr>
            <a:r>
              <a:rPr lang="en-US" sz="3600" b="1" dirty="0">
                <a:solidFill>
                  <a:srgbClr val="1F2937"/>
                </a:solidFill>
                <a:latin typeface="Noto Sans KR" pitchFamily="34" charset="0"/>
                <a:ea typeface="Noto Sans KR" pitchFamily="34" charset="-122"/>
                <a:cs typeface="Noto Sans KR" pitchFamily="34" charset="-120"/>
              </a:rPr>
              <a:t>윤승준</a:t>
            </a:r>
            <a:endParaRPr lang="en-US" sz="3600" dirty="0"/>
          </a:p>
        </p:txBody>
      </p:sp>
      <p:sp>
        <p:nvSpPr>
          <p:cNvPr id="22" name="Text 17"/>
          <p:cNvSpPr/>
          <p:nvPr/>
        </p:nvSpPr>
        <p:spPr>
          <a:xfrm>
            <a:off x="13716000" y="4135636"/>
            <a:ext cx="3473006" cy="866775"/>
          </a:xfrm>
          <a:prstGeom prst="rect">
            <a:avLst/>
          </a:prstGeom>
          <a:noFill/>
          <a:ln/>
        </p:spPr>
        <p:txBody>
          <a:bodyPr wrap="square" lIns="25400" tIns="25400" rIns="25400" bIns="25400" rtlCol="0" anchor="t">
            <a:normAutofit/>
          </a:bodyPr>
          <a:lstStyle/>
          <a:p>
            <a:pPr marL="0" indent="0" algn="l">
              <a:lnSpc>
                <a:spcPct val="103571"/>
              </a:lnSpc>
              <a:buNone/>
            </a:pPr>
            <a:r>
              <a:rPr lang="en-US" sz="2175" dirty="0">
                <a:solidFill>
                  <a:srgbClr val="6B7280"/>
                </a:solidFill>
                <a:latin typeface="Noto Sans KR" pitchFamily="34" charset="0"/>
                <a:ea typeface="Noto Sans KR" pitchFamily="34" charset="-122"/>
                <a:cs typeface="Noto Sans KR" pitchFamily="34" charset="-120"/>
              </a:rPr>
              <a:t>프론트 · API · DB · 과금 · 배포</a:t>
            </a:r>
            <a:endParaRPr lang="en-US" sz="2175" dirty="0"/>
          </a:p>
        </p:txBody>
      </p:sp>
      <p:pic>
        <p:nvPicPr>
          <p:cNvPr id="23" name="Image 3" descr="preencoded.png"/>
          <p:cNvPicPr>
            <a:picLocks noChangeAspect="1"/>
          </p:cNvPicPr>
          <p:nvPr/>
        </p:nvPicPr>
        <p:blipFill>
          <a:blip r:embed="rId6"/>
          <a:srcRect l="-42982" r="-42982"/>
          <a:stretch/>
        </p:blipFill>
        <p:spPr>
          <a:xfrm>
            <a:off x="13716000" y="7086600"/>
            <a:ext cx="3371850" cy="2095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00100"/>
            <a:ext cx="8795534"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기본 챗봇</a:t>
            </a:r>
            <a:endParaRPr lang="en-US" sz="1875" dirty="0"/>
          </a:p>
        </p:txBody>
      </p:sp>
      <p:sp>
        <p:nvSpPr>
          <p:cNvPr id="3" name="Text 1"/>
          <p:cNvSpPr/>
          <p:nvPr/>
        </p:nvSpPr>
        <p:spPr>
          <a:xfrm>
            <a:off x="914400" y="1276350"/>
            <a:ext cx="8795534"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카피니 - 광고가 만들어지는 과정</a:t>
            </a:r>
            <a:endParaRPr lang="en-US" sz="4950" dirty="0"/>
          </a:p>
        </p:txBody>
      </p:sp>
      <p:sp>
        <p:nvSpPr>
          <p:cNvPr id="4" name="Shape 2"/>
          <p:cNvSpPr/>
          <p:nvPr/>
        </p:nvSpPr>
        <p:spPr>
          <a:xfrm>
            <a:off x="914400" y="2437358"/>
            <a:ext cx="3514725" cy="4362450"/>
          </a:xfrm>
          <a:prstGeom prst="roundRect">
            <a:avLst>
              <a:gd name="adj" fmla="val 7046"/>
            </a:avLst>
          </a:prstGeom>
          <a:solidFill>
            <a:srgbClr val="FFFFFF"/>
          </a:solidFill>
          <a:ln/>
        </p:spPr>
        <p:txBody>
          <a:bodyPr/>
          <a:lstStyle/>
          <a:p>
            <a:endParaRPr lang="ko-KR" alt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0150" y="3633341"/>
            <a:ext cx="495300" cy="495300"/>
          </a:xfrm>
          <a:prstGeom prst="rect">
            <a:avLst/>
          </a:prstGeom>
        </p:spPr>
      </p:pic>
      <p:sp>
        <p:nvSpPr>
          <p:cNvPr id="6" name="Text 3"/>
          <p:cNvSpPr/>
          <p:nvPr/>
        </p:nvSpPr>
        <p:spPr>
          <a:xfrm>
            <a:off x="1200150" y="4261991"/>
            <a:ext cx="3237548"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6A5AED"/>
                </a:solidFill>
                <a:latin typeface="IBM Plex Mono" pitchFamily="34" charset="0"/>
                <a:ea typeface="IBM Plex Mono" pitchFamily="34" charset="-122"/>
                <a:cs typeface="IBM Plex Mono" pitchFamily="34" charset="-120"/>
              </a:rPr>
              <a:t>STEP 01</a:t>
            </a:r>
            <a:endParaRPr lang="en-US" sz="1800" dirty="0"/>
          </a:p>
        </p:txBody>
      </p:sp>
      <p:sp>
        <p:nvSpPr>
          <p:cNvPr id="7" name="Text 4"/>
          <p:cNvSpPr/>
          <p:nvPr/>
        </p:nvSpPr>
        <p:spPr>
          <a:xfrm>
            <a:off x="1200150" y="4700141"/>
            <a:ext cx="3237548"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dirty="0">
                <a:solidFill>
                  <a:srgbClr val="1F2937"/>
                </a:solidFill>
                <a:latin typeface="Noto Sans KR" pitchFamily="34" charset="0"/>
                <a:ea typeface="Noto Sans KR" pitchFamily="34" charset="-122"/>
                <a:cs typeface="Noto Sans KR" pitchFamily="34" charset="-120"/>
              </a:rPr>
              <a:t>입력 단계</a:t>
            </a:r>
            <a:endParaRPr lang="en-US" sz="2700" dirty="0"/>
          </a:p>
        </p:txBody>
      </p:sp>
      <p:sp>
        <p:nvSpPr>
          <p:cNvPr id="8" name="Text 5"/>
          <p:cNvSpPr/>
          <p:nvPr/>
        </p:nvSpPr>
        <p:spPr>
          <a:xfrm>
            <a:off x="1200150" y="5244852"/>
            <a:ext cx="3237548" cy="397073"/>
          </a:xfrm>
          <a:prstGeom prst="rect">
            <a:avLst/>
          </a:prstGeom>
          <a:noFill/>
          <a:ln/>
        </p:spPr>
        <p:txBody>
          <a:bodyPr wrap="square" lIns="25400" tIns="25400" rIns="25400" bIns="25400" rtlCol="0" anchor="t">
            <a:normAutofit/>
          </a:bodyPr>
          <a:lstStyle/>
          <a:p>
            <a:pPr marL="0" indent="0" algn="l">
              <a:lnSpc>
                <a:spcPct val="101892"/>
              </a:lnSpc>
              <a:buNone/>
            </a:pPr>
            <a:r>
              <a:rPr lang="en-US" sz="1950" dirty="0">
                <a:solidFill>
                  <a:srgbClr val="6B7280"/>
                </a:solidFill>
                <a:latin typeface="Noto Sans KR" pitchFamily="34" charset="0"/>
                <a:ea typeface="Noto Sans KR" pitchFamily="34" charset="-122"/>
                <a:cs typeface="Noto Sans KR" pitchFamily="34" charset="-120"/>
              </a:rPr>
              <a:t>입력 검증 및 재작성</a:t>
            </a:r>
            <a:endParaRPr lang="en-US" sz="19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3425" y="4456658"/>
            <a:ext cx="571500" cy="323850"/>
          </a:xfrm>
          <a:prstGeom prst="rect">
            <a:avLst/>
          </a:prstGeom>
        </p:spPr>
      </p:pic>
      <p:sp>
        <p:nvSpPr>
          <p:cNvPr id="10" name="Shape 6"/>
          <p:cNvSpPr/>
          <p:nvPr/>
        </p:nvSpPr>
        <p:spPr>
          <a:xfrm>
            <a:off x="5229225" y="2437358"/>
            <a:ext cx="3514725" cy="4362450"/>
          </a:xfrm>
          <a:prstGeom prst="roundRect">
            <a:avLst>
              <a:gd name="adj" fmla="val 7046"/>
            </a:avLst>
          </a:prstGeom>
          <a:solidFill>
            <a:srgbClr val="FFFFFF"/>
          </a:solidFill>
          <a:ln/>
        </p:spPr>
        <p:txBody>
          <a:bodyPr/>
          <a:lstStyle/>
          <a:p>
            <a:endParaRPr lang="ko-KR" altLang="en-US"/>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14975" y="3633341"/>
            <a:ext cx="495300" cy="495300"/>
          </a:xfrm>
          <a:prstGeom prst="rect">
            <a:avLst/>
          </a:prstGeom>
        </p:spPr>
      </p:pic>
      <p:sp>
        <p:nvSpPr>
          <p:cNvPr id="12" name="Text 7"/>
          <p:cNvSpPr/>
          <p:nvPr/>
        </p:nvSpPr>
        <p:spPr>
          <a:xfrm>
            <a:off x="5514975" y="4261991"/>
            <a:ext cx="3237548"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6A5AED"/>
                </a:solidFill>
                <a:latin typeface="IBM Plex Mono" pitchFamily="34" charset="0"/>
                <a:ea typeface="IBM Plex Mono" pitchFamily="34" charset="-122"/>
                <a:cs typeface="IBM Plex Mono" pitchFamily="34" charset="-120"/>
              </a:rPr>
              <a:t>STEP 02</a:t>
            </a:r>
            <a:endParaRPr lang="en-US" sz="1800" dirty="0"/>
          </a:p>
        </p:txBody>
      </p:sp>
      <p:sp>
        <p:nvSpPr>
          <p:cNvPr id="13" name="Text 8"/>
          <p:cNvSpPr/>
          <p:nvPr/>
        </p:nvSpPr>
        <p:spPr>
          <a:xfrm>
            <a:off x="5514975" y="4700141"/>
            <a:ext cx="3237548"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dirty="0">
                <a:solidFill>
                  <a:srgbClr val="1F2937"/>
                </a:solidFill>
                <a:latin typeface="Noto Sans KR" pitchFamily="34" charset="0"/>
                <a:ea typeface="Noto Sans KR" pitchFamily="34" charset="-122"/>
                <a:cs typeface="Noto Sans KR" pitchFamily="34" charset="-120"/>
              </a:rPr>
              <a:t>컨텍스트 수집 단계</a:t>
            </a:r>
            <a:endParaRPr lang="en-US" sz="2700" dirty="0"/>
          </a:p>
        </p:txBody>
      </p:sp>
      <p:sp>
        <p:nvSpPr>
          <p:cNvPr id="14" name="Text 9"/>
          <p:cNvSpPr/>
          <p:nvPr/>
        </p:nvSpPr>
        <p:spPr>
          <a:xfrm>
            <a:off x="5514975" y="5244852"/>
            <a:ext cx="3237548" cy="397073"/>
          </a:xfrm>
          <a:prstGeom prst="rect">
            <a:avLst/>
          </a:prstGeom>
          <a:noFill/>
          <a:ln/>
        </p:spPr>
        <p:txBody>
          <a:bodyPr wrap="square" lIns="25400" tIns="25400" rIns="25400" bIns="25400" rtlCol="0" anchor="t">
            <a:normAutofit/>
          </a:bodyPr>
          <a:lstStyle/>
          <a:p>
            <a:pPr marL="0" indent="0" algn="l">
              <a:lnSpc>
                <a:spcPct val="101892"/>
              </a:lnSpc>
              <a:buNone/>
            </a:pPr>
            <a:r>
              <a:rPr lang="en-US" sz="1950" dirty="0">
                <a:solidFill>
                  <a:srgbClr val="6B7280"/>
                </a:solidFill>
                <a:latin typeface="Noto Sans KR" pitchFamily="34" charset="0"/>
                <a:ea typeface="Noto Sans KR" pitchFamily="34" charset="-122"/>
                <a:cs typeface="Noto Sans KR" pitchFamily="34" charset="-120"/>
              </a:rPr>
              <a:t>채널 확정 · 컨텍스트 수집</a:t>
            </a:r>
            <a:endParaRPr lang="en-US" sz="19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58250" y="4456658"/>
            <a:ext cx="571500" cy="323850"/>
          </a:xfrm>
          <a:prstGeom prst="rect">
            <a:avLst/>
          </a:prstGeom>
        </p:spPr>
      </p:pic>
      <p:sp>
        <p:nvSpPr>
          <p:cNvPr id="16" name="Shape 10"/>
          <p:cNvSpPr/>
          <p:nvPr/>
        </p:nvSpPr>
        <p:spPr>
          <a:xfrm>
            <a:off x="9544050" y="2437358"/>
            <a:ext cx="3514725" cy="4362450"/>
          </a:xfrm>
          <a:prstGeom prst="roundRect">
            <a:avLst>
              <a:gd name="adj" fmla="val 7046"/>
            </a:avLst>
          </a:prstGeom>
          <a:solidFill>
            <a:srgbClr val="6A5AED"/>
          </a:solidFill>
          <a:ln/>
        </p:spPr>
        <p:txBody>
          <a:bodyPr/>
          <a:lstStyle/>
          <a:p>
            <a:endParaRPr lang="ko-KR" altLang="en-US"/>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29800" y="3633341"/>
            <a:ext cx="495300" cy="495300"/>
          </a:xfrm>
          <a:prstGeom prst="rect">
            <a:avLst/>
          </a:prstGeom>
        </p:spPr>
      </p:pic>
      <p:sp>
        <p:nvSpPr>
          <p:cNvPr id="18" name="Text 11"/>
          <p:cNvSpPr/>
          <p:nvPr/>
        </p:nvSpPr>
        <p:spPr>
          <a:xfrm>
            <a:off x="9829800" y="4261991"/>
            <a:ext cx="3237548"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FB703"/>
                </a:solidFill>
                <a:latin typeface="IBM Plex Mono" pitchFamily="34" charset="0"/>
                <a:ea typeface="IBM Plex Mono" pitchFamily="34" charset="-122"/>
                <a:cs typeface="IBM Plex Mono" pitchFamily="34" charset="-120"/>
              </a:rPr>
              <a:t>STEP 03</a:t>
            </a:r>
            <a:endParaRPr lang="en-US" sz="1800" dirty="0"/>
          </a:p>
        </p:txBody>
      </p:sp>
      <p:sp>
        <p:nvSpPr>
          <p:cNvPr id="19" name="Text 12"/>
          <p:cNvSpPr/>
          <p:nvPr/>
        </p:nvSpPr>
        <p:spPr>
          <a:xfrm>
            <a:off x="9829800" y="4700141"/>
            <a:ext cx="3237548"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dirty="0">
                <a:solidFill>
                  <a:srgbClr val="FFFFFF"/>
                </a:solidFill>
                <a:latin typeface="Noto Sans KR" pitchFamily="34" charset="0"/>
                <a:ea typeface="Noto Sans KR" pitchFamily="34" charset="-122"/>
                <a:cs typeface="Noto Sans KR" pitchFamily="34" charset="-120"/>
              </a:rPr>
              <a:t>생성 및 검증 단계</a:t>
            </a:r>
            <a:endParaRPr lang="en-US" sz="2700" dirty="0"/>
          </a:p>
        </p:txBody>
      </p:sp>
      <p:sp>
        <p:nvSpPr>
          <p:cNvPr id="20" name="Text 13"/>
          <p:cNvSpPr/>
          <p:nvPr/>
        </p:nvSpPr>
        <p:spPr>
          <a:xfrm>
            <a:off x="9829800" y="5244852"/>
            <a:ext cx="3237548" cy="397073"/>
          </a:xfrm>
          <a:prstGeom prst="rect">
            <a:avLst/>
          </a:prstGeom>
          <a:noFill/>
          <a:ln/>
        </p:spPr>
        <p:txBody>
          <a:bodyPr wrap="square" lIns="25400" tIns="25400" rIns="25400" bIns="25400" rtlCol="0" anchor="t">
            <a:normAutofit/>
          </a:bodyPr>
          <a:lstStyle/>
          <a:p>
            <a:pPr marL="0" indent="0" algn="l">
              <a:lnSpc>
                <a:spcPct val="101892"/>
              </a:lnSpc>
              <a:buNone/>
            </a:pPr>
            <a:r>
              <a:rPr lang="en-US" sz="1950" dirty="0">
                <a:solidFill>
                  <a:srgbClr val="D6D0FF"/>
                </a:solidFill>
                <a:latin typeface="Noto Sans KR" pitchFamily="34" charset="0"/>
                <a:ea typeface="Noto Sans KR" pitchFamily="34" charset="-122"/>
                <a:cs typeface="Noto Sans KR" pitchFamily="34" charset="-120"/>
              </a:rPr>
              <a:t>카피 및 이미지 생성</a:t>
            </a:r>
            <a:endParaRPr lang="en-US" sz="195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73075" y="4456658"/>
            <a:ext cx="571500" cy="323850"/>
          </a:xfrm>
          <a:prstGeom prst="rect">
            <a:avLst/>
          </a:prstGeom>
        </p:spPr>
      </p:pic>
      <p:sp>
        <p:nvSpPr>
          <p:cNvPr id="22" name="Shape 14"/>
          <p:cNvSpPr/>
          <p:nvPr/>
        </p:nvSpPr>
        <p:spPr>
          <a:xfrm>
            <a:off x="13858875" y="2437358"/>
            <a:ext cx="3514725" cy="4362450"/>
          </a:xfrm>
          <a:prstGeom prst="roundRect">
            <a:avLst>
              <a:gd name="adj" fmla="val 7046"/>
            </a:avLst>
          </a:prstGeom>
          <a:solidFill>
            <a:srgbClr val="FFFFFF"/>
          </a:solidFill>
          <a:ln/>
        </p:spPr>
        <p:txBody>
          <a:bodyPr/>
          <a:lstStyle/>
          <a:p>
            <a:endParaRPr lang="ko-KR" altLang="en-US"/>
          </a:p>
        </p:txBody>
      </p:sp>
      <p:pic>
        <p:nvPicPr>
          <p:cNvPr id="2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144625" y="3633341"/>
            <a:ext cx="495300" cy="495300"/>
          </a:xfrm>
          <a:prstGeom prst="rect">
            <a:avLst/>
          </a:prstGeom>
        </p:spPr>
      </p:pic>
      <p:sp>
        <p:nvSpPr>
          <p:cNvPr id="24" name="Text 15"/>
          <p:cNvSpPr/>
          <p:nvPr/>
        </p:nvSpPr>
        <p:spPr>
          <a:xfrm>
            <a:off x="14144625" y="4261991"/>
            <a:ext cx="3237548"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6A5AED"/>
                </a:solidFill>
                <a:latin typeface="IBM Plex Mono" pitchFamily="34" charset="0"/>
                <a:ea typeface="IBM Plex Mono" pitchFamily="34" charset="-122"/>
                <a:cs typeface="IBM Plex Mono" pitchFamily="34" charset="-120"/>
              </a:rPr>
              <a:t>STEP 04</a:t>
            </a:r>
            <a:endParaRPr lang="en-US" sz="1800" dirty="0"/>
          </a:p>
        </p:txBody>
      </p:sp>
      <p:sp>
        <p:nvSpPr>
          <p:cNvPr id="25" name="Text 16"/>
          <p:cNvSpPr/>
          <p:nvPr/>
        </p:nvSpPr>
        <p:spPr>
          <a:xfrm>
            <a:off x="14144625" y="4700141"/>
            <a:ext cx="3237548"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dirty="0">
                <a:solidFill>
                  <a:srgbClr val="1F2937"/>
                </a:solidFill>
                <a:latin typeface="Noto Sans KR" pitchFamily="34" charset="0"/>
                <a:ea typeface="Noto Sans KR" pitchFamily="34" charset="-122"/>
                <a:cs typeface="Noto Sans KR" pitchFamily="34" charset="-120"/>
              </a:rPr>
              <a:t>출력 단계</a:t>
            </a:r>
            <a:endParaRPr lang="en-US" sz="2700" dirty="0"/>
          </a:p>
        </p:txBody>
      </p:sp>
      <p:sp>
        <p:nvSpPr>
          <p:cNvPr id="26" name="Text 17"/>
          <p:cNvSpPr/>
          <p:nvPr/>
        </p:nvSpPr>
        <p:spPr>
          <a:xfrm>
            <a:off x="14144625" y="5244852"/>
            <a:ext cx="3237548" cy="397073"/>
          </a:xfrm>
          <a:prstGeom prst="rect">
            <a:avLst/>
          </a:prstGeom>
          <a:noFill/>
          <a:ln/>
        </p:spPr>
        <p:txBody>
          <a:bodyPr wrap="square" lIns="25400" tIns="25400" rIns="25400" bIns="25400" rtlCol="0" anchor="t">
            <a:normAutofit/>
          </a:bodyPr>
          <a:lstStyle/>
          <a:p>
            <a:pPr marL="0" indent="0" algn="l">
              <a:lnSpc>
                <a:spcPct val="101892"/>
              </a:lnSpc>
              <a:buNone/>
            </a:pPr>
            <a:r>
              <a:rPr lang="en-US" sz="1950" dirty="0">
                <a:solidFill>
                  <a:srgbClr val="6B7280"/>
                </a:solidFill>
                <a:latin typeface="Noto Sans KR" pitchFamily="34" charset="0"/>
                <a:ea typeface="Noto Sans KR" pitchFamily="34" charset="-122"/>
                <a:cs typeface="Noto Sans KR" pitchFamily="34" charset="-120"/>
              </a:rPr>
              <a:t>출력 검증 및 셀프 체크</a:t>
            </a:r>
            <a:endParaRPr lang="en-US" sz="1950" dirty="0"/>
          </a:p>
        </p:txBody>
      </p:sp>
      <p:sp>
        <p:nvSpPr>
          <p:cNvPr id="27" name="Shape 18"/>
          <p:cNvSpPr/>
          <p:nvPr/>
        </p:nvSpPr>
        <p:spPr>
          <a:xfrm>
            <a:off x="914400" y="8467725"/>
            <a:ext cx="16459200" cy="1095375"/>
          </a:xfrm>
          <a:prstGeom prst="roundRect">
            <a:avLst>
              <a:gd name="adj" fmla="val 19130"/>
            </a:avLst>
          </a:prstGeom>
          <a:solidFill>
            <a:srgbClr val="FFF4DC"/>
          </a:solidFill>
          <a:ln/>
        </p:spPr>
        <p:txBody>
          <a:bodyPr/>
          <a:lstStyle/>
          <a:p>
            <a:endParaRPr lang="ko-KR" altLang="en-US"/>
          </a:p>
        </p:txBody>
      </p:sp>
      <p:sp>
        <p:nvSpPr>
          <p:cNvPr id="28" name="Text 19"/>
          <p:cNvSpPr/>
          <p:nvPr/>
        </p:nvSpPr>
        <p:spPr>
          <a:xfrm>
            <a:off x="1257300" y="8863013"/>
            <a:ext cx="899220" cy="342900"/>
          </a:xfrm>
          <a:prstGeom prst="rect">
            <a:avLst/>
          </a:prstGeom>
          <a:noFill/>
          <a:ln/>
        </p:spPr>
        <p:txBody>
          <a:bodyPr wrap="none" lIns="25400" tIns="25400" rIns="25400" bIns="25400" rtlCol="0" anchor="t">
            <a:normAutofit/>
          </a:bodyPr>
          <a:lstStyle/>
          <a:p>
            <a:pPr marL="0" indent="0" algn="l">
              <a:buNone/>
            </a:pPr>
            <a:r>
              <a:rPr lang="en-US" sz="1800" dirty="0">
                <a:solidFill>
                  <a:srgbClr val="A87A00"/>
                </a:solidFill>
                <a:latin typeface="IBM Plex Mono" pitchFamily="34" charset="0"/>
                <a:ea typeface="IBM Plex Mono" pitchFamily="34" charset="-122"/>
                <a:cs typeface="IBM Plex Mono" pitchFamily="34" charset="-120"/>
              </a:rPr>
              <a:t>OUTPUT</a:t>
            </a:r>
            <a:endParaRPr lang="en-US" sz="1800" dirty="0"/>
          </a:p>
        </p:txBody>
      </p:sp>
      <p:sp>
        <p:nvSpPr>
          <p:cNvPr id="29" name="Text 20"/>
          <p:cNvSpPr/>
          <p:nvPr/>
        </p:nvSpPr>
        <p:spPr>
          <a:xfrm>
            <a:off x="2308920" y="8753475"/>
            <a:ext cx="4970100"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7A5A00"/>
                </a:solidFill>
                <a:latin typeface="Noto Sans KR" pitchFamily="34" charset="0"/>
                <a:ea typeface="Noto Sans KR" pitchFamily="34" charset="-122"/>
                <a:cs typeface="Noto Sans KR" pitchFamily="34" charset="-120"/>
              </a:rPr>
              <a:t>광고 문구 3안 + 채널별 이미지</a:t>
            </a:r>
            <a:endParaRPr lang="en-US" sz="2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00100"/>
            <a:ext cx="6949038"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기본 챗봇</a:t>
            </a:r>
            <a:endParaRPr lang="en-US" sz="1875" dirty="0"/>
          </a:p>
        </p:txBody>
      </p:sp>
      <p:sp>
        <p:nvSpPr>
          <p:cNvPr id="3" name="Text 1"/>
          <p:cNvSpPr/>
          <p:nvPr/>
        </p:nvSpPr>
        <p:spPr>
          <a:xfrm>
            <a:off x="914400" y="1276350"/>
            <a:ext cx="6949038"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카피니 - 생성 결과와 성과</a:t>
            </a:r>
            <a:endParaRPr lang="en-US" sz="4950" dirty="0"/>
          </a:p>
        </p:txBody>
      </p:sp>
      <p:sp>
        <p:nvSpPr>
          <p:cNvPr id="4" name="Shape 2"/>
          <p:cNvSpPr/>
          <p:nvPr/>
        </p:nvSpPr>
        <p:spPr>
          <a:xfrm>
            <a:off x="8938468" y="1332458"/>
            <a:ext cx="2266355" cy="666750"/>
          </a:xfrm>
          <a:prstGeom prst="roundRect">
            <a:avLst>
              <a:gd name="adj" fmla="val 22857"/>
            </a:avLst>
          </a:prstGeom>
          <a:solidFill>
            <a:srgbClr val="FFFFFF"/>
          </a:solidFill>
          <a:ln/>
        </p:spPr>
        <p:txBody>
          <a:bodyPr/>
          <a:lstStyle/>
          <a:p>
            <a:endParaRPr lang="ko-KR" altLang="en-US"/>
          </a:p>
        </p:txBody>
      </p:sp>
      <p:sp>
        <p:nvSpPr>
          <p:cNvPr id="5" name="Text 3"/>
          <p:cNvSpPr/>
          <p:nvPr/>
        </p:nvSpPr>
        <p:spPr>
          <a:xfrm>
            <a:off x="9128968" y="1532483"/>
            <a:ext cx="1202382" cy="371475"/>
          </a:xfrm>
          <a:prstGeom prst="rect">
            <a:avLst/>
          </a:prstGeom>
          <a:noFill/>
          <a:ln/>
        </p:spPr>
        <p:txBody>
          <a:bodyPr wrap="non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카피 Judge</a:t>
            </a:r>
            <a:endParaRPr lang="en-US" sz="1800" dirty="0"/>
          </a:p>
        </p:txBody>
      </p:sp>
      <p:sp>
        <p:nvSpPr>
          <p:cNvPr id="6" name="Text 4"/>
          <p:cNvSpPr/>
          <p:nvPr/>
        </p:nvSpPr>
        <p:spPr>
          <a:xfrm>
            <a:off x="10350401" y="1485395"/>
            <a:ext cx="740122" cy="476250"/>
          </a:xfrm>
          <a:prstGeom prst="rect">
            <a:avLst/>
          </a:prstGeom>
          <a:noFill/>
          <a:ln/>
        </p:spPr>
        <p:txBody>
          <a:bodyPr wrap="none" lIns="25400" tIns="25400" rIns="25400" bIns="25400" rtlCol="0" anchor="t">
            <a:normAutofit/>
          </a:bodyPr>
          <a:lstStyle/>
          <a:p>
            <a:pPr marL="0" indent="0" algn="l">
              <a:buNone/>
            </a:pPr>
            <a:r>
              <a:rPr lang="en-US" sz="2400" b="1" dirty="0">
                <a:solidFill>
                  <a:srgbClr val="6A5AED"/>
                </a:solidFill>
                <a:latin typeface="Noto Sans KR" pitchFamily="34" charset="0"/>
                <a:ea typeface="Noto Sans KR" pitchFamily="34" charset="-122"/>
                <a:cs typeface="Noto Sans KR" pitchFamily="34" charset="-120"/>
              </a:rPr>
              <a:t>4.72</a:t>
            </a:r>
            <a:endParaRPr lang="en-US" sz="2400" dirty="0"/>
          </a:p>
        </p:txBody>
      </p:sp>
      <p:sp>
        <p:nvSpPr>
          <p:cNvPr id="7" name="Shape 5"/>
          <p:cNvSpPr/>
          <p:nvPr/>
        </p:nvSpPr>
        <p:spPr>
          <a:xfrm>
            <a:off x="11338173" y="1332458"/>
            <a:ext cx="1771204" cy="666750"/>
          </a:xfrm>
          <a:prstGeom prst="roundRect">
            <a:avLst>
              <a:gd name="adj" fmla="val 22857"/>
            </a:avLst>
          </a:prstGeom>
          <a:solidFill>
            <a:srgbClr val="FFFFFF"/>
          </a:solidFill>
          <a:ln/>
        </p:spPr>
        <p:txBody>
          <a:bodyPr/>
          <a:lstStyle/>
          <a:p>
            <a:endParaRPr lang="ko-KR" altLang="en-US"/>
          </a:p>
        </p:txBody>
      </p:sp>
      <p:sp>
        <p:nvSpPr>
          <p:cNvPr id="8" name="Text 6"/>
          <p:cNvSpPr/>
          <p:nvPr/>
        </p:nvSpPr>
        <p:spPr>
          <a:xfrm>
            <a:off x="11528673" y="1532483"/>
            <a:ext cx="707231" cy="371475"/>
          </a:xfrm>
          <a:prstGeom prst="rect">
            <a:avLst/>
          </a:prstGeom>
          <a:noFill/>
          <a:ln/>
        </p:spPr>
        <p:txBody>
          <a:bodyPr wrap="non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구체성</a:t>
            </a:r>
            <a:endParaRPr lang="en-US" sz="1800" dirty="0"/>
          </a:p>
        </p:txBody>
      </p:sp>
      <p:sp>
        <p:nvSpPr>
          <p:cNvPr id="9" name="Text 7"/>
          <p:cNvSpPr/>
          <p:nvPr/>
        </p:nvSpPr>
        <p:spPr>
          <a:xfrm>
            <a:off x="12254954" y="1472516"/>
            <a:ext cx="740122" cy="476250"/>
          </a:xfrm>
          <a:prstGeom prst="rect">
            <a:avLst/>
          </a:prstGeom>
          <a:noFill/>
          <a:ln/>
        </p:spPr>
        <p:txBody>
          <a:bodyPr wrap="none" lIns="25400" tIns="25400" rIns="25400" bIns="25400" rtlCol="0" anchor="t">
            <a:normAutofit/>
          </a:bodyPr>
          <a:lstStyle/>
          <a:p>
            <a:pPr marL="0" indent="0" algn="l">
              <a:buNone/>
            </a:pPr>
            <a:r>
              <a:rPr lang="en-US" sz="2400" b="1" dirty="0">
                <a:solidFill>
                  <a:srgbClr val="6A5AED"/>
                </a:solidFill>
                <a:latin typeface="Noto Sans KR" pitchFamily="34" charset="0"/>
                <a:ea typeface="Noto Sans KR" pitchFamily="34" charset="-122"/>
                <a:cs typeface="Noto Sans KR" pitchFamily="34" charset="-120"/>
              </a:rPr>
              <a:t>4.07</a:t>
            </a:r>
            <a:endParaRPr lang="en-US" sz="2400" dirty="0"/>
          </a:p>
        </p:txBody>
      </p:sp>
      <p:sp>
        <p:nvSpPr>
          <p:cNvPr id="10" name="Shape 8"/>
          <p:cNvSpPr/>
          <p:nvPr/>
        </p:nvSpPr>
        <p:spPr>
          <a:xfrm>
            <a:off x="13242727" y="1332458"/>
            <a:ext cx="2242989" cy="666750"/>
          </a:xfrm>
          <a:prstGeom prst="roundRect">
            <a:avLst>
              <a:gd name="adj" fmla="val 22857"/>
            </a:avLst>
          </a:prstGeom>
          <a:solidFill>
            <a:srgbClr val="FFFFFF"/>
          </a:solidFill>
          <a:ln/>
        </p:spPr>
        <p:txBody>
          <a:bodyPr/>
          <a:lstStyle/>
          <a:p>
            <a:endParaRPr lang="ko-KR" altLang="en-US"/>
          </a:p>
        </p:txBody>
      </p:sp>
      <p:sp>
        <p:nvSpPr>
          <p:cNvPr id="11" name="Text 9"/>
          <p:cNvSpPr/>
          <p:nvPr/>
        </p:nvSpPr>
        <p:spPr>
          <a:xfrm>
            <a:off x="13433227" y="1532483"/>
            <a:ext cx="1179016" cy="371475"/>
          </a:xfrm>
          <a:prstGeom prst="rect">
            <a:avLst/>
          </a:prstGeom>
          <a:noFill/>
          <a:ln/>
        </p:spPr>
        <p:txBody>
          <a:bodyPr wrap="non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배너 가독성</a:t>
            </a:r>
            <a:endParaRPr lang="en-US" sz="1800" dirty="0"/>
          </a:p>
        </p:txBody>
      </p:sp>
      <p:sp>
        <p:nvSpPr>
          <p:cNvPr id="12" name="Text 10"/>
          <p:cNvSpPr/>
          <p:nvPr/>
        </p:nvSpPr>
        <p:spPr>
          <a:xfrm>
            <a:off x="14631293" y="1472516"/>
            <a:ext cx="740122" cy="476250"/>
          </a:xfrm>
          <a:prstGeom prst="rect">
            <a:avLst/>
          </a:prstGeom>
          <a:noFill/>
          <a:ln/>
        </p:spPr>
        <p:txBody>
          <a:bodyPr wrap="none" lIns="25400" tIns="25400" rIns="25400" bIns="25400" rtlCol="0" anchor="t">
            <a:normAutofit/>
          </a:bodyPr>
          <a:lstStyle/>
          <a:p>
            <a:pPr marL="0" indent="0" algn="l">
              <a:buNone/>
            </a:pPr>
            <a:r>
              <a:rPr lang="en-US" sz="2400" b="1" dirty="0">
                <a:solidFill>
                  <a:srgbClr val="10B981"/>
                </a:solidFill>
                <a:latin typeface="Noto Sans KR" pitchFamily="34" charset="0"/>
                <a:ea typeface="Noto Sans KR" pitchFamily="34" charset="-122"/>
                <a:cs typeface="Noto Sans KR" pitchFamily="34" charset="-120"/>
              </a:rPr>
              <a:t>4.60</a:t>
            </a:r>
            <a:endParaRPr lang="en-US" sz="2400" dirty="0"/>
          </a:p>
        </p:txBody>
      </p:sp>
      <p:sp>
        <p:nvSpPr>
          <p:cNvPr id="13" name="Shape 11"/>
          <p:cNvSpPr/>
          <p:nvPr/>
        </p:nvSpPr>
        <p:spPr>
          <a:xfrm>
            <a:off x="15619065" y="1332458"/>
            <a:ext cx="1754535" cy="666750"/>
          </a:xfrm>
          <a:prstGeom prst="roundRect">
            <a:avLst>
              <a:gd name="adj" fmla="val 22857"/>
            </a:avLst>
          </a:prstGeom>
          <a:solidFill>
            <a:srgbClr val="FFFFFF"/>
          </a:solidFill>
          <a:ln/>
        </p:spPr>
        <p:txBody>
          <a:bodyPr/>
          <a:lstStyle/>
          <a:p>
            <a:endParaRPr lang="ko-KR" altLang="en-US"/>
          </a:p>
        </p:txBody>
      </p:sp>
      <p:sp>
        <p:nvSpPr>
          <p:cNvPr id="14" name="Text 12"/>
          <p:cNvSpPr/>
          <p:nvPr/>
        </p:nvSpPr>
        <p:spPr>
          <a:xfrm>
            <a:off x="15809565" y="1532483"/>
            <a:ext cx="496937" cy="371475"/>
          </a:xfrm>
          <a:prstGeom prst="rect">
            <a:avLst/>
          </a:prstGeom>
          <a:noFill/>
          <a:ln/>
        </p:spPr>
        <p:txBody>
          <a:bodyPr wrap="non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계약</a:t>
            </a:r>
            <a:endParaRPr lang="en-US" sz="1800" dirty="0"/>
          </a:p>
        </p:txBody>
      </p:sp>
      <p:sp>
        <p:nvSpPr>
          <p:cNvPr id="15" name="Text 13"/>
          <p:cNvSpPr/>
          <p:nvPr/>
        </p:nvSpPr>
        <p:spPr>
          <a:xfrm>
            <a:off x="16325552" y="1472516"/>
            <a:ext cx="933748" cy="476250"/>
          </a:xfrm>
          <a:prstGeom prst="rect">
            <a:avLst/>
          </a:prstGeom>
          <a:noFill/>
          <a:ln/>
        </p:spPr>
        <p:txBody>
          <a:bodyPr wrap="none" lIns="25400" tIns="25400" rIns="25400" bIns="25400" rtlCol="0" anchor="t">
            <a:normAutofit/>
          </a:bodyPr>
          <a:lstStyle/>
          <a:p>
            <a:pPr marL="0" indent="0" algn="l">
              <a:buNone/>
            </a:pPr>
            <a:r>
              <a:rPr lang="en-US" sz="2400" b="1" dirty="0">
                <a:solidFill>
                  <a:srgbClr val="10B981"/>
                </a:solidFill>
                <a:latin typeface="Noto Sans KR" pitchFamily="34" charset="0"/>
                <a:ea typeface="Noto Sans KR" pitchFamily="34" charset="-122"/>
                <a:cs typeface="Noto Sans KR" pitchFamily="34" charset="-120"/>
              </a:rPr>
              <a:t>100%</a:t>
            </a:r>
            <a:endParaRPr lang="en-US" sz="2400" dirty="0"/>
          </a:p>
        </p:txBody>
      </p:sp>
      <p:sp>
        <p:nvSpPr>
          <p:cNvPr id="16" name="Shape 14"/>
          <p:cNvSpPr/>
          <p:nvPr/>
        </p:nvSpPr>
        <p:spPr>
          <a:xfrm>
            <a:off x="914400" y="2265908"/>
            <a:ext cx="16459200" cy="809625"/>
          </a:xfrm>
          <a:prstGeom prst="roundRect">
            <a:avLst>
              <a:gd name="adj" fmla="val 25882"/>
            </a:avLst>
          </a:prstGeom>
          <a:solidFill>
            <a:srgbClr val="6A5AED"/>
          </a:solidFill>
          <a:ln/>
        </p:spPr>
        <p:txBody>
          <a:bodyPr/>
          <a:lstStyle/>
          <a:p>
            <a:endParaRPr lang="ko-KR" altLang="en-US"/>
          </a:p>
        </p:txBody>
      </p:sp>
      <p:sp>
        <p:nvSpPr>
          <p:cNvPr id="17" name="Text 15"/>
          <p:cNvSpPr/>
          <p:nvPr/>
        </p:nvSpPr>
        <p:spPr>
          <a:xfrm>
            <a:off x="1219200" y="2518321"/>
            <a:ext cx="2565023" cy="342900"/>
          </a:xfrm>
          <a:prstGeom prst="rect">
            <a:avLst/>
          </a:prstGeom>
          <a:noFill/>
          <a:ln/>
        </p:spPr>
        <p:txBody>
          <a:bodyPr wrap="none" lIns="25400" tIns="25400" rIns="25400" bIns="25400" rtlCol="0" anchor="t">
            <a:normAutofit/>
          </a:bodyPr>
          <a:lstStyle/>
          <a:p>
            <a:pPr marL="0" indent="0" algn="l">
              <a:buNone/>
            </a:pPr>
            <a:r>
              <a:rPr lang="en-US" sz="1800" dirty="0">
                <a:solidFill>
                  <a:srgbClr val="FFB703"/>
                </a:solidFill>
                <a:latin typeface="IBM Plex Mono" pitchFamily="34" charset="0"/>
                <a:ea typeface="IBM Plex Mono" pitchFamily="34" charset="-122"/>
                <a:cs typeface="IBM Plex Mono" pitchFamily="34" charset="-120"/>
              </a:rPr>
              <a:t>INPUT · INSTAGRAM</a:t>
            </a:r>
            <a:endParaRPr lang="en-US" sz="1800" dirty="0"/>
          </a:p>
        </p:txBody>
      </p:sp>
      <p:sp>
        <p:nvSpPr>
          <p:cNvPr id="18" name="Text 16"/>
          <p:cNvSpPr/>
          <p:nvPr/>
        </p:nvSpPr>
        <p:spPr>
          <a:xfrm>
            <a:off x="3779639" y="2437358"/>
            <a:ext cx="5692066"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FFFFFF"/>
                </a:solidFill>
                <a:latin typeface="Noto Sans KR" pitchFamily="34" charset="0"/>
                <a:ea typeface="Noto Sans KR" pitchFamily="34" charset="-122"/>
                <a:cs typeface="Noto Sans KR" pitchFamily="34" charset="-120"/>
              </a:rPr>
              <a:t>"딸기라떼 신메뉴 홍보 문구 만들어줘"</a:t>
            </a:r>
            <a:endParaRPr lang="en-US" sz="2550" dirty="0"/>
          </a:p>
        </p:txBody>
      </p:sp>
      <p:sp>
        <p:nvSpPr>
          <p:cNvPr id="19" name="Text 17"/>
          <p:cNvSpPr/>
          <p:nvPr/>
        </p:nvSpPr>
        <p:spPr>
          <a:xfrm>
            <a:off x="14695289" y="2494508"/>
            <a:ext cx="2610862" cy="390525"/>
          </a:xfrm>
          <a:prstGeom prst="rect">
            <a:avLst/>
          </a:prstGeom>
          <a:noFill/>
          <a:ln/>
        </p:spPr>
        <p:txBody>
          <a:bodyPr wrap="none" lIns="25400" tIns="25400" rIns="25400" bIns="25400" rtlCol="0" anchor="t">
            <a:normAutofit/>
          </a:bodyPr>
          <a:lstStyle/>
          <a:p>
            <a:pPr marL="0" indent="0" algn="l">
              <a:buNone/>
            </a:pPr>
            <a:r>
              <a:rPr lang="en-US" sz="1950" dirty="0">
                <a:solidFill>
                  <a:srgbClr val="D6D0FF"/>
                </a:solidFill>
                <a:latin typeface="Noto Sans KR" pitchFamily="34" charset="0"/>
                <a:ea typeface="Noto Sans KR" pitchFamily="34" charset="-122"/>
                <a:cs typeface="Noto Sans KR" pitchFamily="34" charset="-120"/>
              </a:rPr>
              <a:t>광고 형식 · Instagram</a:t>
            </a:r>
            <a:endParaRPr lang="en-US" sz="1950" dirty="0"/>
          </a:p>
        </p:txBody>
      </p:sp>
      <p:sp>
        <p:nvSpPr>
          <p:cNvPr id="20" name="Shape 18"/>
          <p:cNvSpPr/>
          <p:nvPr/>
        </p:nvSpPr>
        <p:spPr>
          <a:xfrm>
            <a:off x="914400" y="3342233"/>
            <a:ext cx="5359301" cy="6220867"/>
          </a:xfrm>
          <a:prstGeom prst="roundRect">
            <a:avLst>
              <a:gd name="adj" fmla="val 4265"/>
            </a:avLst>
          </a:prstGeom>
          <a:solidFill>
            <a:srgbClr val="FFFFFF"/>
          </a:solidFill>
          <a:ln/>
        </p:spPr>
        <p:txBody>
          <a:bodyPr/>
          <a:lstStyle/>
          <a:p>
            <a:endParaRPr lang="ko-KR" altLang="en-US"/>
          </a:p>
        </p:txBody>
      </p:sp>
      <p:sp>
        <p:nvSpPr>
          <p:cNvPr id="21" name="Text 19"/>
          <p:cNvSpPr/>
          <p:nvPr/>
        </p:nvSpPr>
        <p:spPr>
          <a:xfrm>
            <a:off x="1104900" y="3599408"/>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01</a:t>
            </a:r>
            <a:endParaRPr lang="en-US" sz="1800" dirty="0"/>
          </a:p>
        </p:txBody>
      </p:sp>
      <p:sp>
        <p:nvSpPr>
          <p:cNvPr id="22" name="Text 20"/>
          <p:cNvSpPr/>
          <p:nvPr/>
        </p:nvSpPr>
        <p:spPr>
          <a:xfrm>
            <a:off x="1493639" y="3532733"/>
            <a:ext cx="483989"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1안</a:t>
            </a:r>
            <a:endParaRPr lang="en-US" sz="2100" dirty="0"/>
          </a:p>
        </p:txBody>
      </p:sp>
      <p:sp>
        <p:nvSpPr>
          <p:cNvPr id="23" name="Shape 21"/>
          <p:cNvSpPr/>
          <p:nvPr/>
        </p:nvSpPr>
        <p:spPr>
          <a:xfrm>
            <a:off x="1104900" y="4028033"/>
            <a:ext cx="4978301" cy="3238500"/>
          </a:xfrm>
          <a:prstGeom prst="roundRect">
            <a:avLst>
              <a:gd name="adj" fmla="val 4118"/>
            </a:avLst>
          </a:prstGeom>
          <a:solidFill>
            <a:srgbClr val="F5F6FA"/>
          </a:solidFill>
          <a:ln/>
        </p:spPr>
        <p:txBody>
          <a:bodyPr/>
          <a:lstStyle/>
          <a:p>
            <a:endParaRPr lang="ko-KR" altLang="en-US"/>
          </a:p>
        </p:txBody>
      </p:sp>
      <p:pic>
        <p:nvPicPr>
          <p:cNvPr id="24" name="Image 0" descr="preencoded.png"/>
          <p:cNvPicPr>
            <a:picLocks noChangeAspect="1"/>
          </p:cNvPicPr>
          <p:nvPr/>
        </p:nvPicPr>
        <p:blipFill>
          <a:blip r:embed="rId3"/>
          <a:srcRect l="-26861" r="-26861"/>
          <a:stretch/>
        </p:blipFill>
        <p:spPr>
          <a:xfrm>
            <a:off x="1104900" y="4028033"/>
            <a:ext cx="4978301" cy="3238500"/>
          </a:xfrm>
          <a:prstGeom prst="rect">
            <a:avLst/>
          </a:prstGeom>
        </p:spPr>
      </p:pic>
      <p:sp>
        <p:nvSpPr>
          <p:cNvPr id="25" name="Text 22"/>
          <p:cNvSpPr/>
          <p:nvPr/>
        </p:nvSpPr>
        <p:spPr>
          <a:xfrm>
            <a:off x="1104900" y="7380833"/>
            <a:ext cx="5127650" cy="1195388"/>
          </a:xfrm>
          <a:prstGeom prst="rect">
            <a:avLst/>
          </a:prstGeom>
          <a:noFill/>
          <a:ln/>
        </p:spPr>
        <p:txBody>
          <a:bodyPr wrap="square" lIns="25400" tIns="25400" rIns="25400" bIns="25400" rtlCol="0" anchor="t">
            <a:normAutofit/>
          </a:bodyPr>
          <a:lstStyle/>
          <a:p>
            <a:pPr marL="0" indent="0" algn="l">
              <a:lnSpc>
                <a:spcPct val="103846"/>
              </a:lnSpc>
              <a:buNone/>
            </a:pPr>
            <a:r>
              <a:rPr lang="en-US" sz="2025" dirty="0">
                <a:solidFill>
                  <a:srgbClr val="1F2937"/>
                </a:solidFill>
                <a:latin typeface="Noto Sans KR" pitchFamily="34" charset="0"/>
                <a:ea typeface="Noto Sans KR" pitchFamily="34" charset="-122"/>
                <a:cs typeface="Noto Sans KR" pitchFamily="34" charset="-120"/>
              </a:rPr>
              <a:t>🍓 새롭게 출시된 딸기라떼! 달콤한 딸기의 풍미를 느껴보세요. 역삼동 카페 코드잇에서 특별한 한 잔을 즐겨보세요!</a:t>
            </a:r>
            <a:endParaRPr lang="en-US" sz="2025" dirty="0"/>
          </a:p>
        </p:txBody>
      </p:sp>
      <p:sp>
        <p:nvSpPr>
          <p:cNvPr id="26" name="Text 23"/>
          <p:cNvSpPr/>
          <p:nvPr/>
        </p:nvSpPr>
        <p:spPr>
          <a:xfrm>
            <a:off x="1104900" y="9052620"/>
            <a:ext cx="5476131" cy="358080"/>
          </a:xfrm>
          <a:prstGeom prst="rect">
            <a:avLst/>
          </a:prstGeom>
          <a:noFill/>
          <a:ln/>
        </p:spPr>
        <p:txBody>
          <a:bodyPr wrap="square" lIns="25400" tIns="25400" rIns="25400" bIns="25400" rtlCol="0" anchor="t">
            <a:normAutofit/>
          </a:bodyPr>
          <a:lstStyle/>
          <a:p>
            <a:pPr marL="0" indent="0" algn="l">
              <a:lnSpc>
                <a:spcPct val="96000"/>
              </a:lnSpc>
              <a:buNone/>
            </a:pPr>
            <a:r>
              <a:rPr lang="en-US" sz="1800" dirty="0">
                <a:solidFill>
                  <a:srgbClr val="6A5AED"/>
                </a:solidFill>
                <a:latin typeface="Noto Sans KR" pitchFamily="34" charset="0"/>
                <a:ea typeface="Noto Sans KR" pitchFamily="34" charset="-122"/>
                <a:cs typeface="Noto Sans KR" pitchFamily="34" charset="-120"/>
              </a:rPr>
              <a:t>#딸기라떼 #카페코드잇 #역삼동</a:t>
            </a:r>
            <a:endParaRPr lang="en-US" sz="1800" dirty="0"/>
          </a:p>
        </p:txBody>
      </p:sp>
      <p:sp>
        <p:nvSpPr>
          <p:cNvPr id="27" name="Shape 24"/>
          <p:cNvSpPr/>
          <p:nvPr/>
        </p:nvSpPr>
        <p:spPr>
          <a:xfrm>
            <a:off x="6464201" y="3342233"/>
            <a:ext cx="5359450" cy="6220867"/>
          </a:xfrm>
          <a:prstGeom prst="roundRect">
            <a:avLst>
              <a:gd name="adj" fmla="val 4265"/>
            </a:avLst>
          </a:prstGeom>
          <a:solidFill>
            <a:srgbClr val="FFFFFF"/>
          </a:solidFill>
          <a:ln/>
        </p:spPr>
        <p:txBody>
          <a:bodyPr/>
          <a:lstStyle/>
          <a:p>
            <a:endParaRPr lang="ko-KR" altLang="en-US"/>
          </a:p>
        </p:txBody>
      </p:sp>
      <p:sp>
        <p:nvSpPr>
          <p:cNvPr id="28" name="Text 25"/>
          <p:cNvSpPr/>
          <p:nvPr/>
        </p:nvSpPr>
        <p:spPr>
          <a:xfrm>
            <a:off x="6654701" y="3599408"/>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02</a:t>
            </a:r>
            <a:endParaRPr lang="en-US" sz="1800" dirty="0"/>
          </a:p>
        </p:txBody>
      </p:sp>
      <p:sp>
        <p:nvSpPr>
          <p:cNvPr id="29" name="Text 26"/>
          <p:cNvSpPr/>
          <p:nvPr/>
        </p:nvSpPr>
        <p:spPr>
          <a:xfrm>
            <a:off x="7043440" y="3532733"/>
            <a:ext cx="483989"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2안</a:t>
            </a:r>
            <a:endParaRPr lang="en-US" sz="2100" dirty="0"/>
          </a:p>
        </p:txBody>
      </p:sp>
      <p:sp>
        <p:nvSpPr>
          <p:cNvPr id="30" name="Shape 27"/>
          <p:cNvSpPr/>
          <p:nvPr/>
        </p:nvSpPr>
        <p:spPr>
          <a:xfrm>
            <a:off x="6654701" y="4028033"/>
            <a:ext cx="4978450" cy="3238500"/>
          </a:xfrm>
          <a:prstGeom prst="roundRect">
            <a:avLst>
              <a:gd name="adj" fmla="val 4118"/>
            </a:avLst>
          </a:prstGeom>
          <a:solidFill>
            <a:srgbClr val="F5F6FA"/>
          </a:solidFill>
          <a:ln/>
        </p:spPr>
        <p:txBody>
          <a:bodyPr/>
          <a:lstStyle/>
          <a:p>
            <a:endParaRPr lang="ko-KR" altLang="en-US"/>
          </a:p>
        </p:txBody>
      </p:sp>
      <p:pic>
        <p:nvPicPr>
          <p:cNvPr id="31" name="Image 1" descr="preencoded.png"/>
          <p:cNvPicPr>
            <a:picLocks noChangeAspect="1"/>
          </p:cNvPicPr>
          <p:nvPr/>
        </p:nvPicPr>
        <p:blipFill>
          <a:blip r:embed="rId4"/>
          <a:srcRect l="-26864" r="-26864"/>
          <a:stretch/>
        </p:blipFill>
        <p:spPr>
          <a:xfrm>
            <a:off x="6654701" y="4028033"/>
            <a:ext cx="4978450" cy="3238500"/>
          </a:xfrm>
          <a:prstGeom prst="rect">
            <a:avLst/>
          </a:prstGeom>
        </p:spPr>
      </p:pic>
      <p:sp>
        <p:nvSpPr>
          <p:cNvPr id="32" name="Text 28"/>
          <p:cNvSpPr/>
          <p:nvPr/>
        </p:nvSpPr>
        <p:spPr>
          <a:xfrm>
            <a:off x="6654701" y="7380833"/>
            <a:ext cx="5127803" cy="1195388"/>
          </a:xfrm>
          <a:prstGeom prst="rect">
            <a:avLst/>
          </a:prstGeom>
          <a:noFill/>
          <a:ln/>
        </p:spPr>
        <p:txBody>
          <a:bodyPr wrap="square" lIns="25400" tIns="25400" rIns="25400" bIns="25400" rtlCol="0" anchor="t">
            <a:normAutofit/>
          </a:bodyPr>
          <a:lstStyle/>
          <a:p>
            <a:pPr marL="0" indent="0" algn="l">
              <a:lnSpc>
                <a:spcPct val="103846"/>
              </a:lnSpc>
              <a:buNone/>
            </a:pPr>
            <a:r>
              <a:rPr lang="en-US" sz="2025" dirty="0">
                <a:solidFill>
                  <a:srgbClr val="1F2937"/>
                </a:solidFill>
                <a:latin typeface="Noto Sans KR" pitchFamily="34" charset="0"/>
                <a:ea typeface="Noto Sans KR" pitchFamily="34" charset="-122"/>
                <a:cs typeface="Noto Sans KR" pitchFamily="34" charset="-120"/>
              </a:rPr>
              <a:t>딸기의 상큼함이 가득한 딸기라떼가 카페 코드잇에 등장했어요! 지금 바로 맛보러 오세요! 🍓☕️</a:t>
            </a:r>
            <a:endParaRPr lang="en-US" sz="2025" dirty="0"/>
          </a:p>
        </p:txBody>
      </p:sp>
      <p:sp>
        <p:nvSpPr>
          <p:cNvPr id="33" name="Text 29"/>
          <p:cNvSpPr/>
          <p:nvPr/>
        </p:nvSpPr>
        <p:spPr>
          <a:xfrm>
            <a:off x="6654701" y="9052620"/>
            <a:ext cx="5476295" cy="358080"/>
          </a:xfrm>
          <a:prstGeom prst="rect">
            <a:avLst/>
          </a:prstGeom>
          <a:noFill/>
          <a:ln/>
        </p:spPr>
        <p:txBody>
          <a:bodyPr wrap="square" lIns="25400" tIns="25400" rIns="25400" bIns="25400" rtlCol="0" anchor="t">
            <a:normAutofit/>
          </a:bodyPr>
          <a:lstStyle/>
          <a:p>
            <a:pPr marL="0" indent="0" algn="l">
              <a:lnSpc>
                <a:spcPct val="96000"/>
              </a:lnSpc>
              <a:buNone/>
            </a:pPr>
            <a:r>
              <a:rPr lang="en-US" sz="1800" dirty="0">
                <a:solidFill>
                  <a:srgbClr val="6A5AED"/>
                </a:solidFill>
                <a:latin typeface="Noto Sans KR" pitchFamily="34" charset="0"/>
                <a:ea typeface="Noto Sans KR" pitchFamily="34" charset="-122"/>
                <a:cs typeface="Noto Sans KR" pitchFamily="34" charset="-120"/>
              </a:rPr>
              <a:t>#딸기라떼 #카페코드잇 #카페추천</a:t>
            </a:r>
            <a:endParaRPr lang="en-US" sz="1800" dirty="0"/>
          </a:p>
        </p:txBody>
      </p:sp>
      <p:sp>
        <p:nvSpPr>
          <p:cNvPr id="34" name="Shape 30"/>
          <p:cNvSpPr/>
          <p:nvPr/>
        </p:nvSpPr>
        <p:spPr>
          <a:xfrm>
            <a:off x="12014150" y="3342233"/>
            <a:ext cx="5359450" cy="6220867"/>
          </a:xfrm>
          <a:prstGeom prst="roundRect">
            <a:avLst>
              <a:gd name="adj" fmla="val 4265"/>
            </a:avLst>
          </a:prstGeom>
          <a:solidFill>
            <a:srgbClr val="FFFFFF"/>
          </a:solidFill>
          <a:ln/>
        </p:spPr>
        <p:txBody>
          <a:bodyPr/>
          <a:lstStyle/>
          <a:p>
            <a:endParaRPr lang="ko-KR" altLang="en-US"/>
          </a:p>
        </p:txBody>
      </p:sp>
      <p:sp>
        <p:nvSpPr>
          <p:cNvPr id="35" name="Text 31"/>
          <p:cNvSpPr/>
          <p:nvPr/>
        </p:nvSpPr>
        <p:spPr>
          <a:xfrm>
            <a:off x="12204650" y="3599408"/>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03</a:t>
            </a:r>
            <a:endParaRPr lang="en-US" sz="1800" dirty="0"/>
          </a:p>
        </p:txBody>
      </p:sp>
      <p:sp>
        <p:nvSpPr>
          <p:cNvPr id="36" name="Text 32"/>
          <p:cNvSpPr/>
          <p:nvPr/>
        </p:nvSpPr>
        <p:spPr>
          <a:xfrm>
            <a:off x="12593389" y="3532733"/>
            <a:ext cx="483989" cy="419100"/>
          </a:xfrm>
          <a:prstGeom prst="rect">
            <a:avLst/>
          </a:prstGeom>
          <a:noFill/>
          <a:ln/>
        </p:spPr>
        <p:txBody>
          <a:bodyPr wrap="square" lIns="25400" tIns="25400" rIns="25400" bIns="25400" rtlCol="0" anchor="t">
            <a:normAutofit/>
          </a:bodyP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3안</a:t>
            </a:r>
            <a:endParaRPr lang="en-US" sz="2100" dirty="0"/>
          </a:p>
        </p:txBody>
      </p:sp>
      <p:sp>
        <p:nvSpPr>
          <p:cNvPr id="37" name="Shape 33"/>
          <p:cNvSpPr/>
          <p:nvPr/>
        </p:nvSpPr>
        <p:spPr>
          <a:xfrm>
            <a:off x="12204650" y="4028033"/>
            <a:ext cx="4978450" cy="3238500"/>
          </a:xfrm>
          <a:prstGeom prst="roundRect">
            <a:avLst>
              <a:gd name="adj" fmla="val 4118"/>
            </a:avLst>
          </a:prstGeom>
          <a:solidFill>
            <a:srgbClr val="F5F6FA"/>
          </a:solidFill>
          <a:ln/>
        </p:spPr>
        <p:txBody>
          <a:bodyPr/>
          <a:lstStyle/>
          <a:p>
            <a:endParaRPr lang="ko-KR" altLang="en-US"/>
          </a:p>
        </p:txBody>
      </p:sp>
      <p:pic>
        <p:nvPicPr>
          <p:cNvPr id="38" name="Image 2" descr="preencoded.png"/>
          <p:cNvPicPr>
            <a:picLocks noChangeAspect="1"/>
          </p:cNvPicPr>
          <p:nvPr/>
        </p:nvPicPr>
        <p:blipFill>
          <a:blip r:embed="rId5"/>
          <a:srcRect l="-26864" r="-26864"/>
          <a:stretch/>
        </p:blipFill>
        <p:spPr>
          <a:xfrm>
            <a:off x="12204650" y="4028033"/>
            <a:ext cx="4978450" cy="3238500"/>
          </a:xfrm>
          <a:prstGeom prst="rect">
            <a:avLst/>
          </a:prstGeom>
        </p:spPr>
      </p:pic>
      <p:sp>
        <p:nvSpPr>
          <p:cNvPr id="39" name="Text 34"/>
          <p:cNvSpPr/>
          <p:nvPr/>
        </p:nvSpPr>
        <p:spPr>
          <a:xfrm>
            <a:off x="12204650" y="7380833"/>
            <a:ext cx="5127803" cy="809625"/>
          </a:xfrm>
          <a:prstGeom prst="rect">
            <a:avLst/>
          </a:prstGeom>
          <a:noFill/>
          <a:ln/>
        </p:spPr>
        <p:txBody>
          <a:bodyPr wrap="square" lIns="25400" tIns="25400" rIns="25400" bIns="25400" rtlCol="0" anchor="t">
            <a:normAutofit/>
          </a:bodyPr>
          <a:lstStyle/>
          <a:p>
            <a:pPr marL="0" indent="0" algn="l">
              <a:lnSpc>
                <a:spcPct val="103846"/>
              </a:lnSpc>
              <a:buNone/>
            </a:pPr>
            <a:r>
              <a:rPr lang="en-US" sz="2025" dirty="0">
                <a:solidFill>
                  <a:srgbClr val="1F2937"/>
                </a:solidFill>
                <a:latin typeface="Noto Sans KR" pitchFamily="34" charset="0"/>
                <a:ea typeface="Noto Sans KR" pitchFamily="34" charset="-122"/>
                <a:cs typeface="Noto Sans KR" pitchFamily="34" charset="-120"/>
              </a:rPr>
              <a:t>딸기라떼 신메뉴 출시!🍓 부드러운 우유와 신선한 딸기가 만나 완벽한 조화를 이룹니다!</a:t>
            </a:r>
            <a:endParaRPr lang="en-US" sz="2025" dirty="0"/>
          </a:p>
        </p:txBody>
      </p:sp>
      <p:sp>
        <p:nvSpPr>
          <p:cNvPr id="40" name="Text 35"/>
          <p:cNvSpPr/>
          <p:nvPr/>
        </p:nvSpPr>
        <p:spPr>
          <a:xfrm>
            <a:off x="12204650" y="9052620"/>
            <a:ext cx="5476295" cy="358080"/>
          </a:xfrm>
          <a:prstGeom prst="rect">
            <a:avLst/>
          </a:prstGeom>
          <a:noFill/>
          <a:ln/>
        </p:spPr>
        <p:txBody>
          <a:bodyPr wrap="square" lIns="25400" tIns="25400" rIns="25400" bIns="25400" rtlCol="0" anchor="t">
            <a:normAutofit/>
          </a:bodyPr>
          <a:lstStyle/>
          <a:p>
            <a:pPr marL="0" indent="0" algn="l">
              <a:lnSpc>
                <a:spcPct val="96000"/>
              </a:lnSpc>
              <a:buNone/>
            </a:pPr>
            <a:r>
              <a:rPr lang="en-US" sz="1800" dirty="0">
                <a:solidFill>
                  <a:srgbClr val="6A5AED"/>
                </a:solidFill>
                <a:latin typeface="Noto Sans KR" pitchFamily="34" charset="0"/>
                <a:ea typeface="Noto Sans KR" pitchFamily="34" charset="-122"/>
                <a:cs typeface="Noto Sans KR" pitchFamily="34" charset="-120"/>
              </a:rPr>
              <a:t>#딸기라떼 #신메뉴 #맛있는카페</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762000"/>
            <a:ext cx="8317662"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기본 챗봇</a:t>
            </a:r>
            <a:endParaRPr lang="en-US" sz="1875" dirty="0"/>
          </a:p>
        </p:txBody>
      </p:sp>
      <p:sp>
        <p:nvSpPr>
          <p:cNvPr id="3" name="Text 1"/>
          <p:cNvSpPr/>
          <p:nvPr/>
        </p:nvSpPr>
        <p:spPr>
          <a:xfrm>
            <a:off x="914400" y="1238250"/>
            <a:ext cx="8317662"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카피니 - 문제를 찾고 고친 과정</a:t>
            </a:r>
            <a:endParaRPr lang="en-US" sz="4950" dirty="0"/>
          </a:p>
        </p:txBody>
      </p:sp>
      <p:sp>
        <p:nvSpPr>
          <p:cNvPr id="4" name="Text 2"/>
          <p:cNvSpPr/>
          <p:nvPr/>
        </p:nvSpPr>
        <p:spPr>
          <a:xfrm>
            <a:off x="13845102" y="1199108"/>
            <a:ext cx="3528498" cy="800100"/>
          </a:xfrm>
          <a:prstGeom prst="rect">
            <a:avLst/>
          </a:prstGeom>
          <a:noFill/>
          <a:ln/>
        </p:spPr>
        <p:txBody>
          <a:bodyPr wrap="none" lIns="25400" tIns="25400" rIns="25400" bIns="25400" rtlCol="0" anchor="t">
            <a:normAutofit/>
          </a:bodyPr>
          <a:lstStyle/>
          <a:p>
            <a:pPr marL="0" indent="0" algn="r">
              <a:lnSpc>
                <a:spcPct val="111111"/>
              </a:lnSpc>
              <a:buNone/>
            </a:pPr>
            <a:r>
              <a:rPr lang="en-US" sz="1875" dirty="0">
                <a:solidFill>
                  <a:srgbClr val="6B7280"/>
                </a:solidFill>
                <a:latin typeface="Noto Sans KR" pitchFamily="34" charset="0"/>
                <a:ea typeface="Noto Sans KR" pitchFamily="34" charset="-122"/>
                <a:cs typeface="Noto Sans KR" pitchFamily="34" charset="-120"/>
              </a:rPr>
              <a:t>모델 교체 2회 · 프롬프트 18라운드</a:t>
            </a:r>
            <a:br>
              <a:rPr lang="en-US" sz="1875" dirty="0">
                <a:solidFill>
                  <a:srgbClr val="6B7280"/>
                </a:solidFill>
                <a:latin typeface="Noto Sans KR" pitchFamily="34" charset="0"/>
                <a:ea typeface="Noto Sans KR" pitchFamily="34" charset="-122"/>
                <a:cs typeface="Noto Sans KR" pitchFamily="34" charset="-120"/>
              </a:rPr>
            </a:br>
            <a:r>
              <a:rPr lang="en-US" sz="1875" dirty="0" err="1">
                <a:solidFill>
                  <a:srgbClr val="6B7280"/>
                </a:solidFill>
                <a:latin typeface="Noto Sans KR" pitchFamily="34" charset="0"/>
                <a:ea typeface="Noto Sans KR" pitchFamily="34" charset="-122"/>
                <a:cs typeface="Noto Sans KR" pitchFamily="34" charset="-120"/>
              </a:rPr>
              <a:t>골든</a:t>
            </a:r>
            <a:r>
              <a:rPr lang="en-US" sz="1875" dirty="0">
                <a:solidFill>
                  <a:srgbClr val="6B7280"/>
                </a:solidFill>
                <a:latin typeface="Noto Sans KR" pitchFamily="34" charset="0"/>
                <a:ea typeface="Noto Sans KR" pitchFamily="34" charset="-122"/>
                <a:cs typeface="Noto Sans KR" pitchFamily="34" charset="-120"/>
              </a:rPr>
              <a:t> 데이터셋 57문항 측정</a:t>
            </a:r>
            <a:endParaRPr lang="en-US" sz="1875" dirty="0"/>
          </a:p>
        </p:txBody>
      </p:sp>
      <p:sp>
        <p:nvSpPr>
          <p:cNvPr id="5" name="Shape 3"/>
          <p:cNvSpPr/>
          <p:nvPr/>
        </p:nvSpPr>
        <p:spPr>
          <a:xfrm>
            <a:off x="914400" y="2227808"/>
            <a:ext cx="5334000" cy="6187083"/>
          </a:xfrm>
          <a:prstGeom prst="roundRect">
            <a:avLst>
              <a:gd name="adj" fmla="val 5000"/>
            </a:avLst>
          </a:prstGeom>
          <a:solidFill>
            <a:srgbClr val="FFFFFF"/>
          </a:solidFill>
          <a:ln/>
        </p:spPr>
        <p:txBody>
          <a:bodyPr/>
          <a:lstStyle/>
          <a:p>
            <a:endParaRPr lang="ko-KR" altLang="en-US"/>
          </a:p>
        </p:txBody>
      </p:sp>
      <p:sp>
        <p:nvSpPr>
          <p:cNvPr id="6" name="Shape 4"/>
          <p:cNvSpPr/>
          <p:nvPr/>
        </p:nvSpPr>
        <p:spPr>
          <a:xfrm>
            <a:off x="1238250" y="2589758"/>
            <a:ext cx="2450306" cy="571500"/>
          </a:xfrm>
          <a:prstGeom prst="roundRect">
            <a:avLst>
              <a:gd name="adj" fmla="val 50000"/>
            </a:avLst>
          </a:prstGeom>
          <a:solidFill>
            <a:srgbClr val="FDE8E8"/>
          </a:solidFill>
          <a:ln/>
        </p:spPr>
        <p:txBody>
          <a:bodyPr/>
          <a:lstStyle/>
          <a:p>
            <a:endParaRPr lang="ko-KR" altLang="en-US"/>
          </a:p>
        </p:txBody>
      </p:sp>
      <p:sp>
        <p:nvSpPr>
          <p:cNvPr id="7" name="Text 5"/>
          <p:cNvSpPr/>
          <p:nvPr/>
        </p:nvSpPr>
        <p:spPr>
          <a:xfrm>
            <a:off x="1447800" y="2704058"/>
            <a:ext cx="2107406" cy="381000"/>
          </a:xfrm>
          <a:prstGeom prst="rect">
            <a:avLst/>
          </a:prstGeom>
          <a:noFill/>
          <a:ln/>
        </p:spPr>
        <p:txBody>
          <a:bodyPr wrap="none" lIns="25400" tIns="25400" rIns="25400" bIns="25400" rtlCol="0" anchor="t">
            <a:normAutofit/>
          </a:bodyPr>
          <a:lstStyle/>
          <a:p>
            <a:pPr marL="0" indent="0" algn="l">
              <a:buNone/>
            </a:pPr>
            <a:r>
              <a:rPr lang="en-US" sz="1875" b="1" dirty="0">
                <a:solidFill>
                  <a:srgbClr val="C0342F"/>
                </a:solidFill>
                <a:latin typeface="Noto Sans KR" pitchFamily="34" charset="0"/>
                <a:ea typeface="Noto Sans KR" pitchFamily="34" charset="-122"/>
                <a:cs typeface="Noto Sans KR" pitchFamily="34" charset="-120"/>
              </a:rPr>
              <a:t>모델 선정 · 2회 교체</a:t>
            </a:r>
            <a:endParaRPr lang="en-US" sz="1875" dirty="0"/>
          </a:p>
        </p:txBody>
      </p:sp>
      <p:sp>
        <p:nvSpPr>
          <p:cNvPr id="8" name="Text 6"/>
          <p:cNvSpPr/>
          <p:nvPr/>
        </p:nvSpPr>
        <p:spPr>
          <a:xfrm>
            <a:off x="1238250" y="3351758"/>
            <a:ext cx="4826889" cy="1038225"/>
          </a:xfrm>
          <a:prstGeom prst="rect">
            <a:avLst/>
          </a:prstGeom>
          <a:noFill/>
          <a:ln/>
        </p:spPr>
        <p:txBody>
          <a:bodyPr wrap="square" lIns="25400" tIns="25400" rIns="25400" bIns="25400" rtlCol="0" anchor="t">
            <a:normAutofit/>
          </a:bodyPr>
          <a:lstStyle/>
          <a:p>
            <a:pPr marL="0" indent="0" algn="l">
              <a:lnSpc>
                <a:spcPct val="86066"/>
              </a:lnSpc>
              <a:buNone/>
            </a:pPr>
            <a:r>
              <a:rPr lang="en-US" sz="3150" b="1" kern="0" spc="-63" dirty="0">
                <a:solidFill>
                  <a:srgbClr val="1F2937"/>
                </a:solidFill>
                <a:latin typeface="Noto Sans KR" pitchFamily="34" charset="0"/>
                <a:ea typeface="Noto Sans KR" pitchFamily="34" charset="-122"/>
                <a:cs typeface="Noto Sans KR" pitchFamily="34" charset="-120"/>
              </a:rPr>
              <a:t>외국어 혼입, </a:t>
            </a:r>
            <a:r>
              <a:rPr lang="en-US" sz="3150" b="1" kern="0" spc="-63" dirty="0" err="1">
                <a:solidFill>
                  <a:srgbClr val="1F2937"/>
                </a:solidFill>
                <a:latin typeface="Noto Sans KR" pitchFamily="34" charset="0"/>
                <a:ea typeface="Noto Sans KR" pitchFamily="34" charset="-122"/>
                <a:cs typeface="Noto Sans KR" pitchFamily="34" charset="-120"/>
              </a:rPr>
              <a:t>한글</a:t>
            </a:r>
            <a:r>
              <a:rPr lang="en-US" sz="3150" b="1" kern="0" spc="-63" dirty="0">
                <a:solidFill>
                  <a:srgbClr val="1F2937"/>
                </a:solidFill>
                <a:latin typeface="Noto Sans KR" pitchFamily="34" charset="0"/>
                <a:ea typeface="Noto Sans KR" pitchFamily="34" charset="-122"/>
                <a:cs typeface="Noto Sans KR" pitchFamily="34" charset="-120"/>
              </a:rPr>
              <a:t> </a:t>
            </a:r>
            <a:r>
              <a:rPr lang="en-US" sz="3150" b="1" kern="0" spc="-63" dirty="0" err="1">
                <a:solidFill>
                  <a:srgbClr val="1F2937"/>
                </a:solidFill>
                <a:latin typeface="Noto Sans KR" pitchFamily="34" charset="0"/>
                <a:ea typeface="Noto Sans KR" pitchFamily="34" charset="-122"/>
                <a:cs typeface="Noto Sans KR" pitchFamily="34" charset="-120"/>
              </a:rPr>
              <a:t>텍스트</a:t>
            </a:r>
            <a:br>
              <a:rPr lang="en-US" sz="3150" b="1" kern="0" spc="-63" dirty="0">
                <a:solidFill>
                  <a:srgbClr val="1F2937"/>
                </a:solidFill>
                <a:latin typeface="Noto Sans KR" pitchFamily="34" charset="0"/>
                <a:ea typeface="Noto Sans KR" pitchFamily="34" charset="-122"/>
                <a:cs typeface="Noto Sans KR" pitchFamily="34" charset="-120"/>
              </a:rPr>
            </a:br>
            <a:r>
              <a:rPr lang="en-US" sz="3150" b="1" kern="0" spc="-63" dirty="0" err="1">
                <a:solidFill>
                  <a:srgbClr val="1F2937"/>
                </a:solidFill>
                <a:latin typeface="Noto Sans KR" pitchFamily="34" charset="0"/>
                <a:ea typeface="Noto Sans KR" pitchFamily="34" charset="-122"/>
                <a:cs typeface="Noto Sans KR" pitchFamily="34" charset="-120"/>
              </a:rPr>
              <a:t>깨짐</a:t>
            </a:r>
            <a:endParaRPr lang="en-US" sz="3150" dirty="0"/>
          </a:p>
        </p:txBody>
      </p:sp>
      <p:sp>
        <p:nvSpPr>
          <p:cNvPr id="9" name="Text 7"/>
          <p:cNvSpPr/>
          <p:nvPr/>
        </p:nvSpPr>
        <p:spPr>
          <a:xfrm>
            <a:off x="1238250" y="4542383"/>
            <a:ext cx="5154930" cy="43815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6B7280"/>
                </a:solidFill>
                <a:latin typeface="Noto Sans KR" pitchFamily="34" charset="0"/>
                <a:ea typeface="Noto Sans KR" pitchFamily="34" charset="-122"/>
                <a:cs typeface="Noto Sans KR" pitchFamily="34" charset="-120"/>
              </a:rPr>
              <a:t>다국어 오염 · 텍스트 깨짐 → 모델 교체</a:t>
            </a:r>
            <a:endParaRPr lang="en-US" sz="2100" dirty="0"/>
          </a:p>
        </p:txBody>
      </p:sp>
      <p:sp>
        <p:nvSpPr>
          <p:cNvPr id="10" name="Shape 8"/>
          <p:cNvSpPr/>
          <p:nvPr/>
        </p:nvSpPr>
        <p:spPr>
          <a:xfrm>
            <a:off x="1238250" y="6753820"/>
            <a:ext cx="4686300" cy="1299121"/>
          </a:xfrm>
          <a:prstGeom prst="roundRect">
            <a:avLst>
              <a:gd name="adj" fmla="val 11063"/>
            </a:avLst>
          </a:prstGeom>
          <a:solidFill>
            <a:srgbClr val="FDE8E8"/>
          </a:solidFill>
          <a:ln/>
        </p:spPr>
        <p:txBody>
          <a:bodyPr/>
          <a:lstStyle/>
          <a:p>
            <a:endParaRPr lang="ko-KR" altLang="en-US"/>
          </a:p>
        </p:txBody>
      </p:sp>
      <p:sp>
        <p:nvSpPr>
          <p:cNvPr id="11" name="Text 9"/>
          <p:cNvSpPr/>
          <p:nvPr/>
        </p:nvSpPr>
        <p:spPr>
          <a:xfrm>
            <a:off x="1388554" y="6982420"/>
            <a:ext cx="4252392"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B22B26">
                    <a:alpha val="75000"/>
                  </a:srgbClr>
                </a:solidFill>
                <a:latin typeface="Noto Sans KR" pitchFamily="34" charset="0"/>
                <a:ea typeface="Noto Sans KR" pitchFamily="34" charset="-122"/>
                <a:cs typeface="Noto Sans KR" pitchFamily="34" charset="-120"/>
              </a:rPr>
              <a:t>결과</a:t>
            </a:r>
            <a:endParaRPr lang="en-US" sz="1875" dirty="0"/>
          </a:p>
        </p:txBody>
      </p:sp>
      <p:sp>
        <p:nvSpPr>
          <p:cNvPr id="12" name="Text 10"/>
          <p:cNvSpPr/>
          <p:nvPr/>
        </p:nvSpPr>
        <p:spPr>
          <a:xfrm>
            <a:off x="1388554" y="7363420"/>
            <a:ext cx="4526280" cy="499021"/>
          </a:xfrm>
          <a:prstGeom prst="rect">
            <a:avLst/>
          </a:prstGeom>
          <a:noFill/>
          <a:ln/>
        </p:spPr>
        <p:txBody>
          <a:bodyPr wrap="square" lIns="25400" tIns="25400" rIns="25400" bIns="25400" rtlCol="0" anchor="t">
            <a:normAutofit/>
          </a:bodyPr>
          <a:lstStyle/>
          <a:p>
            <a:pPr marL="0" indent="0" algn="l">
              <a:lnSpc>
                <a:spcPct val="82222"/>
              </a:lnSpc>
              <a:buNone/>
            </a:pPr>
            <a:r>
              <a:rPr lang="en-US" sz="2775" b="1" kern="0" spc="-55" dirty="0">
                <a:solidFill>
                  <a:srgbClr val="B22B26"/>
                </a:solidFill>
                <a:latin typeface="Noto Sans KR" pitchFamily="34" charset="0"/>
                <a:ea typeface="Noto Sans KR" pitchFamily="34" charset="-122"/>
                <a:cs typeface="Noto Sans KR" pitchFamily="34" charset="-120"/>
              </a:rPr>
              <a:t>gpt-4o-mini · gpt-image-2</a:t>
            </a:r>
            <a:endParaRPr lang="en-US" sz="2775" dirty="0"/>
          </a:p>
        </p:txBody>
      </p:sp>
      <p:sp>
        <p:nvSpPr>
          <p:cNvPr id="13" name="Shape 11"/>
          <p:cNvSpPr/>
          <p:nvPr/>
        </p:nvSpPr>
        <p:spPr>
          <a:xfrm>
            <a:off x="6477000" y="2227808"/>
            <a:ext cx="5334000" cy="6187083"/>
          </a:xfrm>
          <a:prstGeom prst="roundRect">
            <a:avLst>
              <a:gd name="adj" fmla="val 5000"/>
            </a:avLst>
          </a:prstGeom>
          <a:solidFill>
            <a:srgbClr val="FFFFFF"/>
          </a:solidFill>
          <a:ln/>
        </p:spPr>
        <p:txBody>
          <a:bodyPr/>
          <a:lstStyle/>
          <a:p>
            <a:endParaRPr lang="ko-KR" altLang="en-US"/>
          </a:p>
        </p:txBody>
      </p:sp>
      <p:sp>
        <p:nvSpPr>
          <p:cNvPr id="14" name="Shape 12"/>
          <p:cNvSpPr/>
          <p:nvPr/>
        </p:nvSpPr>
        <p:spPr>
          <a:xfrm>
            <a:off x="6800850" y="2589758"/>
            <a:ext cx="2615357" cy="571500"/>
          </a:xfrm>
          <a:prstGeom prst="roundRect">
            <a:avLst>
              <a:gd name="adj" fmla="val 50000"/>
            </a:avLst>
          </a:prstGeom>
          <a:solidFill>
            <a:srgbClr val="EEECFF"/>
          </a:solidFill>
          <a:ln/>
        </p:spPr>
        <p:txBody>
          <a:bodyPr/>
          <a:lstStyle/>
          <a:p>
            <a:endParaRPr lang="ko-KR" altLang="en-US"/>
          </a:p>
        </p:txBody>
      </p:sp>
      <p:sp>
        <p:nvSpPr>
          <p:cNvPr id="15" name="Text 13"/>
          <p:cNvSpPr/>
          <p:nvPr/>
        </p:nvSpPr>
        <p:spPr>
          <a:xfrm>
            <a:off x="7010400" y="2704058"/>
            <a:ext cx="2274717" cy="381000"/>
          </a:xfrm>
          <a:prstGeom prst="rect">
            <a:avLst/>
          </a:prstGeom>
          <a:noFill/>
          <a:ln/>
        </p:spPr>
        <p:txBody>
          <a:bodyPr wrap="none" lIns="25400" tIns="25400" rIns="25400" bIns="25400" rtlCol="0" anchor="t">
            <a:normAutofit/>
          </a:bodyPr>
          <a:lstStyle/>
          <a:p>
            <a:pPr marL="0" indent="0" algn="l">
              <a:buNone/>
            </a:pPr>
            <a:r>
              <a:rPr lang="en-US" sz="1875" b="1" dirty="0">
                <a:solidFill>
                  <a:srgbClr val="4C3FCF"/>
                </a:solidFill>
                <a:latin typeface="Noto Sans KR" pitchFamily="34" charset="0"/>
                <a:ea typeface="Noto Sans KR" pitchFamily="34" charset="-122"/>
                <a:cs typeface="Noto Sans KR" pitchFamily="34" charset="-120"/>
              </a:rPr>
              <a:t>텍스트 카피 · 8라운드</a:t>
            </a:r>
            <a:endParaRPr lang="en-US" sz="1875" dirty="0"/>
          </a:p>
        </p:txBody>
      </p:sp>
      <p:sp>
        <p:nvSpPr>
          <p:cNvPr id="16" name="Text 14"/>
          <p:cNvSpPr/>
          <p:nvPr/>
        </p:nvSpPr>
        <p:spPr>
          <a:xfrm>
            <a:off x="6800850" y="3351758"/>
            <a:ext cx="5154930" cy="538163"/>
          </a:xfrm>
          <a:prstGeom prst="rect">
            <a:avLst/>
          </a:prstGeom>
          <a:noFill/>
          <a:ln/>
        </p:spPr>
        <p:txBody>
          <a:bodyPr wrap="square" lIns="25400" tIns="25400" rIns="25400" bIns="25400" rtlCol="0" anchor="t">
            <a:normAutofit/>
          </a:bodyPr>
          <a:lstStyle/>
          <a:p>
            <a:pPr marL="0" indent="0" algn="l">
              <a:lnSpc>
                <a:spcPct val="86066"/>
              </a:lnSpc>
              <a:buNone/>
            </a:pPr>
            <a:r>
              <a:rPr lang="en-US" sz="3150" b="1" kern="0" spc="-63" dirty="0">
                <a:solidFill>
                  <a:srgbClr val="1F2937"/>
                </a:solidFill>
                <a:latin typeface="Noto Sans KR" pitchFamily="34" charset="0"/>
                <a:ea typeface="Noto Sans KR" pitchFamily="34" charset="-122"/>
                <a:cs typeface="Noto Sans KR" pitchFamily="34" charset="-120"/>
              </a:rPr>
              <a:t>구체성과 규제의 줄다리기</a:t>
            </a:r>
            <a:endParaRPr lang="en-US" sz="3150" dirty="0"/>
          </a:p>
        </p:txBody>
      </p:sp>
      <p:sp>
        <p:nvSpPr>
          <p:cNvPr id="17" name="Text 15"/>
          <p:cNvSpPr/>
          <p:nvPr/>
        </p:nvSpPr>
        <p:spPr>
          <a:xfrm>
            <a:off x="6800850" y="4042321"/>
            <a:ext cx="4826889" cy="83820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6B7280"/>
                </a:solidFill>
                <a:latin typeface="Noto Sans KR" pitchFamily="34" charset="0"/>
                <a:ea typeface="Noto Sans KR" pitchFamily="34" charset="-122"/>
                <a:cs typeface="Noto Sans KR" pitchFamily="34" charset="-120"/>
              </a:rPr>
              <a:t>규제 강화할수록 구체성 하락 → 위치 정보만 보호해 절충</a:t>
            </a:r>
            <a:endParaRPr lang="en-US" sz="2100" dirty="0"/>
          </a:p>
        </p:txBody>
      </p:sp>
      <p:sp>
        <p:nvSpPr>
          <p:cNvPr id="18" name="Shape 16"/>
          <p:cNvSpPr/>
          <p:nvPr/>
        </p:nvSpPr>
        <p:spPr>
          <a:xfrm>
            <a:off x="6800850" y="6753820"/>
            <a:ext cx="4686300" cy="1299121"/>
          </a:xfrm>
          <a:prstGeom prst="roundRect">
            <a:avLst>
              <a:gd name="adj" fmla="val 14664"/>
            </a:avLst>
          </a:prstGeom>
          <a:solidFill>
            <a:srgbClr val="EEECFF"/>
          </a:solidFill>
          <a:ln/>
        </p:spPr>
        <p:txBody>
          <a:bodyPr/>
          <a:lstStyle/>
          <a:p>
            <a:endParaRPr lang="ko-KR" altLang="en-US"/>
          </a:p>
        </p:txBody>
      </p:sp>
      <p:sp>
        <p:nvSpPr>
          <p:cNvPr id="19" name="Text 17"/>
          <p:cNvSpPr/>
          <p:nvPr/>
        </p:nvSpPr>
        <p:spPr>
          <a:xfrm>
            <a:off x="7048500" y="6982420"/>
            <a:ext cx="461010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4C3FCF">
                    <a:alpha val="75000"/>
                  </a:srgbClr>
                </a:solidFill>
                <a:latin typeface="Noto Sans KR" pitchFamily="34" charset="0"/>
                <a:ea typeface="Noto Sans KR" pitchFamily="34" charset="-122"/>
                <a:cs typeface="Noto Sans KR" pitchFamily="34" charset="-120"/>
              </a:rPr>
              <a:t>결과</a:t>
            </a:r>
            <a:endParaRPr lang="en-US" sz="1875" dirty="0"/>
          </a:p>
        </p:txBody>
      </p:sp>
      <p:sp>
        <p:nvSpPr>
          <p:cNvPr id="20" name="Text 18"/>
          <p:cNvSpPr/>
          <p:nvPr/>
        </p:nvSpPr>
        <p:spPr>
          <a:xfrm>
            <a:off x="7048500" y="7401520"/>
            <a:ext cx="4610100" cy="460921"/>
          </a:xfrm>
          <a:prstGeom prst="rect">
            <a:avLst/>
          </a:prstGeom>
          <a:noFill/>
          <a:ln/>
        </p:spPr>
        <p:txBody>
          <a:bodyPr wrap="square" lIns="25400" tIns="25400" rIns="25400" bIns="25400" rtlCol="0" anchor="t">
            <a:normAutofit/>
          </a:bodyPr>
          <a:lstStyle/>
          <a:p>
            <a:pPr marL="0" indent="0" algn="l">
              <a:lnSpc>
                <a:spcPct val="82222"/>
              </a:lnSpc>
              <a:buNone/>
            </a:pPr>
            <a:r>
              <a:rPr lang="en-US" sz="2775" b="1" kern="0" spc="-55" dirty="0">
                <a:solidFill>
                  <a:srgbClr val="4C3FCF"/>
                </a:solidFill>
                <a:latin typeface="Noto Sans KR" pitchFamily="34" charset="0"/>
                <a:ea typeface="Noto Sans KR" pitchFamily="34" charset="-122"/>
                <a:cs typeface="Noto Sans KR" pitchFamily="34" charset="-120"/>
              </a:rPr>
              <a:t>LLM Judge 4.66 → 4.72</a:t>
            </a:r>
            <a:endParaRPr lang="en-US" sz="2775" dirty="0"/>
          </a:p>
        </p:txBody>
      </p:sp>
      <p:sp>
        <p:nvSpPr>
          <p:cNvPr id="21" name="Shape 19"/>
          <p:cNvSpPr/>
          <p:nvPr/>
        </p:nvSpPr>
        <p:spPr>
          <a:xfrm>
            <a:off x="12039600" y="2227808"/>
            <a:ext cx="5334000" cy="6187083"/>
          </a:xfrm>
          <a:prstGeom prst="roundRect">
            <a:avLst>
              <a:gd name="adj" fmla="val 5000"/>
            </a:avLst>
          </a:prstGeom>
          <a:solidFill>
            <a:srgbClr val="FFFFFF"/>
          </a:solidFill>
          <a:ln/>
        </p:spPr>
        <p:txBody>
          <a:bodyPr/>
          <a:lstStyle/>
          <a:p>
            <a:endParaRPr lang="ko-KR" altLang="en-US"/>
          </a:p>
        </p:txBody>
      </p:sp>
      <p:sp>
        <p:nvSpPr>
          <p:cNvPr id="22" name="Shape 20"/>
          <p:cNvSpPr/>
          <p:nvPr/>
        </p:nvSpPr>
        <p:spPr>
          <a:xfrm>
            <a:off x="12363450" y="2589758"/>
            <a:ext cx="2793950" cy="571500"/>
          </a:xfrm>
          <a:prstGeom prst="roundRect">
            <a:avLst>
              <a:gd name="adj" fmla="val 50000"/>
            </a:avLst>
          </a:prstGeom>
          <a:solidFill>
            <a:srgbClr val="DFF3EA"/>
          </a:solidFill>
          <a:ln/>
        </p:spPr>
        <p:txBody>
          <a:bodyPr/>
          <a:lstStyle/>
          <a:p>
            <a:endParaRPr lang="ko-KR" altLang="en-US"/>
          </a:p>
        </p:txBody>
      </p:sp>
      <p:sp>
        <p:nvSpPr>
          <p:cNvPr id="23" name="Text 21"/>
          <p:cNvSpPr/>
          <p:nvPr/>
        </p:nvSpPr>
        <p:spPr>
          <a:xfrm>
            <a:off x="12573000" y="2704058"/>
            <a:ext cx="2458669" cy="381000"/>
          </a:xfrm>
          <a:prstGeom prst="rect">
            <a:avLst/>
          </a:prstGeom>
          <a:noFill/>
          <a:ln/>
        </p:spPr>
        <p:txBody>
          <a:bodyPr wrap="none" lIns="25400" tIns="25400" rIns="25400" bIns="25400" rtlCol="0" anchor="t">
            <a:normAutofit/>
          </a:bodyPr>
          <a:lstStyle/>
          <a:p>
            <a:pPr marL="0" indent="0" algn="l">
              <a:buNone/>
            </a:pPr>
            <a:r>
              <a:rPr lang="en-US" sz="1875" b="1" dirty="0">
                <a:solidFill>
                  <a:srgbClr val="0B7A57"/>
                </a:solidFill>
                <a:latin typeface="Noto Sans KR" pitchFamily="34" charset="0"/>
                <a:ea typeface="Noto Sans KR" pitchFamily="34" charset="-122"/>
                <a:cs typeface="Noto Sans KR" pitchFamily="34" charset="-120"/>
              </a:rPr>
              <a:t>이미지/배너 · 10라운드</a:t>
            </a:r>
            <a:endParaRPr lang="en-US" sz="1875" dirty="0"/>
          </a:p>
        </p:txBody>
      </p:sp>
      <p:sp>
        <p:nvSpPr>
          <p:cNvPr id="24" name="Text 22"/>
          <p:cNvSpPr/>
          <p:nvPr/>
        </p:nvSpPr>
        <p:spPr>
          <a:xfrm>
            <a:off x="12363450" y="3351758"/>
            <a:ext cx="5154930" cy="538163"/>
          </a:xfrm>
          <a:prstGeom prst="rect">
            <a:avLst/>
          </a:prstGeom>
          <a:noFill/>
          <a:ln/>
        </p:spPr>
        <p:txBody>
          <a:bodyPr wrap="square" lIns="25400" tIns="25400" rIns="25400" bIns="25400" rtlCol="0" anchor="t">
            <a:normAutofit/>
          </a:bodyPr>
          <a:lstStyle/>
          <a:p>
            <a:pPr marL="0" indent="0" algn="l">
              <a:lnSpc>
                <a:spcPct val="86066"/>
              </a:lnSpc>
              <a:buNone/>
            </a:pPr>
            <a:r>
              <a:rPr lang="en-US" sz="3150" b="1" kern="0" spc="-63" dirty="0">
                <a:solidFill>
                  <a:srgbClr val="1F2937"/>
                </a:solidFill>
                <a:latin typeface="Noto Sans KR" pitchFamily="34" charset="0"/>
                <a:ea typeface="Noto Sans KR" pitchFamily="34" charset="-122"/>
                <a:cs typeface="Noto Sans KR" pitchFamily="34" charset="-120"/>
              </a:rPr>
              <a:t>배너 하단이 비어 보이는 문제</a:t>
            </a:r>
            <a:endParaRPr lang="en-US" sz="3150" dirty="0"/>
          </a:p>
        </p:txBody>
      </p:sp>
      <p:sp>
        <p:nvSpPr>
          <p:cNvPr id="25" name="Text 23"/>
          <p:cNvSpPr/>
          <p:nvPr/>
        </p:nvSpPr>
        <p:spPr>
          <a:xfrm>
            <a:off x="12363450" y="4042321"/>
            <a:ext cx="4826889" cy="838200"/>
          </a:xfrm>
          <a:prstGeom prst="rect">
            <a:avLst/>
          </a:prstGeom>
          <a:noFill/>
          <a:ln/>
        </p:spPr>
        <p:txBody>
          <a:bodyPr wrap="square" lIns="25400" tIns="25400" rIns="25400" bIns="25400" rtlCol="0" anchor="t">
            <a:normAutofit/>
          </a:bodyPr>
          <a:lstStyle/>
          <a:p>
            <a:pPr marL="0" indent="0" algn="l">
              <a:lnSpc>
                <a:spcPct val="105000"/>
              </a:lnSpc>
              <a:buNone/>
            </a:pPr>
            <a:r>
              <a:rPr lang="en-US" sz="2100" dirty="0">
                <a:solidFill>
                  <a:srgbClr val="6B7280"/>
                </a:solidFill>
                <a:latin typeface="Noto Sans KR" pitchFamily="34" charset="0"/>
                <a:ea typeface="Noto Sans KR" pitchFamily="34" charset="-122"/>
                <a:cs typeface="Noto Sans KR" pitchFamily="34" charset="-120"/>
              </a:rPr>
              <a:t>하단 여백 방치 → 로테이션 · 공통 규칙으로 개선</a:t>
            </a:r>
            <a:endParaRPr lang="en-US" sz="2100" dirty="0"/>
          </a:p>
        </p:txBody>
      </p:sp>
      <p:sp>
        <p:nvSpPr>
          <p:cNvPr id="26" name="Shape 24"/>
          <p:cNvSpPr/>
          <p:nvPr/>
        </p:nvSpPr>
        <p:spPr>
          <a:xfrm>
            <a:off x="12363450" y="6753820"/>
            <a:ext cx="4686300" cy="1299121"/>
          </a:xfrm>
          <a:prstGeom prst="roundRect">
            <a:avLst>
              <a:gd name="adj" fmla="val 14664"/>
            </a:avLst>
          </a:prstGeom>
          <a:solidFill>
            <a:srgbClr val="DFF3EA"/>
          </a:solidFill>
          <a:ln/>
        </p:spPr>
        <p:txBody>
          <a:bodyPr/>
          <a:lstStyle/>
          <a:p>
            <a:endParaRPr lang="ko-KR" altLang="en-US"/>
          </a:p>
        </p:txBody>
      </p:sp>
      <p:sp>
        <p:nvSpPr>
          <p:cNvPr id="27" name="Text 25"/>
          <p:cNvSpPr/>
          <p:nvPr/>
        </p:nvSpPr>
        <p:spPr>
          <a:xfrm>
            <a:off x="12611100" y="6982420"/>
            <a:ext cx="4610100" cy="381000"/>
          </a:xfrm>
          <a:prstGeom prst="rect">
            <a:avLst/>
          </a:prstGeom>
          <a:noFill/>
          <a:ln/>
        </p:spPr>
        <p:txBody>
          <a:bodyPr wrap="square" lIns="25400" tIns="25400" rIns="25400" bIns="25400" rtlCol="0" anchor="t">
            <a:normAutofit/>
          </a:bodyPr>
          <a:lstStyle/>
          <a:p>
            <a:pPr marL="0" indent="0" algn="l">
              <a:buNone/>
            </a:pPr>
            <a:r>
              <a:rPr lang="en-US" sz="1875" b="1" dirty="0">
                <a:solidFill>
                  <a:srgbClr val="0B7A57">
                    <a:alpha val="75000"/>
                  </a:srgbClr>
                </a:solidFill>
                <a:latin typeface="Noto Sans KR" pitchFamily="34" charset="0"/>
                <a:ea typeface="Noto Sans KR" pitchFamily="34" charset="-122"/>
                <a:cs typeface="Noto Sans KR" pitchFamily="34" charset="-120"/>
              </a:rPr>
              <a:t>결과</a:t>
            </a:r>
            <a:endParaRPr lang="en-US" sz="1875" dirty="0"/>
          </a:p>
        </p:txBody>
      </p:sp>
      <p:sp>
        <p:nvSpPr>
          <p:cNvPr id="28" name="Text 26"/>
          <p:cNvSpPr/>
          <p:nvPr/>
        </p:nvSpPr>
        <p:spPr>
          <a:xfrm>
            <a:off x="12611100" y="7401520"/>
            <a:ext cx="4610100" cy="460921"/>
          </a:xfrm>
          <a:prstGeom prst="rect">
            <a:avLst/>
          </a:prstGeom>
          <a:noFill/>
          <a:ln/>
        </p:spPr>
        <p:txBody>
          <a:bodyPr wrap="square" lIns="25400" tIns="25400" rIns="25400" bIns="25400" rtlCol="0" anchor="t">
            <a:normAutofit/>
          </a:bodyPr>
          <a:lstStyle/>
          <a:p>
            <a:pPr marL="0" indent="0" algn="l">
              <a:lnSpc>
                <a:spcPct val="82222"/>
              </a:lnSpc>
              <a:buNone/>
            </a:pPr>
            <a:r>
              <a:rPr lang="en-US" sz="2775" b="1" kern="0" spc="-55" dirty="0">
                <a:solidFill>
                  <a:srgbClr val="0B7A57"/>
                </a:solidFill>
                <a:latin typeface="Noto Sans KR" pitchFamily="34" charset="0"/>
                <a:ea typeface="Noto Sans KR" pitchFamily="34" charset="-122"/>
                <a:cs typeface="Noto Sans KR" pitchFamily="34" charset="-120"/>
              </a:rPr>
              <a:t>배너 가독성 4.13 → 4.60</a:t>
            </a:r>
            <a:endParaRPr lang="en-US" sz="2775" dirty="0"/>
          </a:p>
        </p:txBody>
      </p:sp>
      <p:sp>
        <p:nvSpPr>
          <p:cNvPr id="29" name="Shape 27"/>
          <p:cNvSpPr/>
          <p:nvPr/>
        </p:nvSpPr>
        <p:spPr>
          <a:xfrm>
            <a:off x="914400" y="8681591"/>
            <a:ext cx="16459200" cy="957709"/>
          </a:xfrm>
          <a:prstGeom prst="roundRect">
            <a:avLst>
              <a:gd name="adj" fmla="val 21880"/>
            </a:avLst>
          </a:prstGeom>
          <a:solidFill>
            <a:srgbClr val="6A5AED"/>
          </a:solidFill>
          <a:ln/>
        </p:spPr>
        <p:txBody>
          <a:bodyPr/>
          <a:lstStyle/>
          <a:p>
            <a:endParaRPr lang="ko-KR" altLang="en-US"/>
          </a:p>
        </p:txBody>
      </p:sp>
      <p:sp>
        <p:nvSpPr>
          <p:cNvPr id="30" name="Text 28"/>
          <p:cNvSpPr/>
          <p:nvPr/>
        </p:nvSpPr>
        <p:spPr>
          <a:xfrm>
            <a:off x="1276350" y="9003209"/>
            <a:ext cx="933450" cy="352425"/>
          </a:xfrm>
          <a:prstGeom prst="rect">
            <a:avLst/>
          </a:prstGeom>
          <a:noFill/>
          <a:ln/>
        </p:spPr>
        <p:txBody>
          <a:bodyPr wrap="none" lIns="25400" tIns="25400" rIns="25400" bIns="25400" rtlCol="0" anchor="t">
            <a:normAutofit/>
          </a:bodyPr>
          <a:lstStyle/>
          <a:p>
            <a:pPr marL="0" indent="0" algn="l">
              <a:buNone/>
            </a:pPr>
            <a:r>
              <a:rPr lang="en-US" sz="1875" dirty="0">
                <a:solidFill>
                  <a:srgbClr val="FFB703"/>
                </a:solidFill>
                <a:latin typeface="IBM Plex Mono" pitchFamily="34" charset="0"/>
                <a:ea typeface="IBM Plex Mono" pitchFamily="34" charset="-122"/>
                <a:cs typeface="IBM Plex Mono" pitchFamily="34" charset="-120"/>
              </a:rPr>
              <a:t>LESSON</a:t>
            </a:r>
            <a:endParaRPr lang="en-US" sz="1875" dirty="0"/>
          </a:p>
        </p:txBody>
      </p:sp>
      <p:sp>
        <p:nvSpPr>
          <p:cNvPr id="31" name="Text 29"/>
          <p:cNvSpPr/>
          <p:nvPr/>
        </p:nvSpPr>
        <p:spPr>
          <a:xfrm>
            <a:off x="2419350" y="8948291"/>
            <a:ext cx="10949151" cy="462409"/>
          </a:xfrm>
          <a:prstGeom prst="rect">
            <a:avLst/>
          </a:prstGeom>
          <a:noFill/>
          <a:ln/>
        </p:spPr>
        <p:txBody>
          <a:bodyPr wrap="square" lIns="25400" tIns="25400" rIns="25400" bIns="25400" rtlCol="0" anchor="t">
            <a:normAutofit/>
          </a:bodyPr>
          <a:lstStyle/>
          <a:p>
            <a:pPr marL="0" indent="0" algn="l">
              <a:lnSpc>
                <a:spcPct val="92812"/>
              </a:lnSpc>
              <a:buNone/>
            </a:pPr>
            <a:r>
              <a:rPr lang="en-US" sz="2475" b="1" dirty="0">
                <a:solidFill>
                  <a:srgbClr val="FFFFFF"/>
                </a:solidFill>
                <a:latin typeface="Noto Sans KR" pitchFamily="34" charset="0"/>
                <a:ea typeface="Noto Sans KR" pitchFamily="34" charset="-122"/>
                <a:cs typeface="Noto Sans KR" pitchFamily="34" charset="-120"/>
              </a:rPr>
              <a:t>안 되는 방식을 계속 고치는 대신, 막을 계층 자체를 바꿔가며 답을 찾았습니다.</a:t>
            </a:r>
            <a:endParaRPr lang="en-US" sz="24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BFE"/>
        </a:solidFill>
        <a:effectLst/>
      </p:bgPr>
    </p:bg>
    <p:spTree>
      <p:nvGrpSpPr>
        <p:cNvPr id="1" name=""/>
        <p:cNvGrpSpPr/>
        <p:nvPr/>
      </p:nvGrpSpPr>
      <p:grpSpPr>
        <a:xfrm>
          <a:off x="0" y="0"/>
          <a:ext cx="0" cy="0"/>
          <a:chOff x="0" y="0"/>
          <a:chExt cx="0" cy="0"/>
        </a:xfrm>
      </p:grpSpPr>
      <p:sp>
        <p:nvSpPr>
          <p:cNvPr id="2" name="Text 0"/>
          <p:cNvSpPr/>
          <p:nvPr/>
        </p:nvSpPr>
        <p:spPr>
          <a:xfrm>
            <a:off x="914400" y="876300"/>
            <a:ext cx="8795534"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컨설턴트 챗봇</a:t>
            </a:r>
            <a:endParaRPr lang="en-US" sz="1875" dirty="0"/>
          </a:p>
        </p:txBody>
      </p:sp>
      <p:sp>
        <p:nvSpPr>
          <p:cNvPr id="3" name="Text 1"/>
          <p:cNvSpPr/>
          <p:nvPr/>
        </p:nvSpPr>
        <p:spPr>
          <a:xfrm>
            <a:off x="914400" y="1371600"/>
            <a:ext cx="8795534"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분석이 - 전략이 만들어지는 과정</a:t>
            </a:r>
            <a:endParaRPr lang="en-US" sz="4950" dirty="0"/>
          </a:p>
        </p:txBody>
      </p:sp>
      <p:sp>
        <p:nvSpPr>
          <p:cNvPr id="4" name="Shape 2"/>
          <p:cNvSpPr/>
          <p:nvPr/>
        </p:nvSpPr>
        <p:spPr>
          <a:xfrm>
            <a:off x="914400" y="2551658"/>
            <a:ext cx="3187601" cy="5620792"/>
          </a:xfrm>
          <a:prstGeom prst="roundRect">
            <a:avLst>
              <a:gd name="adj" fmla="val 6574"/>
            </a:avLst>
          </a:prstGeom>
          <a:solidFill>
            <a:srgbClr val="FFFFFF"/>
          </a:solidFill>
          <a:ln/>
        </p:spPr>
        <p:txBody>
          <a:bodyPr/>
          <a:lstStyle/>
          <a:p>
            <a:endParaRPr lang="ko-KR" altLang="en-US"/>
          </a:p>
        </p:txBody>
      </p:sp>
      <p:sp>
        <p:nvSpPr>
          <p:cNvPr id="5" name="Text 3"/>
          <p:cNvSpPr/>
          <p:nvPr/>
        </p:nvSpPr>
        <p:spPr>
          <a:xfrm>
            <a:off x="1123950" y="3935611"/>
            <a:ext cx="304535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STEP 1</a:t>
            </a:r>
            <a:endParaRPr lang="en-US" sz="1800" dirty="0"/>
          </a:p>
        </p:txBody>
      </p:sp>
      <p:sp>
        <p:nvSpPr>
          <p:cNvPr id="6" name="Text 4"/>
          <p:cNvSpPr/>
          <p:nvPr/>
        </p:nvSpPr>
        <p:spPr>
          <a:xfrm>
            <a:off x="1123950" y="4373761"/>
            <a:ext cx="3045351" cy="442913"/>
          </a:xfrm>
          <a:prstGeom prst="rect">
            <a:avLst/>
          </a:prstGeom>
          <a:noFill/>
          <a:ln/>
        </p:spPr>
        <p:txBody>
          <a:bodyPr wrap="square" lIns="25400" tIns="25400" rIns="25400" bIns="25400" rtlCol="0" anchor="t">
            <a:normAutofit/>
          </a:bodyPr>
          <a:lstStyle/>
          <a:p>
            <a:pPr marL="0" indent="0" algn="l">
              <a:lnSpc>
                <a:spcPct val="86735"/>
              </a:lnSpc>
              <a:buNone/>
            </a:pPr>
            <a:r>
              <a:rPr lang="en-US" sz="2550" b="1" dirty="0">
                <a:solidFill>
                  <a:srgbClr val="1F2937"/>
                </a:solidFill>
                <a:latin typeface="Noto Sans KR" pitchFamily="34" charset="0"/>
                <a:ea typeface="Noto Sans KR" pitchFamily="34" charset="-122"/>
                <a:cs typeface="Noto Sans KR" pitchFamily="34" charset="-120"/>
              </a:rPr>
              <a:t>질문 분석</a:t>
            </a:r>
            <a:endParaRPr lang="en-US" sz="2550" dirty="0"/>
          </a:p>
        </p:txBody>
      </p:sp>
      <p:sp>
        <p:nvSpPr>
          <p:cNvPr id="7" name="Shape 5"/>
          <p:cNvSpPr/>
          <p:nvPr/>
        </p:nvSpPr>
        <p:spPr>
          <a:xfrm>
            <a:off x="1123950" y="4911923"/>
            <a:ext cx="2768501" cy="561975"/>
          </a:xfrm>
          <a:prstGeom prst="roundRect">
            <a:avLst>
              <a:gd name="adj" fmla="val 23729"/>
            </a:avLst>
          </a:prstGeom>
          <a:solidFill>
            <a:srgbClr val="F5F6FA"/>
          </a:solidFill>
          <a:ln/>
        </p:spPr>
        <p:txBody>
          <a:bodyPr/>
          <a:lstStyle/>
          <a:p>
            <a:endParaRPr lang="ko-KR" altLang="en-US"/>
          </a:p>
        </p:txBody>
      </p:sp>
      <p:sp>
        <p:nvSpPr>
          <p:cNvPr id="8" name="Text 6"/>
          <p:cNvSpPr/>
          <p:nvPr/>
        </p:nvSpPr>
        <p:spPr>
          <a:xfrm>
            <a:off x="1276350" y="5016698"/>
            <a:ext cx="2546756"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질문 재작성</a:t>
            </a:r>
            <a:endParaRPr lang="en-US" sz="1950" dirty="0"/>
          </a:p>
        </p:txBody>
      </p:sp>
      <p:sp>
        <p:nvSpPr>
          <p:cNvPr id="9" name="Shape 7"/>
          <p:cNvSpPr/>
          <p:nvPr/>
        </p:nvSpPr>
        <p:spPr>
          <a:xfrm>
            <a:off x="1123950" y="5569148"/>
            <a:ext cx="2768501" cy="561975"/>
          </a:xfrm>
          <a:prstGeom prst="roundRect">
            <a:avLst>
              <a:gd name="adj" fmla="val 23729"/>
            </a:avLst>
          </a:prstGeom>
          <a:solidFill>
            <a:srgbClr val="F5F6FA"/>
          </a:solidFill>
          <a:ln/>
        </p:spPr>
        <p:txBody>
          <a:bodyPr/>
          <a:lstStyle/>
          <a:p>
            <a:endParaRPr lang="ko-KR" altLang="en-US"/>
          </a:p>
        </p:txBody>
      </p:sp>
      <p:sp>
        <p:nvSpPr>
          <p:cNvPr id="10" name="Text 8"/>
          <p:cNvSpPr/>
          <p:nvPr/>
        </p:nvSpPr>
        <p:spPr>
          <a:xfrm>
            <a:off x="1276350" y="5673923"/>
            <a:ext cx="2546756"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검색어 추출</a:t>
            </a:r>
            <a:endParaRPr lang="en-US" sz="1950" dirty="0"/>
          </a:p>
        </p:txBody>
      </p:sp>
      <p:sp>
        <p:nvSpPr>
          <p:cNvPr id="11" name="Shape 9"/>
          <p:cNvSpPr/>
          <p:nvPr/>
        </p:nvSpPr>
        <p:spPr>
          <a:xfrm>
            <a:off x="1123950" y="6226373"/>
            <a:ext cx="2768501" cy="561975"/>
          </a:xfrm>
          <a:prstGeom prst="roundRect">
            <a:avLst>
              <a:gd name="adj" fmla="val 23729"/>
            </a:avLst>
          </a:prstGeom>
          <a:solidFill>
            <a:srgbClr val="F5F6FA"/>
          </a:solidFill>
          <a:ln/>
        </p:spPr>
        <p:txBody>
          <a:bodyPr/>
          <a:lstStyle/>
          <a:p>
            <a:endParaRPr lang="ko-KR" altLang="en-US"/>
          </a:p>
        </p:txBody>
      </p:sp>
      <p:sp>
        <p:nvSpPr>
          <p:cNvPr id="12" name="Text 10"/>
          <p:cNvSpPr/>
          <p:nvPr/>
        </p:nvSpPr>
        <p:spPr>
          <a:xfrm>
            <a:off x="1276350" y="6331148"/>
            <a:ext cx="2546756"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정보 충분성</a:t>
            </a:r>
            <a:endParaRPr lang="en-US" sz="1950" dirty="0"/>
          </a:p>
        </p:txBody>
      </p:sp>
      <p:sp>
        <p:nvSpPr>
          <p:cNvPr id="13" name="Text 11"/>
          <p:cNvSpPr/>
          <p:nvPr/>
        </p:nvSpPr>
        <p:spPr>
          <a:xfrm>
            <a:off x="4292501" y="2551658"/>
            <a:ext cx="495300" cy="5658892"/>
          </a:xfrm>
          <a:prstGeom prst="rect">
            <a:avLst/>
          </a:prstGeom>
          <a:noFill/>
          <a:ln/>
        </p:spPr>
        <p:txBody>
          <a:bodyPr wrap="square" lIns="25400" tIns="25400" rIns="25400" bIns="25400" rtlCol="0" anchor="ctr">
            <a:normAutofit/>
          </a:bodyPr>
          <a:lstStyle/>
          <a:p>
            <a:pPr marL="0" indent="0" algn="l">
              <a:buNone/>
            </a:pPr>
            <a:r>
              <a:rPr lang="en-US" sz="3300" b="1" dirty="0">
                <a:solidFill>
                  <a:srgbClr val="6A5AED"/>
                </a:solidFill>
                <a:latin typeface="Noto Sans KR" pitchFamily="34" charset="0"/>
                <a:ea typeface="Noto Sans KR" pitchFamily="34" charset="-122"/>
                <a:cs typeface="Noto Sans KR" pitchFamily="34" charset="-120"/>
              </a:rPr>
              <a:t>→</a:t>
            </a:r>
            <a:endParaRPr lang="en-US" sz="3300" dirty="0"/>
          </a:p>
        </p:txBody>
      </p:sp>
      <p:sp>
        <p:nvSpPr>
          <p:cNvPr id="14" name="Shape 12"/>
          <p:cNvSpPr/>
          <p:nvPr/>
        </p:nvSpPr>
        <p:spPr>
          <a:xfrm>
            <a:off x="4902101" y="2551658"/>
            <a:ext cx="4495800" cy="5620792"/>
          </a:xfrm>
          <a:prstGeom prst="roundRect">
            <a:avLst>
              <a:gd name="adj" fmla="val 4661"/>
            </a:avLst>
          </a:prstGeom>
          <a:solidFill>
            <a:srgbClr val="DDD6FD"/>
          </a:solidFill>
          <a:ln/>
        </p:spPr>
        <p:txBody>
          <a:bodyPr/>
          <a:lstStyle/>
          <a:p>
            <a:endParaRPr lang="ko-KR" altLang="en-US"/>
          </a:p>
        </p:txBody>
      </p:sp>
      <p:sp>
        <p:nvSpPr>
          <p:cNvPr id="15" name="Text 13"/>
          <p:cNvSpPr/>
          <p:nvPr/>
        </p:nvSpPr>
        <p:spPr>
          <a:xfrm>
            <a:off x="5073551" y="2723108"/>
            <a:ext cx="4568190" cy="371475"/>
          </a:xfrm>
          <a:prstGeom prst="rect">
            <a:avLst/>
          </a:prstGeom>
          <a:noFill/>
          <a:ln/>
        </p:spPr>
        <p:txBody>
          <a:bodyPr wrap="square" lIns="25400" tIns="25400" rIns="25400" bIns="25400" rtlCol="0" anchor="t">
            <a:normAutofit/>
          </a:bodyPr>
          <a:lstStyle/>
          <a:p>
            <a:pPr marL="0" indent="0" algn="l">
              <a:buNone/>
            </a:pPr>
            <a:r>
              <a:rPr lang="en-US" sz="1800" dirty="0">
                <a:solidFill>
                  <a:srgbClr val="5B4FBF"/>
                </a:solidFill>
                <a:latin typeface="Noto Sans KR" pitchFamily="34" charset="0"/>
                <a:ea typeface="Noto Sans KR" pitchFamily="34" charset="-122"/>
                <a:cs typeface="Noto Sans KR" pitchFamily="34" charset="-120"/>
              </a:rPr>
              <a:t>STEP 2 · 4-WAY 병렬</a:t>
            </a:r>
            <a:endParaRPr lang="en-US" sz="1800" dirty="0"/>
          </a:p>
        </p:txBody>
      </p:sp>
      <p:sp>
        <p:nvSpPr>
          <p:cNvPr id="16" name="Shape 14"/>
          <p:cNvSpPr/>
          <p:nvPr/>
        </p:nvSpPr>
        <p:spPr>
          <a:xfrm>
            <a:off x="5073551" y="3151733"/>
            <a:ext cx="4152900" cy="1140768"/>
          </a:xfrm>
          <a:prstGeom prst="roundRect">
            <a:avLst>
              <a:gd name="adj" fmla="val 13359"/>
            </a:avLst>
          </a:prstGeom>
          <a:solidFill>
            <a:srgbClr val="FFFFFF"/>
          </a:solidFill>
          <a:ln/>
        </p:spPr>
        <p:txBody>
          <a:bodyPr/>
          <a:lstStyle/>
          <a:p>
            <a:endParaRPr lang="ko-KR" altLang="en-US"/>
          </a:p>
        </p:txBody>
      </p:sp>
      <p:sp>
        <p:nvSpPr>
          <p:cNvPr id="17" name="Text 15"/>
          <p:cNvSpPr/>
          <p:nvPr/>
        </p:nvSpPr>
        <p:spPr>
          <a:xfrm>
            <a:off x="5264051" y="3312468"/>
            <a:ext cx="4149090" cy="466725"/>
          </a:xfrm>
          <a:prstGeom prst="rect">
            <a:avLst/>
          </a:prstGeom>
          <a:noFill/>
          <a:ln/>
        </p:spPr>
        <p:txBody>
          <a:bodyPr wrap="square" lIns="25400" tIns="25400" rIns="25400" bIns="25400" rtlCol="0" anchor="t">
            <a:normAutofit/>
          </a:bodyPr>
          <a:lstStyle/>
          <a:p>
            <a:pPr marL="0" indent="0" algn="l">
              <a:buNone/>
            </a:pPr>
            <a:r>
              <a:rPr lang="en-US" sz="2325" b="1" dirty="0">
                <a:solidFill>
                  <a:srgbClr val="1F2937"/>
                </a:solidFill>
                <a:latin typeface="Noto Sans KR" pitchFamily="34" charset="0"/>
                <a:ea typeface="Noto Sans KR" pitchFamily="34" charset="-122"/>
                <a:cs typeface="Noto Sans KR" pitchFamily="34" charset="-120"/>
              </a:rPr>
              <a:t>상권 조회</a:t>
            </a:r>
            <a:endParaRPr lang="en-US" sz="2325" dirty="0"/>
          </a:p>
        </p:txBody>
      </p:sp>
      <p:sp>
        <p:nvSpPr>
          <p:cNvPr id="18" name="Text 16"/>
          <p:cNvSpPr/>
          <p:nvPr/>
        </p:nvSpPr>
        <p:spPr>
          <a:xfrm>
            <a:off x="5264051" y="3779193"/>
            <a:ext cx="414909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동일업종 매장 수 → 경쟁 밀도</a:t>
            </a:r>
            <a:endParaRPr lang="en-US" sz="1950" dirty="0"/>
          </a:p>
        </p:txBody>
      </p:sp>
      <p:sp>
        <p:nvSpPr>
          <p:cNvPr id="19" name="Shape 17"/>
          <p:cNvSpPr/>
          <p:nvPr/>
        </p:nvSpPr>
        <p:spPr>
          <a:xfrm>
            <a:off x="5073551" y="4387751"/>
            <a:ext cx="4152900" cy="1140916"/>
          </a:xfrm>
          <a:prstGeom prst="roundRect">
            <a:avLst>
              <a:gd name="adj" fmla="val 13358"/>
            </a:avLst>
          </a:prstGeom>
          <a:solidFill>
            <a:srgbClr val="FFFFFF"/>
          </a:solidFill>
          <a:ln/>
        </p:spPr>
        <p:txBody>
          <a:bodyPr/>
          <a:lstStyle/>
          <a:p>
            <a:endParaRPr lang="ko-KR" altLang="en-US"/>
          </a:p>
        </p:txBody>
      </p:sp>
      <p:sp>
        <p:nvSpPr>
          <p:cNvPr id="20" name="Text 18"/>
          <p:cNvSpPr/>
          <p:nvPr/>
        </p:nvSpPr>
        <p:spPr>
          <a:xfrm>
            <a:off x="5264051" y="4548634"/>
            <a:ext cx="4149090" cy="466725"/>
          </a:xfrm>
          <a:prstGeom prst="rect">
            <a:avLst/>
          </a:prstGeom>
          <a:noFill/>
          <a:ln/>
        </p:spPr>
        <p:txBody>
          <a:bodyPr wrap="square" lIns="25400" tIns="25400" rIns="25400" bIns="25400" rtlCol="0" anchor="t">
            <a:normAutofit/>
          </a:bodyPr>
          <a:lstStyle/>
          <a:p>
            <a:pPr marL="0" indent="0" algn="l">
              <a:buNone/>
            </a:pPr>
            <a:r>
              <a:rPr lang="en-US" sz="2325" b="1" dirty="0">
                <a:solidFill>
                  <a:srgbClr val="1F2937"/>
                </a:solidFill>
                <a:latin typeface="Noto Sans KR" pitchFamily="34" charset="0"/>
                <a:ea typeface="Noto Sans KR" pitchFamily="34" charset="-122"/>
                <a:cs typeface="Noto Sans KR" pitchFamily="34" charset="-120"/>
              </a:rPr>
              <a:t>트렌드 조회</a:t>
            </a:r>
            <a:endParaRPr lang="en-US" sz="2325" dirty="0"/>
          </a:p>
        </p:txBody>
      </p:sp>
      <p:sp>
        <p:nvSpPr>
          <p:cNvPr id="21" name="Text 19"/>
          <p:cNvSpPr/>
          <p:nvPr/>
        </p:nvSpPr>
        <p:spPr>
          <a:xfrm>
            <a:off x="5264051" y="5015359"/>
            <a:ext cx="414909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검색어 추이 · 연관 검색어</a:t>
            </a:r>
            <a:endParaRPr lang="en-US" sz="1950" dirty="0"/>
          </a:p>
        </p:txBody>
      </p:sp>
      <p:sp>
        <p:nvSpPr>
          <p:cNvPr id="22" name="Shape 20"/>
          <p:cNvSpPr/>
          <p:nvPr/>
        </p:nvSpPr>
        <p:spPr>
          <a:xfrm>
            <a:off x="5073551" y="5623917"/>
            <a:ext cx="4152900" cy="1140916"/>
          </a:xfrm>
          <a:prstGeom prst="roundRect">
            <a:avLst>
              <a:gd name="adj" fmla="val 13358"/>
            </a:avLst>
          </a:prstGeom>
          <a:solidFill>
            <a:srgbClr val="FFFFFF"/>
          </a:solidFill>
          <a:ln/>
        </p:spPr>
        <p:txBody>
          <a:bodyPr/>
          <a:lstStyle/>
          <a:p>
            <a:endParaRPr lang="ko-KR" altLang="en-US"/>
          </a:p>
        </p:txBody>
      </p:sp>
      <p:sp>
        <p:nvSpPr>
          <p:cNvPr id="23" name="Text 21"/>
          <p:cNvSpPr/>
          <p:nvPr/>
        </p:nvSpPr>
        <p:spPr>
          <a:xfrm>
            <a:off x="5264051" y="5784800"/>
            <a:ext cx="4149090" cy="466725"/>
          </a:xfrm>
          <a:prstGeom prst="rect">
            <a:avLst/>
          </a:prstGeom>
          <a:noFill/>
          <a:ln/>
        </p:spPr>
        <p:txBody>
          <a:bodyPr wrap="square" lIns="25400" tIns="25400" rIns="25400" bIns="25400" rtlCol="0" anchor="t">
            <a:normAutofit/>
          </a:bodyPr>
          <a:lstStyle/>
          <a:p>
            <a:pPr marL="0" indent="0" algn="l">
              <a:buNone/>
            </a:pPr>
            <a:r>
              <a:rPr lang="en-US" sz="2325" b="1" dirty="0">
                <a:solidFill>
                  <a:srgbClr val="1F2937"/>
                </a:solidFill>
                <a:latin typeface="Noto Sans KR" pitchFamily="34" charset="0"/>
                <a:ea typeface="Noto Sans KR" pitchFamily="34" charset="-122"/>
                <a:cs typeface="Noto Sans KR" pitchFamily="34" charset="-120"/>
              </a:rPr>
              <a:t>추천 질문 3개</a:t>
            </a:r>
            <a:endParaRPr lang="en-US" sz="2325" dirty="0"/>
          </a:p>
        </p:txBody>
      </p:sp>
      <p:sp>
        <p:nvSpPr>
          <p:cNvPr id="24" name="Text 22"/>
          <p:cNvSpPr/>
          <p:nvPr/>
        </p:nvSpPr>
        <p:spPr>
          <a:xfrm>
            <a:off x="5264051" y="6251525"/>
            <a:ext cx="414909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이어 물을 수 있는 후속 질문</a:t>
            </a:r>
            <a:endParaRPr lang="en-US" sz="1950" dirty="0"/>
          </a:p>
        </p:txBody>
      </p:sp>
      <p:sp>
        <p:nvSpPr>
          <p:cNvPr id="25" name="Shape 23"/>
          <p:cNvSpPr/>
          <p:nvPr/>
        </p:nvSpPr>
        <p:spPr>
          <a:xfrm>
            <a:off x="5073551" y="6860084"/>
            <a:ext cx="4152900" cy="1140916"/>
          </a:xfrm>
          <a:prstGeom prst="roundRect">
            <a:avLst>
              <a:gd name="adj" fmla="val 13358"/>
            </a:avLst>
          </a:prstGeom>
          <a:solidFill>
            <a:srgbClr val="FFFFFF"/>
          </a:solidFill>
          <a:ln/>
        </p:spPr>
        <p:txBody>
          <a:bodyPr/>
          <a:lstStyle/>
          <a:p>
            <a:endParaRPr lang="ko-KR" altLang="en-US"/>
          </a:p>
        </p:txBody>
      </p:sp>
      <p:sp>
        <p:nvSpPr>
          <p:cNvPr id="26" name="Text 24"/>
          <p:cNvSpPr/>
          <p:nvPr/>
        </p:nvSpPr>
        <p:spPr>
          <a:xfrm>
            <a:off x="5264051" y="7020967"/>
            <a:ext cx="4149090" cy="466725"/>
          </a:xfrm>
          <a:prstGeom prst="rect">
            <a:avLst/>
          </a:prstGeom>
          <a:noFill/>
          <a:ln/>
        </p:spPr>
        <p:txBody>
          <a:bodyPr wrap="square" lIns="25400" tIns="25400" rIns="25400" bIns="25400" rtlCol="0" anchor="t">
            <a:normAutofit/>
          </a:bodyPr>
          <a:lstStyle/>
          <a:p>
            <a:pPr marL="0" indent="0" algn="l">
              <a:buNone/>
            </a:pPr>
            <a:r>
              <a:rPr lang="en-US" sz="2325" b="1" dirty="0">
                <a:solidFill>
                  <a:srgbClr val="1F2937"/>
                </a:solidFill>
                <a:latin typeface="Noto Sans KR" pitchFamily="34" charset="0"/>
                <a:ea typeface="Noto Sans KR" pitchFamily="34" charset="-122"/>
                <a:cs typeface="Noto Sans KR" pitchFamily="34" charset="-120"/>
              </a:rPr>
              <a:t>계절성 힌트</a:t>
            </a:r>
            <a:endParaRPr lang="en-US" sz="2325" dirty="0"/>
          </a:p>
        </p:txBody>
      </p:sp>
      <p:sp>
        <p:nvSpPr>
          <p:cNvPr id="27" name="Text 25"/>
          <p:cNvSpPr/>
          <p:nvPr/>
        </p:nvSpPr>
        <p:spPr>
          <a:xfrm>
            <a:off x="5264051" y="7487692"/>
            <a:ext cx="4149090"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날짜 기반 · 명시 시점 우선</a:t>
            </a:r>
            <a:endParaRPr lang="en-US" sz="1950" dirty="0"/>
          </a:p>
        </p:txBody>
      </p:sp>
      <p:sp>
        <p:nvSpPr>
          <p:cNvPr id="28" name="Text 26"/>
          <p:cNvSpPr/>
          <p:nvPr/>
        </p:nvSpPr>
        <p:spPr>
          <a:xfrm>
            <a:off x="9588401" y="2551658"/>
            <a:ext cx="495300" cy="5658892"/>
          </a:xfrm>
          <a:prstGeom prst="rect">
            <a:avLst/>
          </a:prstGeom>
          <a:noFill/>
          <a:ln/>
        </p:spPr>
        <p:txBody>
          <a:bodyPr wrap="square" lIns="25400" tIns="25400" rIns="25400" bIns="25400" rtlCol="0" anchor="ctr">
            <a:normAutofit/>
          </a:bodyPr>
          <a:lstStyle/>
          <a:p>
            <a:pPr marL="0" indent="0" algn="l">
              <a:buNone/>
            </a:pPr>
            <a:r>
              <a:rPr lang="en-US" sz="3300" b="1" dirty="0">
                <a:solidFill>
                  <a:srgbClr val="6A5AED"/>
                </a:solidFill>
                <a:latin typeface="Noto Sans KR" pitchFamily="34" charset="0"/>
                <a:ea typeface="Noto Sans KR" pitchFamily="34" charset="-122"/>
                <a:cs typeface="Noto Sans KR" pitchFamily="34" charset="-120"/>
              </a:rPr>
              <a:t>→</a:t>
            </a:r>
            <a:endParaRPr lang="en-US" sz="3300" dirty="0"/>
          </a:p>
        </p:txBody>
      </p:sp>
      <p:sp>
        <p:nvSpPr>
          <p:cNvPr id="29" name="Shape 27"/>
          <p:cNvSpPr/>
          <p:nvPr/>
        </p:nvSpPr>
        <p:spPr>
          <a:xfrm>
            <a:off x="10198001" y="2551658"/>
            <a:ext cx="3187750" cy="5620792"/>
          </a:xfrm>
          <a:prstGeom prst="roundRect">
            <a:avLst>
              <a:gd name="adj" fmla="val 6574"/>
            </a:avLst>
          </a:prstGeom>
          <a:solidFill>
            <a:srgbClr val="6A5AED"/>
          </a:solidFill>
          <a:ln/>
        </p:spPr>
        <p:txBody>
          <a:bodyPr/>
          <a:lstStyle/>
          <a:p>
            <a:endParaRPr lang="ko-KR" altLang="en-US"/>
          </a:p>
        </p:txBody>
      </p:sp>
      <p:sp>
        <p:nvSpPr>
          <p:cNvPr id="30" name="Text 28"/>
          <p:cNvSpPr/>
          <p:nvPr/>
        </p:nvSpPr>
        <p:spPr>
          <a:xfrm>
            <a:off x="10407551" y="3935611"/>
            <a:ext cx="304551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B703"/>
                </a:solidFill>
                <a:latin typeface="IBM Plex Mono" pitchFamily="34" charset="0"/>
                <a:ea typeface="IBM Plex Mono" pitchFamily="34" charset="-122"/>
                <a:cs typeface="IBM Plex Mono" pitchFamily="34" charset="-120"/>
              </a:rPr>
              <a:t>STEP 3 · CORE</a:t>
            </a:r>
            <a:endParaRPr lang="en-US" sz="1800" dirty="0"/>
          </a:p>
        </p:txBody>
      </p:sp>
      <p:sp>
        <p:nvSpPr>
          <p:cNvPr id="31" name="Text 29"/>
          <p:cNvSpPr/>
          <p:nvPr/>
        </p:nvSpPr>
        <p:spPr>
          <a:xfrm>
            <a:off x="10407551" y="4373761"/>
            <a:ext cx="3045515" cy="442913"/>
          </a:xfrm>
          <a:prstGeom prst="rect">
            <a:avLst/>
          </a:prstGeom>
          <a:noFill/>
          <a:ln/>
        </p:spPr>
        <p:txBody>
          <a:bodyPr wrap="square" lIns="25400" tIns="25400" rIns="25400" bIns="25400" rtlCol="0" anchor="t">
            <a:normAutofit/>
          </a:bodyPr>
          <a:lstStyle/>
          <a:p>
            <a:pPr marL="0" indent="0" algn="l">
              <a:lnSpc>
                <a:spcPct val="86735"/>
              </a:lnSpc>
              <a:buNone/>
            </a:pPr>
            <a:r>
              <a:rPr lang="en-US" sz="2550" b="1" dirty="0">
                <a:solidFill>
                  <a:srgbClr val="FFFFFF"/>
                </a:solidFill>
                <a:latin typeface="Noto Sans KR" pitchFamily="34" charset="0"/>
                <a:ea typeface="Noto Sans KR" pitchFamily="34" charset="-122"/>
                <a:cs typeface="Noto Sans KR" pitchFamily="34" charset="-120"/>
              </a:rPr>
              <a:t>전략 제안</a:t>
            </a:r>
            <a:endParaRPr lang="en-US" sz="2550" dirty="0"/>
          </a:p>
        </p:txBody>
      </p:sp>
      <p:sp>
        <p:nvSpPr>
          <p:cNvPr id="32" name="Shape 30"/>
          <p:cNvSpPr/>
          <p:nvPr/>
        </p:nvSpPr>
        <p:spPr>
          <a:xfrm>
            <a:off x="10407551" y="4911923"/>
            <a:ext cx="2768650" cy="561975"/>
          </a:xfrm>
          <a:prstGeom prst="roundRect">
            <a:avLst>
              <a:gd name="adj" fmla="val 23729"/>
            </a:avLst>
          </a:prstGeom>
          <a:solidFill>
            <a:srgbClr val="5B4BD6"/>
          </a:solidFill>
          <a:ln/>
        </p:spPr>
        <p:txBody>
          <a:bodyPr/>
          <a:lstStyle/>
          <a:p>
            <a:endParaRPr lang="ko-KR" altLang="en-US"/>
          </a:p>
        </p:txBody>
      </p:sp>
      <p:sp>
        <p:nvSpPr>
          <p:cNvPr id="33" name="Text 31"/>
          <p:cNvSpPr/>
          <p:nvPr/>
        </p:nvSpPr>
        <p:spPr>
          <a:xfrm>
            <a:off x="10559951" y="5016698"/>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EDEAFE"/>
                </a:solidFill>
                <a:latin typeface="Noto Sans KR" pitchFamily="34" charset="0"/>
                <a:ea typeface="Noto Sans KR" pitchFamily="34" charset="-122"/>
                <a:cs typeface="Noto Sans KR" pitchFamily="34" charset="-120"/>
              </a:rPr>
              <a:t>요약</a:t>
            </a:r>
            <a:endParaRPr lang="en-US" sz="1950" dirty="0"/>
          </a:p>
        </p:txBody>
      </p:sp>
      <p:sp>
        <p:nvSpPr>
          <p:cNvPr id="34" name="Shape 32"/>
          <p:cNvSpPr/>
          <p:nvPr/>
        </p:nvSpPr>
        <p:spPr>
          <a:xfrm>
            <a:off x="10407551" y="5569148"/>
            <a:ext cx="2768650" cy="561975"/>
          </a:xfrm>
          <a:prstGeom prst="roundRect">
            <a:avLst>
              <a:gd name="adj" fmla="val 23729"/>
            </a:avLst>
          </a:prstGeom>
          <a:solidFill>
            <a:srgbClr val="5B4BD6"/>
          </a:solidFill>
          <a:ln/>
        </p:spPr>
        <p:txBody>
          <a:bodyPr/>
          <a:lstStyle/>
          <a:p>
            <a:endParaRPr lang="ko-KR" altLang="en-US"/>
          </a:p>
        </p:txBody>
      </p:sp>
      <p:sp>
        <p:nvSpPr>
          <p:cNvPr id="35" name="Text 33"/>
          <p:cNvSpPr/>
          <p:nvPr/>
        </p:nvSpPr>
        <p:spPr>
          <a:xfrm>
            <a:off x="10559951" y="5673923"/>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EDEAFE"/>
                </a:solidFill>
                <a:latin typeface="Noto Sans KR" pitchFamily="34" charset="0"/>
                <a:ea typeface="Noto Sans KR" pitchFamily="34" charset="-122"/>
                <a:cs typeface="Noto Sans KR" pitchFamily="34" charset="-120"/>
              </a:rPr>
              <a:t>실행안 1~3개</a:t>
            </a:r>
            <a:endParaRPr lang="en-US" sz="1950" dirty="0"/>
          </a:p>
        </p:txBody>
      </p:sp>
      <p:sp>
        <p:nvSpPr>
          <p:cNvPr id="36" name="Shape 34"/>
          <p:cNvSpPr/>
          <p:nvPr/>
        </p:nvSpPr>
        <p:spPr>
          <a:xfrm>
            <a:off x="10407551" y="6226373"/>
            <a:ext cx="2768650" cy="561975"/>
          </a:xfrm>
          <a:prstGeom prst="roundRect">
            <a:avLst>
              <a:gd name="adj" fmla="val 23729"/>
            </a:avLst>
          </a:prstGeom>
          <a:solidFill>
            <a:srgbClr val="5B4BD6"/>
          </a:solidFill>
          <a:ln/>
        </p:spPr>
        <p:txBody>
          <a:bodyPr/>
          <a:lstStyle/>
          <a:p>
            <a:endParaRPr lang="ko-KR" altLang="en-US"/>
          </a:p>
        </p:txBody>
      </p:sp>
      <p:sp>
        <p:nvSpPr>
          <p:cNvPr id="37" name="Text 35"/>
          <p:cNvSpPr/>
          <p:nvPr/>
        </p:nvSpPr>
        <p:spPr>
          <a:xfrm>
            <a:off x="10559951" y="6331148"/>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EDEAFE"/>
                </a:solidFill>
                <a:latin typeface="Noto Sans KR" pitchFamily="34" charset="0"/>
                <a:ea typeface="Noto Sans KR" pitchFamily="34" charset="-122"/>
                <a:cs typeface="Noto Sans KR" pitchFamily="34" charset="-120"/>
              </a:rPr>
              <a:t>근거</a:t>
            </a:r>
            <a:endParaRPr lang="en-US" sz="1950" dirty="0"/>
          </a:p>
        </p:txBody>
      </p:sp>
      <p:sp>
        <p:nvSpPr>
          <p:cNvPr id="38" name="Text 36"/>
          <p:cNvSpPr/>
          <p:nvPr/>
        </p:nvSpPr>
        <p:spPr>
          <a:xfrm>
            <a:off x="13576250" y="2551658"/>
            <a:ext cx="495300" cy="5658892"/>
          </a:xfrm>
          <a:prstGeom prst="rect">
            <a:avLst/>
          </a:prstGeom>
          <a:noFill/>
          <a:ln/>
        </p:spPr>
        <p:txBody>
          <a:bodyPr wrap="square" lIns="25400" tIns="25400" rIns="25400" bIns="25400" rtlCol="0" anchor="ctr">
            <a:normAutofit/>
          </a:bodyPr>
          <a:lstStyle/>
          <a:p>
            <a:pPr marL="0" indent="0" algn="l">
              <a:buNone/>
            </a:pPr>
            <a:r>
              <a:rPr lang="en-US" sz="3300" b="1" dirty="0">
                <a:solidFill>
                  <a:srgbClr val="6A5AED"/>
                </a:solidFill>
                <a:latin typeface="Noto Sans KR" pitchFamily="34" charset="0"/>
                <a:ea typeface="Noto Sans KR" pitchFamily="34" charset="-122"/>
                <a:cs typeface="Noto Sans KR" pitchFamily="34" charset="-120"/>
              </a:rPr>
              <a:t>→</a:t>
            </a:r>
            <a:endParaRPr lang="en-US" sz="3300" dirty="0"/>
          </a:p>
        </p:txBody>
      </p:sp>
      <p:sp>
        <p:nvSpPr>
          <p:cNvPr id="39" name="Shape 37"/>
          <p:cNvSpPr/>
          <p:nvPr/>
        </p:nvSpPr>
        <p:spPr>
          <a:xfrm>
            <a:off x="14185850" y="2551658"/>
            <a:ext cx="3187750" cy="5620792"/>
          </a:xfrm>
          <a:prstGeom prst="roundRect">
            <a:avLst>
              <a:gd name="adj" fmla="val 6574"/>
            </a:avLst>
          </a:prstGeom>
          <a:solidFill>
            <a:srgbClr val="FFFFFF"/>
          </a:solidFill>
          <a:ln/>
        </p:spPr>
        <p:txBody>
          <a:bodyPr/>
          <a:lstStyle/>
          <a:p>
            <a:endParaRPr lang="ko-KR" altLang="en-US"/>
          </a:p>
        </p:txBody>
      </p:sp>
      <p:sp>
        <p:nvSpPr>
          <p:cNvPr id="40" name="Text 38"/>
          <p:cNvSpPr/>
          <p:nvPr/>
        </p:nvSpPr>
        <p:spPr>
          <a:xfrm>
            <a:off x="14395400" y="3935611"/>
            <a:ext cx="3045515"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STEP 4</a:t>
            </a:r>
            <a:endParaRPr lang="en-US" sz="1800" dirty="0"/>
          </a:p>
        </p:txBody>
      </p:sp>
      <p:sp>
        <p:nvSpPr>
          <p:cNvPr id="41" name="Text 39"/>
          <p:cNvSpPr/>
          <p:nvPr/>
        </p:nvSpPr>
        <p:spPr>
          <a:xfrm>
            <a:off x="14395400" y="4373761"/>
            <a:ext cx="3045515" cy="442913"/>
          </a:xfrm>
          <a:prstGeom prst="rect">
            <a:avLst/>
          </a:prstGeom>
          <a:noFill/>
          <a:ln/>
        </p:spPr>
        <p:txBody>
          <a:bodyPr wrap="square" lIns="25400" tIns="25400" rIns="25400" bIns="25400" rtlCol="0" anchor="t">
            <a:normAutofit/>
          </a:bodyPr>
          <a:lstStyle/>
          <a:p>
            <a:pPr marL="0" indent="0" algn="l">
              <a:lnSpc>
                <a:spcPct val="86735"/>
              </a:lnSpc>
              <a:buNone/>
            </a:pPr>
            <a:r>
              <a:rPr lang="en-US" sz="2550" b="1" dirty="0">
                <a:solidFill>
                  <a:srgbClr val="1F2937"/>
                </a:solidFill>
                <a:latin typeface="Noto Sans KR" pitchFamily="34" charset="0"/>
                <a:ea typeface="Noto Sans KR" pitchFamily="34" charset="-122"/>
                <a:cs typeface="Noto Sans KR" pitchFamily="34" charset="-120"/>
              </a:rPr>
              <a:t>검증 3종</a:t>
            </a:r>
            <a:endParaRPr lang="en-US" sz="2550" dirty="0"/>
          </a:p>
        </p:txBody>
      </p:sp>
      <p:sp>
        <p:nvSpPr>
          <p:cNvPr id="42" name="Shape 40"/>
          <p:cNvSpPr/>
          <p:nvPr/>
        </p:nvSpPr>
        <p:spPr>
          <a:xfrm>
            <a:off x="14395400" y="4911923"/>
            <a:ext cx="2768650" cy="561975"/>
          </a:xfrm>
          <a:prstGeom prst="roundRect">
            <a:avLst>
              <a:gd name="adj" fmla="val 23729"/>
            </a:avLst>
          </a:prstGeom>
          <a:solidFill>
            <a:srgbClr val="F5F6FA"/>
          </a:solidFill>
          <a:ln/>
        </p:spPr>
        <p:txBody>
          <a:bodyPr/>
          <a:lstStyle/>
          <a:p>
            <a:endParaRPr lang="ko-KR" altLang="en-US"/>
          </a:p>
        </p:txBody>
      </p:sp>
      <p:sp>
        <p:nvSpPr>
          <p:cNvPr id="43" name="Text 41"/>
          <p:cNvSpPr/>
          <p:nvPr/>
        </p:nvSpPr>
        <p:spPr>
          <a:xfrm>
            <a:off x="14547800" y="5016698"/>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보안 1</a:t>
            </a:r>
            <a:endParaRPr lang="en-US" sz="1950" dirty="0"/>
          </a:p>
        </p:txBody>
      </p:sp>
      <p:sp>
        <p:nvSpPr>
          <p:cNvPr id="44" name="Shape 42"/>
          <p:cNvSpPr/>
          <p:nvPr/>
        </p:nvSpPr>
        <p:spPr>
          <a:xfrm>
            <a:off x="14395400" y="5569148"/>
            <a:ext cx="2768650" cy="561975"/>
          </a:xfrm>
          <a:prstGeom prst="roundRect">
            <a:avLst>
              <a:gd name="adj" fmla="val 23729"/>
            </a:avLst>
          </a:prstGeom>
          <a:solidFill>
            <a:srgbClr val="F5F6FA"/>
          </a:solidFill>
          <a:ln/>
        </p:spPr>
        <p:txBody>
          <a:bodyPr/>
          <a:lstStyle/>
          <a:p>
            <a:endParaRPr lang="ko-KR" altLang="en-US"/>
          </a:p>
        </p:txBody>
      </p:sp>
      <p:sp>
        <p:nvSpPr>
          <p:cNvPr id="45" name="Text 43"/>
          <p:cNvSpPr/>
          <p:nvPr/>
        </p:nvSpPr>
        <p:spPr>
          <a:xfrm>
            <a:off x="14547800" y="5673923"/>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보안 2</a:t>
            </a:r>
            <a:endParaRPr lang="en-US" sz="1950" dirty="0"/>
          </a:p>
        </p:txBody>
      </p:sp>
      <p:sp>
        <p:nvSpPr>
          <p:cNvPr id="46" name="Shape 44"/>
          <p:cNvSpPr/>
          <p:nvPr/>
        </p:nvSpPr>
        <p:spPr>
          <a:xfrm>
            <a:off x="14395400" y="6226373"/>
            <a:ext cx="2768650" cy="561975"/>
          </a:xfrm>
          <a:prstGeom prst="roundRect">
            <a:avLst>
              <a:gd name="adj" fmla="val 23729"/>
            </a:avLst>
          </a:prstGeom>
          <a:solidFill>
            <a:srgbClr val="F5F6FA"/>
          </a:solidFill>
          <a:ln/>
        </p:spPr>
        <p:txBody>
          <a:bodyPr/>
          <a:lstStyle/>
          <a:p>
            <a:endParaRPr lang="ko-KR" altLang="en-US"/>
          </a:p>
        </p:txBody>
      </p:sp>
      <p:sp>
        <p:nvSpPr>
          <p:cNvPr id="47" name="Text 45"/>
          <p:cNvSpPr/>
          <p:nvPr/>
        </p:nvSpPr>
        <p:spPr>
          <a:xfrm>
            <a:off x="14547800" y="6331148"/>
            <a:ext cx="254690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4B5563"/>
                </a:solidFill>
                <a:latin typeface="Noto Sans KR" pitchFamily="34" charset="0"/>
                <a:ea typeface="Noto Sans KR" pitchFamily="34" charset="-122"/>
                <a:cs typeface="Noto Sans KR" pitchFamily="34" charset="-120"/>
              </a:rPr>
              <a:t>답변 검증</a:t>
            </a:r>
            <a:endParaRPr lang="en-US" sz="1950" dirty="0"/>
          </a:p>
        </p:txBody>
      </p:sp>
      <p:sp>
        <p:nvSpPr>
          <p:cNvPr id="48" name="Shape 46"/>
          <p:cNvSpPr/>
          <p:nvPr/>
        </p:nvSpPr>
        <p:spPr>
          <a:xfrm>
            <a:off x="914400" y="8629650"/>
            <a:ext cx="5359301" cy="895350"/>
          </a:xfrm>
          <a:prstGeom prst="roundRect">
            <a:avLst>
              <a:gd name="adj" fmla="val 21277"/>
            </a:avLst>
          </a:prstGeom>
          <a:solidFill>
            <a:srgbClr val="FFFFFF"/>
          </a:solidFill>
          <a:ln/>
        </p:spPr>
        <p:txBody>
          <a:bodyPr/>
          <a:lstStyle/>
          <a:p>
            <a:endParaRPr lang="ko-KR" altLang="en-US"/>
          </a:p>
        </p:txBody>
      </p:sp>
      <p:sp>
        <p:nvSpPr>
          <p:cNvPr id="49" name="Text 47"/>
          <p:cNvSpPr/>
          <p:nvPr/>
        </p:nvSpPr>
        <p:spPr>
          <a:xfrm>
            <a:off x="1200150" y="8877300"/>
            <a:ext cx="4948580"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1F2937"/>
                </a:solidFill>
                <a:latin typeface="Noto Sans KR" pitchFamily="34" charset="0"/>
                <a:ea typeface="Noto Sans KR" pitchFamily="34" charset="-122"/>
                <a:cs typeface="Noto Sans KR" pitchFamily="34" charset="-120"/>
              </a:rPr>
              <a:t>추천 질문 평가 5축</a:t>
            </a:r>
            <a:endParaRPr lang="en-US" sz="2175" dirty="0"/>
          </a:p>
        </p:txBody>
      </p:sp>
      <p:sp>
        <p:nvSpPr>
          <p:cNvPr id="50" name="Shape 48"/>
          <p:cNvSpPr/>
          <p:nvPr/>
        </p:nvSpPr>
        <p:spPr>
          <a:xfrm>
            <a:off x="6464201" y="8629650"/>
            <a:ext cx="5359450" cy="895350"/>
          </a:xfrm>
          <a:prstGeom prst="roundRect">
            <a:avLst>
              <a:gd name="adj" fmla="val 21277"/>
            </a:avLst>
          </a:prstGeom>
          <a:solidFill>
            <a:srgbClr val="FFFFFF"/>
          </a:solidFill>
          <a:ln/>
        </p:spPr>
        <p:txBody>
          <a:bodyPr/>
          <a:lstStyle/>
          <a:p>
            <a:endParaRPr lang="ko-KR" altLang="en-US"/>
          </a:p>
        </p:txBody>
      </p:sp>
      <p:sp>
        <p:nvSpPr>
          <p:cNvPr id="51" name="Text 49"/>
          <p:cNvSpPr/>
          <p:nvPr/>
        </p:nvSpPr>
        <p:spPr>
          <a:xfrm>
            <a:off x="6749951" y="8877300"/>
            <a:ext cx="4948733"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1F2937"/>
                </a:solidFill>
                <a:latin typeface="Noto Sans KR" pitchFamily="34" charset="0"/>
                <a:ea typeface="Noto Sans KR" pitchFamily="34" charset="-122"/>
                <a:cs typeface="Noto Sans KR" pitchFamily="34" charset="-120"/>
              </a:rPr>
              <a:t>상권·트렌드 캐시 TTL 7일</a:t>
            </a:r>
            <a:endParaRPr lang="en-US" sz="2175" dirty="0"/>
          </a:p>
        </p:txBody>
      </p:sp>
      <p:sp>
        <p:nvSpPr>
          <p:cNvPr id="52" name="Shape 50"/>
          <p:cNvSpPr/>
          <p:nvPr/>
        </p:nvSpPr>
        <p:spPr>
          <a:xfrm>
            <a:off x="12014150" y="8629650"/>
            <a:ext cx="5359450" cy="895350"/>
          </a:xfrm>
          <a:prstGeom prst="roundRect">
            <a:avLst>
              <a:gd name="adj" fmla="val 21277"/>
            </a:avLst>
          </a:prstGeom>
          <a:solidFill>
            <a:srgbClr val="FFF4DC"/>
          </a:solidFill>
          <a:ln/>
        </p:spPr>
        <p:txBody>
          <a:bodyPr/>
          <a:lstStyle/>
          <a:p>
            <a:endParaRPr lang="ko-KR" altLang="en-US"/>
          </a:p>
        </p:txBody>
      </p:sp>
      <p:sp>
        <p:nvSpPr>
          <p:cNvPr id="53" name="Text 51"/>
          <p:cNvSpPr/>
          <p:nvPr/>
        </p:nvSpPr>
        <p:spPr>
          <a:xfrm>
            <a:off x="12299900" y="8877300"/>
            <a:ext cx="4948733" cy="438150"/>
          </a:xfrm>
          <a:prstGeom prst="rect">
            <a:avLst/>
          </a:prstGeom>
          <a:noFill/>
          <a:ln/>
        </p:spPr>
        <p:txBody>
          <a:bodyPr wrap="square" lIns="25400" tIns="25400" rIns="25400" bIns="25400" rtlCol="0" anchor="t">
            <a:normAutofit/>
          </a:bodyPr>
          <a:lstStyle/>
          <a:p>
            <a:pPr marL="0" indent="0" algn="l">
              <a:buNone/>
            </a:pPr>
            <a:r>
              <a:rPr lang="en-US" sz="2175" b="1" dirty="0">
                <a:solidFill>
                  <a:srgbClr val="7A5A00"/>
                </a:solidFill>
                <a:latin typeface="Noto Sans KR" pitchFamily="34" charset="0"/>
                <a:ea typeface="Noto Sans KR" pitchFamily="34" charset="-122"/>
                <a:cs typeface="Noto Sans KR" pitchFamily="34" charset="-120"/>
              </a:rPr>
              <a:t>콜드 캐시 응답 −42.8%</a:t>
            </a:r>
            <a:endParaRPr lang="en-US" sz="21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76300"/>
            <a:ext cx="6949038"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컨설턴트 챗봇</a:t>
            </a:r>
            <a:endParaRPr lang="en-US" sz="1875" dirty="0"/>
          </a:p>
        </p:txBody>
      </p:sp>
      <p:sp>
        <p:nvSpPr>
          <p:cNvPr id="3" name="Text 1"/>
          <p:cNvSpPr/>
          <p:nvPr/>
        </p:nvSpPr>
        <p:spPr>
          <a:xfrm>
            <a:off x="914400" y="1371600"/>
            <a:ext cx="6949038"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분석이 - 측정 결과와 품질</a:t>
            </a:r>
            <a:endParaRPr lang="en-US" sz="4950" dirty="0"/>
          </a:p>
        </p:txBody>
      </p:sp>
      <p:sp>
        <p:nvSpPr>
          <p:cNvPr id="4" name="Text 2"/>
          <p:cNvSpPr/>
          <p:nvPr/>
        </p:nvSpPr>
        <p:spPr>
          <a:xfrm>
            <a:off x="14432521" y="1332458"/>
            <a:ext cx="2941079" cy="800100"/>
          </a:xfrm>
          <a:prstGeom prst="rect">
            <a:avLst/>
          </a:prstGeom>
          <a:noFill/>
          <a:ln/>
        </p:spPr>
        <p:txBody>
          <a:bodyPr wrap="none" lIns="25400" tIns="25400" rIns="25400" bIns="25400" rtlCol="0" anchor="t">
            <a:normAutofit/>
          </a:bodyPr>
          <a:lstStyle/>
          <a:p>
            <a:pPr marL="0" indent="0" algn="r">
              <a:lnSpc>
                <a:spcPct val="111111"/>
              </a:lnSpc>
              <a:buNone/>
            </a:pPr>
            <a:r>
              <a:rPr lang="en-US" sz="1875" dirty="0">
                <a:solidFill>
                  <a:srgbClr val="6B7280"/>
                </a:solidFill>
                <a:latin typeface="Noto Sans KR" pitchFamily="34" charset="0"/>
                <a:ea typeface="Noto Sans KR" pitchFamily="34" charset="-122"/>
                <a:cs typeface="Noto Sans KR" pitchFamily="34" charset="-120"/>
              </a:rPr>
              <a:t>평가 문항 60개 · 사계절 균형 v1.3-seasonality-4season</a:t>
            </a:r>
            <a:endParaRPr lang="en-US" sz="1875" dirty="0"/>
          </a:p>
        </p:txBody>
      </p:sp>
      <p:sp>
        <p:nvSpPr>
          <p:cNvPr id="5" name="Shape 3"/>
          <p:cNvSpPr/>
          <p:nvPr/>
        </p:nvSpPr>
        <p:spPr>
          <a:xfrm>
            <a:off x="914400" y="2437358"/>
            <a:ext cx="5346650" cy="2657475"/>
          </a:xfrm>
          <a:prstGeom prst="roundRect">
            <a:avLst>
              <a:gd name="adj" fmla="val 9319"/>
            </a:avLst>
          </a:prstGeom>
          <a:solidFill>
            <a:srgbClr val="FFFFFF"/>
          </a:solidFill>
          <a:ln/>
        </p:spPr>
        <p:txBody>
          <a:bodyPr/>
          <a:lstStyle/>
          <a:p>
            <a:endParaRPr lang="ko-KR" altLang="en-US"/>
          </a:p>
        </p:txBody>
      </p:sp>
      <p:sp>
        <p:nvSpPr>
          <p:cNvPr id="6" name="Text 4"/>
          <p:cNvSpPr/>
          <p:nvPr/>
        </p:nvSpPr>
        <p:spPr>
          <a:xfrm>
            <a:off x="1238250" y="2799308"/>
            <a:ext cx="5168845" cy="495300"/>
          </a:xfrm>
          <a:prstGeom prst="rect">
            <a:avLst/>
          </a:prstGeom>
          <a:noFill/>
          <a:ln/>
        </p:spPr>
        <p:txBody>
          <a:bodyPr wrap="square" lIns="25400" tIns="25400" rIns="25400" bIns="25400" rtlCol="0" anchor="t">
            <a:normAutofit/>
          </a:bodyPr>
          <a:lstStyle/>
          <a:p>
            <a:pPr marL="0" indent="0" algn="l">
              <a:buNone/>
            </a:pPr>
            <a:r>
              <a:rPr lang="en-US" sz="2475" b="1" dirty="0">
                <a:solidFill>
                  <a:srgbClr val="4B5563"/>
                </a:solidFill>
                <a:latin typeface="Noto Sans KR" pitchFamily="34" charset="0"/>
                <a:ea typeface="Noto Sans KR" pitchFamily="34" charset="-122"/>
                <a:cs typeface="Noto Sans KR" pitchFamily="34" charset="-120"/>
              </a:rPr>
              <a:t>응답 실패</a:t>
            </a:r>
            <a:endParaRPr lang="en-US" sz="2475" dirty="0"/>
          </a:p>
        </p:txBody>
      </p:sp>
      <p:sp>
        <p:nvSpPr>
          <p:cNvPr id="7" name="Text 5"/>
          <p:cNvSpPr/>
          <p:nvPr/>
        </p:nvSpPr>
        <p:spPr>
          <a:xfrm>
            <a:off x="1238250" y="3599408"/>
            <a:ext cx="5168845" cy="666750"/>
          </a:xfrm>
          <a:prstGeom prst="rect">
            <a:avLst/>
          </a:prstGeom>
          <a:noFill/>
          <a:ln/>
        </p:spPr>
        <p:txBody>
          <a:bodyPr wrap="square" lIns="25400" tIns="25400" rIns="25400" bIns="25400" rtlCol="0" anchor="t">
            <a:normAutofit fontScale="92500" lnSpcReduction="10000"/>
          </a:bodyPr>
          <a:lstStyle/>
          <a:p>
            <a:pPr marL="0" indent="0" algn="l">
              <a:lnSpc>
                <a:spcPct val="69291"/>
              </a:lnSpc>
              <a:buNone/>
            </a:pPr>
            <a:r>
              <a:rPr lang="en-US" sz="6600" b="1" kern="0" spc="-264" dirty="0">
                <a:solidFill>
                  <a:srgbClr val="6A5AED"/>
                </a:solidFill>
                <a:latin typeface="Noto Sans KR" pitchFamily="34" charset="0"/>
                <a:ea typeface="Noto Sans KR" pitchFamily="34" charset="-122"/>
                <a:cs typeface="Noto Sans KR" pitchFamily="34" charset="-120"/>
              </a:rPr>
              <a:t>0건</a:t>
            </a:r>
            <a:endParaRPr lang="en-US" sz="6600" dirty="0"/>
          </a:p>
        </p:txBody>
      </p:sp>
      <p:sp>
        <p:nvSpPr>
          <p:cNvPr id="8" name="Text 6"/>
          <p:cNvSpPr/>
          <p:nvPr/>
        </p:nvSpPr>
        <p:spPr>
          <a:xfrm>
            <a:off x="1238250" y="4361408"/>
            <a:ext cx="5168845" cy="409575"/>
          </a:xfrm>
          <a:prstGeom prst="rect">
            <a:avLst/>
          </a:prstGeom>
          <a:noFill/>
          <a:ln/>
        </p:spPr>
        <p:txBody>
          <a:bodyPr wrap="square" lIns="25400" tIns="25400" rIns="25400" bIns="25400" rtlCol="0" anchor="t">
            <a:normAutofit/>
          </a:bodyPr>
          <a:lstStyle/>
          <a:p>
            <a:pPr marL="0" indent="0" algn="l">
              <a:buNone/>
            </a:pPr>
            <a:r>
              <a:rPr lang="en-US" sz="2025" dirty="0">
                <a:solidFill>
                  <a:srgbClr val="6B7280"/>
                </a:solidFill>
                <a:latin typeface="Noto Sans KR" pitchFamily="34" charset="0"/>
                <a:ea typeface="Noto Sans KR" pitchFamily="34" charset="-122"/>
                <a:cs typeface="Noto Sans KR" pitchFamily="34" charset="-120"/>
              </a:rPr>
              <a:t>60문항 전부 정상 응답</a:t>
            </a:r>
            <a:endParaRPr lang="en-US" sz="2025" dirty="0"/>
          </a:p>
        </p:txBody>
      </p:sp>
      <p:sp>
        <p:nvSpPr>
          <p:cNvPr id="9" name="Shape 7"/>
          <p:cNvSpPr/>
          <p:nvPr/>
        </p:nvSpPr>
        <p:spPr>
          <a:xfrm>
            <a:off x="6470600" y="2437358"/>
            <a:ext cx="5346799" cy="2657475"/>
          </a:xfrm>
          <a:prstGeom prst="roundRect">
            <a:avLst>
              <a:gd name="adj" fmla="val 9319"/>
            </a:avLst>
          </a:prstGeom>
          <a:solidFill>
            <a:srgbClr val="FFFFFF"/>
          </a:solidFill>
          <a:ln/>
        </p:spPr>
        <p:txBody>
          <a:bodyPr/>
          <a:lstStyle/>
          <a:p>
            <a:endParaRPr lang="ko-KR" altLang="en-US"/>
          </a:p>
        </p:txBody>
      </p:sp>
      <p:sp>
        <p:nvSpPr>
          <p:cNvPr id="10" name="Text 8"/>
          <p:cNvSpPr/>
          <p:nvPr/>
        </p:nvSpPr>
        <p:spPr>
          <a:xfrm>
            <a:off x="6794450" y="2799308"/>
            <a:ext cx="5169009" cy="495300"/>
          </a:xfrm>
          <a:prstGeom prst="rect">
            <a:avLst/>
          </a:prstGeom>
          <a:noFill/>
          <a:ln/>
        </p:spPr>
        <p:txBody>
          <a:bodyPr wrap="square" lIns="25400" tIns="25400" rIns="25400" bIns="25400" rtlCol="0" anchor="t">
            <a:normAutofit/>
          </a:bodyPr>
          <a:lstStyle/>
          <a:p>
            <a:pPr marL="0" indent="0" algn="l">
              <a:buNone/>
            </a:pPr>
            <a:r>
              <a:rPr lang="en-US" sz="2475" b="1" dirty="0">
                <a:solidFill>
                  <a:srgbClr val="4B5563"/>
                </a:solidFill>
                <a:latin typeface="Noto Sans KR" pitchFamily="34" charset="0"/>
                <a:ea typeface="Noto Sans KR" pitchFamily="34" charset="-122"/>
                <a:cs typeface="Noto Sans KR" pitchFamily="34" charset="-120"/>
              </a:rPr>
              <a:t>필수 항목 충족</a:t>
            </a:r>
            <a:endParaRPr lang="en-US" sz="2475" dirty="0"/>
          </a:p>
        </p:txBody>
      </p:sp>
      <p:sp>
        <p:nvSpPr>
          <p:cNvPr id="11" name="Text 9"/>
          <p:cNvSpPr/>
          <p:nvPr/>
        </p:nvSpPr>
        <p:spPr>
          <a:xfrm>
            <a:off x="6794450" y="3599408"/>
            <a:ext cx="5169009" cy="666750"/>
          </a:xfrm>
          <a:prstGeom prst="rect">
            <a:avLst/>
          </a:prstGeom>
          <a:noFill/>
          <a:ln/>
        </p:spPr>
        <p:txBody>
          <a:bodyPr wrap="square" lIns="25400" tIns="25400" rIns="25400" bIns="25400" rtlCol="0" anchor="t">
            <a:normAutofit fontScale="92500" lnSpcReduction="10000"/>
          </a:bodyPr>
          <a:lstStyle/>
          <a:p>
            <a:pPr marL="0" indent="0" algn="l">
              <a:lnSpc>
                <a:spcPct val="69291"/>
              </a:lnSpc>
              <a:buNone/>
            </a:pPr>
            <a:r>
              <a:rPr lang="en-US" sz="6600" b="1" kern="0" spc="-264" dirty="0">
                <a:solidFill>
                  <a:srgbClr val="10B981"/>
                </a:solidFill>
                <a:latin typeface="Noto Sans KR" pitchFamily="34" charset="0"/>
                <a:ea typeface="Noto Sans KR" pitchFamily="34" charset="-122"/>
                <a:cs typeface="Noto Sans KR" pitchFamily="34" charset="-120"/>
              </a:rPr>
              <a:t>100%</a:t>
            </a:r>
            <a:endParaRPr lang="en-US" sz="6600" dirty="0"/>
          </a:p>
        </p:txBody>
      </p:sp>
      <p:sp>
        <p:nvSpPr>
          <p:cNvPr id="12" name="Text 10"/>
          <p:cNvSpPr/>
          <p:nvPr/>
        </p:nvSpPr>
        <p:spPr>
          <a:xfrm>
            <a:off x="6794450" y="4361408"/>
            <a:ext cx="5169009" cy="409575"/>
          </a:xfrm>
          <a:prstGeom prst="rect">
            <a:avLst/>
          </a:prstGeom>
          <a:noFill/>
          <a:ln/>
        </p:spPr>
        <p:txBody>
          <a:bodyPr wrap="square" lIns="25400" tIns="25400" rIns="25400" bIns="25400" rtlCol="0" anchor="t">
            <a:normAutofit/>
          </a:bodyPr>
          <a:lstStyle/>
          <a:p>
            <a:pPr marL="0" indent="0" algn="l">
              <a:buNone/>
            </a:pPr>
            <a:r>
              <a:rPr lang="en-US" sz="2025" dirty="0">
                <a:solidFill>
                  <a:srgbClr val="6B7280"/>
                </a:solidFill>
                <a:latin typeface="Noto Sans KR" pitchFamily="34" charset="0"/>
                <a:ea typeface="Noto Sans KR" pitchFamily="34" charset="-122"/>
                <a:cs typeface="Noto Sans KR" pitchFamily="34" charset="-120"/>
              </a:rPr>
              <a:t>전략 · 근거 · 출처 · 추천질문</a:t>
            </a:r>
            <a:endParaRPr lang="en-US" sz="2025" dirty="0"/>
          </a:p>
        </p:txBody>
      </p:sp>
      <p:sp>
        <p:nvSpPr>
          <p:cNvPr id="13" name="Shape 11"/>
          <p:cNvSpPr/>
          <p:nvPr/>
        </p:nvSpPr>
        <p:spPr>
          <a:xfrm>
            <a:off x="12026950" y="2437358"/>
            <a:ext cx="5346650" cy="2657475"/>
          </a:xfrm>
          <a:prstGeom prst="roundRect">
            <a:avLst>
              <a:gd name="adj" fmla="val 9319"/>
            </a:avLst>
          </a:prstGeom>
          <a:solidFill>
            <a:srgbClr val="FFFFFF"/>
          </a:solidFill>
          <a:ln/>
        </p:spPr>
        <p:txBody>
          <a:bodyPr/>
          <a:lstStyle/>
          <a:p>
            <a:endParaRPr lang="ko-KR" altLang="en-US"/>
          </a:p>
        </p:txBody>
      </p:sp>
      <p:sp>
        <p:nvSpPr>
          <p:cNvPr id="14" name="Text 12"/>
          <p:cNvSpPr/>
          <p:nvPr/>
        </p:nvSpPr>
        <p:spPr>
          <a:xfrm>
            <a:off x="12350800" y="2799308"/>
            <a:ext cx="5168845" cy="495300"/>
          </a:xfrm>
          <a:prstGeom prst="rect">
            <a:avLst/>
          </a:prstGeom>
          <a:noFill/>
          <a:ln/>
        </p:spPr>
        <p:txBody>
          <a:bodyPr wrap="square" lIns="25400" tIns="25400" rIns="25400" bIns="25400" rtlCol="0" anchor="t">
            <a:normAutofit/>
          </a:bodyPr>
          <a:lstStyle/>
          <a:p>
            <a:pPr marL="0" indent="0" algn="l">
              <a:buNone/>
            </a:pPr>
            <a:r>
              <a:rPr lang="en-US" sz="2475" b="1" dirty="0">
                <a:solidFill>
                  <a:srgbClr val="4B5563"/>
                </a:solidFill>
                <a:latin typeface="Noto Sans KR" pitchFamily="34" charset="0"/>
                <a:ea typeface="Noto Sans KR" pitchFamily="34" charset="-122"/>
                <a:cs typeface="Noto Sans KR" pitchFamily="34" charset="-120"/>
              </a:rPr>
              <a:t>근거 외 수치</a:t>
            </a:r>
            <a:endParaRPr lang="en-US" sz="2475" dirty="0"/>
          </a:p>
        </p:txBody>
      </p:sp>
      <p:sp>
        <p:nvSpPr>
          <p:cNvPr id="15" name="Text 13"/>
          <p:cNvSpPr/>
          <p:nvPr/>
        </p:nvSpPr>
        <p:spPr>
          <a:xfrm>
            <a:off x="12350800" y="3594496"/>
            <a:ext cx="5168845" cy="671661"/>
          </a:xfrm>
          <a:prstGeom prst="rect">
            <a:avLst/>
          </a:prstGeom>
          <a:noFill/>
          <a:ln/>
        </p:spPr>
        <p:txBody>
          <a:bodyPr wrap="square" lIns="25400" tIns="25400" rIns="25400" bIns="25400" rtlCol="0" anchor="t">
            <a:normAutofit fontScale="92500" lnSpcReduction="10000"/>
          </a:bodyPr>
          <a:lstStyle/>
          <a:p>
            <a:pPr marL="0" indent="0" algn="l">
              <a:lnSpc>
                <a:spcPct val="69291"/>
              </a:lnSpc>
              <a:buNone/>
            </a:pPr>
            <a:r>
              <a:rPr lang="en-US" sz="6600" b="1" kern="0" spc="-264" dirty="0">
                <a:solidFill>
                  <a:srgbClr val="10B981"/>
                </a:solidFill>
                <a:latin typeface="Noto Sans KR" pitchFamily="34" charset="0"/>
                <a:ea typeface="Noto Sans KR" pitchFamily="34" charset="-122"/>
                <a:cs typeface="Noto Sans KR" pitchFamily="34" charset="-120"/>
              </a:rPr>
              <a:t>0건</a:t>
            </a:r>
            <a:endParaRPr lang="en-US" sz="6600" dirty="0"/>
          </a:p>
        </p:txBody>
      </p:sp>
      <p:sp>
        <p:nvSpPr>
          <p:cNvPr id="16" name="Text 14"/>
          <p:cNvSpPr/>
          <p:nvPr/>
        </p:nvSpPr>
        <p:spPr>
          <a:xfrm>
            <a:off x="12350800" y="4361408"/>
            <a:ext cx="5168845" cy="409575"/>
          </a:xfrm>
          <a:prstGeom prst="rect">
            <a:avLst/>
          </a:prstGeom>
          <a:noFill/>
          <a:ln/>
        </p:spPr>
        <p:txBody>
          <a:bodyPr wrap="square" lIns="25400" tIns="25400" rIns="25400" bIns="25400" rtlCol="0" anchor="t">
            <a:normAutofit/>
          </a:bodyPr>
          <a:lstStyle/>
          <a:p>
            <a:pPr marL="0" indent="0" algn="l">
              <a:buNone/>
            </a:pPr>
            <a:r>
              <a:rPr lang="en-US" sz="2025" dirty="0">
                <a:solidFill>
                  <a:srgbClr val="6B7280"/>
                </a:solidFill>
                <a:latin typeface="Noto Sans KR" pitchFamily="34" charset="0"/>
                <a:ea typeface="Noto Sans KR" pitchFamily="34" charset="-122"/>
                <a:cs typeface="Noto Sans KR" pitchFamily="34" charset="-120"/>
              </a:rPr>
              <a:t>근거 영역의 허용 외 수치 0건</a:t>
            </a:r>
            <a:endParaRPr lang="en-US" sz="2025" dirty="0"/>
          </a:p>
        </p:txBody>
      </p:sp>
      <p:sp>
        <p:nvSpPr>
          <p:cNvPr id="17" name="Shape 15"/>
          <p:cNvSpPr/>
          <p:nvPr/>
        </p:nvSpPr>
        <p:spPr>
          <a:xfrm>
            <a:off x="914400" y="5437733"/>
            <a:ext cx="5195143" cy="4087267"/>
          </a:xfrm>
          <a:prstGeom prst="roundRect">
            <a:avLst>
              <a:gd name="adj" fmla="val 6059"/>
            </a:avLst>
          </a:prstGeom>
          <a:solidFill>
            <a:srgbClr val="FFFFFF"/>
          </a:solidFill>
          <a:ln/>
        </p:spPr>
        <p:txBody>
          <a:bodyPr/>
          <a:lstStyle/>
          <a:p>
            <a:endParaRPr lang="ko-KR" altLang="en-US"/>
          </a:p>
        </p:txBody>
      </p:sp>
      <p:sp>
        <p:nvSpPr>
          <p:cNvPr id="18" name="Text 16"/>
          <p:cNvSpPr/>
          <p:nvPr/>
        </p:nvSpPr>
        <p:spPr>
          <a:xfrm>
            <a:off x="1238250" y="5799683"/>
            <a:ext cx="5002188" cy="495300"/>
          </a:xfrm>
          <a:prstGeom prst="rect">
            <a:avLst/>
          </a:prstGeom>
          <a:noFill/>
          <a:ln/>
        </p:spPr>
        <p:txBody>
          <a:bodyPr wrap="square" lIns="25400" tIns="25400" rIns="25400" bIns="25400" rtlCol="0" anchor="t">
            <a:normAutofit/>
          </a:bodyPr>
          <a:lstStyle/>
          <a:p>
            <a:pPr marL="0" indent="0" algn="l">
              <a:buNone/>
            </a:pPr>
            <a:r>
              <a:rPr lang="en-US" sz="2475" b="1" dirty="0">
                <a:solidFill>
                  <a:srgbClr val="4B5563"/>
                </a:solidFill>
                <a:latin typeface="Noto Sans KR" pitchFamily="34" charset="0"/>
                <a:ea typeface="Noto Sans KR" pitchFamily="34" charset="-122"/>
                <a:cs typeface="Noto Sans KR" pitchFamily="34" charset="-120"/>
              </a:rPr>
              <a:t>응답 시간</a:t>
            </a:r>
            <a:endParaRPr lang="en-US" sz="2475" dirty="0"/>
          </a:p>
        </p:txBody>
      </p:sp>
      <p:sp>
        <p:nvSpPr>
          <p:cNvPr id="19" name="Text 17"/>
          <p:cNvSpPr/>
          <p:nvPr/>
        </p:nvSpPr>
        <p:spPr>
          <a:xfrm>
            <a:off x="1238250" y="6656933"/>
            <a:ext cx="5002188" cy="609599"/>
          </a:xfrm>
          <a:prstGeom prst="rect">
            <a:avLst/>
          </a:prstGeom>
          <a:noFill/>
          <a:ln/>
        </p:spPr>
        <p:txBody>
          <a:bodyPr wrap="square" lIns="25400" tIns="25400" rIns="25400" bIns="25400" rtlCol="0" anchor="t">
            <a:normAutofit fontScale="92500" lnSpcReduction="20000"/>
          </a:bodyPr>
          <a:lstStyle/>
          <a:p>
            <a:pPr marL="0" indent="0" algn="l">
              <a:lnSpc>
                <a:spcPct val="69291"/>
              </a:lnSpc>
              <a:buNone/>
            </a:pPr>
            <a:r>
              <a:rPr lang="en-US" sz="6600" b="1" kern="0" spc="-264" dirty="0">
                <a:solidFill>
                  <a:srgbClr val="6A5AED"/>
                </a:solidFill>
                <a:latin typeface="Noto Sans KR" pitchFamily="34" charset="0"/>
                <a:ea typeface="Noto Sans KR" pitchFamily="34" charset="-122"/>
                <a:cs typeface="Noto Sans KR" pitchFamily="34" charset="-120"/>
              </a:rPr>
              <a:t>−42.8%</a:t>
            </a:r>
            <a:endParaRPr lang="en-US" sz="6600" dirty="0"/>
          </a:p>
        </p:txBody>
      </p:sp>
      <p:sp>
        <p:nvSpPr>
          <p:cNvPr id="20" name="Text 18"/>
          <p:cNvSpPr/>
          <p:nvPr/>
        </p:nvSpPr>
        <p:spPr>
          <a:xfrm>
            <a:off x="1238250" y="7361783"/>
            <a:ext cx="5002188" cy="409575"/>
          </a:xfrm>
          <a:prstGeom prst="rect">
            <a:avLst/>
          </a:prstGeom>
          <a:noFill/>
          <a:ln/>
        </p:spPr>
        <p:txBody>
          <a:bodyPr wrap="square" lIns="25400" tIns="25400" rIns="25400" bIns="25400" rtlCol="0" anchor="t">
            <a:normAutofit/>
          </a:bodyPr>
          <a:lstStyle/>
          <a:p>
            <a:pPr marL="0" indent="0" algn="l">
              <a:buNone/>
            </a:pPr>
            <a:r>
              <a:rPr lang="en-US" sz="2025" dirty="0">
                <a:solidFill>
                  <a:srgbClr val="6B7280"/>
                </a:solidFill>
                <a:latin typeface="Noto Sans KR" pitchFamily="34" charset="0"/>
                <a:ea typeface="Noto Sans KR" pitchFamily="34" charset="-122"/>
                <a:cs typeface="Noto Sans KR" pitchFamily="34" charset="-120"/>
              </a:rPr>
              <a:t>2.87초 → 1.64초 · 조회 병렬화</a:t>
            </a:r>
            <a:endParaRPr lang="en-US" sz="2025" dirty="0"/>
          </a:p>
        </p:txBody>
      </p:sp>
      <p:sp>
        <p:nvSpPr>
          <p:cNvPr id="21" name="Shape 19"/>
          <p:cNvSpPr/>
          <p:nvPr/>
        </p:nvSpPr>
        <p:spPr>
          <a:xfrm>
            <a:off x="6319093" y="5437733"/>
            <a:ext cx="5195143" cy="4087267"/>
          </a:xfrm>
          <a:prstGeom prst="roundRect">
            <a:avLst>
              <a:gd name="adj" fmla="val 6059"/>
            </a:avLst>
          </a:prstGeom>
          <a:solidFill>
            <a:srgbClr val="FFFFFF"/>
          </a:solidFill>
          <a:ln/>
        </p:spPr>
        <p:txBody>
          <a:bodyPr/>
          <a:lstStyle/>
          <a:p>
            <a:endParaRPr lang="ko-KR" altLang="en-US"/>
          </a:p>
        </p:txBody>
      </p:sp>
      <p:sp>
        <p:nvSpPr>
          <p:cNvPr id="22" name="Text 20"/>
          <p:cNvSpPr/>
          <p:nvPr/>
        </p:nvSpPr>
        <p:spPr>
          <a:xfrm>
            <a:off x="6642943" y="5799683"/>
            <a:ext cx="5002188" cy="495300"/>
          </a:xfrm>
          <a:prstGeom prst="rect">
            <a:avLst/>
          </a:prstGeom>
          <a:noFill/>
          <a:ln/>
        </p:spPr>
        <p:txBody>
          <a:bodyPr wrap="square" lIns="25400" tIns="25400" rIns="25400" bIns="25400" rtlCol="0" anchor="t">
            <a:normAutofit/>
          </a:bodyPr>
          <a:lstStyle/>
          <a:p>
            <a:pPr marL="0" indent="0" algn="l">
              <a:buNone/>
            </a:pPr>
            <a:r>
              <a:rPr lang="en-US" sz="2475" b="1" dirty="0">
                <a:solidFill>
                  <a:srgbClr val="4B5563"/>
                </a:solidFill>
                <a:latin typeface="Noto Sans KR" pitchFamily="34" charset="0"/>
                <a:ea typeface="Noto Sans KR" pitchFamily="34" charset="-122"/>
                <a:cs typeface="Noto Sans KR" pitchFamily="34" charset="-120"/>
              </a:rPr>
              <a:t>답변 품질</a:t>
            </a:r>
            <a:endParaRPr lang="en-US" sz="2475" dirty="0"/>
          </a:p>
        </p:txBody>
      </p:sp>
      <p:sp>
        <p:nvSpPr>
          <p:cNvPr id="23" name="Text 21"/>
          <p:cNvSpPr/>
          <p:nvPr/>
        </p:nvSpPr>
        <p:spPr>
          <a:xfrm>
            <a:off x="6642943" y="6637883"/>
            <a:ext cx="5002188" cy="628650"/>
          </a:xfrm>
          <a:prstGeom prst="rect">
            <a:avLst/>
          </a:prstGeom>
          <a:noFill/>
          <a:ln/>
        </p:spPr>
        <p:txBody>
          <a:bodyPr wrap="square" lIns="25400" tIns="25400" rIns="25400" bIns="25400" rtlCol="0" anchor="t">
            <a:normAutofit fontScale="92500" lnSpcReduction="20000"/>
          </a:bodyPr>
          <a:lstStyle/>
          <a:p>
            <a:pPr marL="0" indent="0" algn="l">
              <a:lnSpc>
                <a:spcPct val="69291"/>
              </a:lnSpc>
              <a:buNone/>
            </a:pPr>
            <a:r>
              <a:rPr lang="en-US" sz="6600" b="1" kern="0" spc="-264" dirty="0">
                <a:solidFill>
                  <a:srgbClr val="6A5AED"/>
                </a:solidFill>
                <a:latin typeface="Noto Sans KR" pitchFamily="34" charset="0"/>
                <a:ea typeface="Noto Sans KR" pitchFamily="34" charset="-122"/>
                <a:cs typeface="Noto Sans KR" pitchFamily="34" charset="-120"/>
              </a:rPr>
              <a:t>4.33 / 5</a:t>
            </a:r>
            <a:endParaRPr lang="en-US" sz="6600" dirty="0"/>
          </a:p>
        </p:txBody>
      </p:sp>
      <p:sp>
        <p:nvSpPr>
          <p:cNvPr id="24" name="Text 22"/>
          <p:cNvSpPr/>
          <p:nvPr/>
        </p:nvSpPr>
        <p:spPr>
          <a:xfrm>
            <a:off x="6642943" y="7361783"/>
            <a:ext cx="5002188" cy="409575"/>
          </a:xfrm>
          <a:prstGeom prst="rect">
            <a:avLst/>
          </a:prstGeom>
          <a:noFill/>
          <a:ln/>
        </p:spPr>
        <p:txBody>
          <a:bodyPr wrap="square" lIns="25400" tIns="25400" rIns="25400" bIns="25400" rtlCol="0" anchor="t">
            <a:normAutofit/>
          </a:bodyPr>
          <a:lstStyle/>
          <a:p>
            <a:pPr marL="0" indent="0" algn="l">
              <a:buNone/>
            </a:pPr>
            <a:r>
              <a:rPr lang="en-US" sz="2025" dirty="0">
                <a:solidFill>
                  <a:srgbClr val="6B7280"/>
                </a:solidFill>
                <a:latin typeface="Noto Sans KR" pitchFamily="34" charset="0"/>
                <a:ea typeface="Noto Sans KR" pitchFamily="34" charset="-122"/>
                <a:cs typeface="Noto Sans KR" pitchFamily="34" charset="-120"/>
              </a:rPr>
              <a:t>v3 초기 4.16 → 최종 4.33</a:t>
            </a:r>
            <a:endParaRPr lang="en-US" sz="2025" dirty="0"/>
          </a:p>
        </p:txBody>
      </p:sp>
      <p:sp>
        <p:nvSpPr>
          <p:cNvPr id="25" name="Shape 23"/>
          <p:cNvSpPr/>
          <p:nvPr/>
        </p:nvSpPr>
        <p:spPr>
          <a:xfrm>
            <a:off x="11723787" y="5437733"/>
            <a:ext cx="5649813" cy="4087267"/>
          </a:xfrm>
          <a:prstGeom prst="roundRect">
            <a:avLst>
              <a:gd name="adj" fmla="val 6059"/>
            </a:avLst>
          </a:prstGeom>
          <a:solidFill>
            <a:srgbClr val="1F2937"/>
          </a:solidFill>
          <a:ln/>
        </p:spPr>
        <p:txBody>
          <a:bodyPr/>
          <a:lstStyle/>
          <a:p>
            <a:endParaRPr lang="ko-KR" altLang="en-US"/>
          </a:p>
        </p:txBody>
      </p:sp>
      <p:sp>
        <p:nvSpPr>
          <p:cNvPr id="26" name="Text 24"/>
          <p:cNvSpPr/>
          <p:nvPr/>
        </p:nvSpPr>
        <p:spPr>
          <a:xfrm>
            <a:off x="12047637" y="5799683"/>
            <a:ext cx="5502325" cy="381000"/>
          </a:xfrm>
          <a:prstGeom prst="rect">
            <a:avLst/>
          </a:prstGeom>
          <a:noFill/>
          <a:ln/>
        </p:spPr>
        <p:txBody>
          <a:bodyPr wrap="square" lIns="25400" tIns="25400" rIns="25400" bIns="25400" rtlCol="0" anchor="t">
            <a:normAutofit/>
          </a:bodyPr>
          <a:lstStyle/>
          <a:p>
            <a:pPr marL="0" indent="0" algn="l">
              <a:buNone/>
            </a:pPr>
            <a:r>
              <a:rPr lang="en-US" sz="1875" dirty="0">
                <a:solidFill>
                  <a:srgbClr val="FFB703"/>
                </a:solidFill>
                <a:latin typeface="Noto Sans KR" pitchFamily="34" charset="0"/>
                <a:ea typeface="Noto Sans KR" pitchFamily="34" charset="-122"/>
                <a:cs typeface="Noto Sans KR" pitchFamily="34" charset="-120"/>
              </a:rPr>
              <a:t>되돌린 판단 2건</a:t>
            </a:r>
            <a:endParaRPr lang="en-US" sz="1875" dirty="0"/>
          </a:p>
        </p:txBody>
      </p:sp>
      <p:sp>
        <p:nvSpPr>
          <p:cNvPr id="27" name="Text 25"/>
          <p:cNvSpPr/>
          <p:nvPr/>
        </p:nvSpPr>
        <p:spPr>
          <a:xfrm>
            <a:off x="12047637" y="6275933"/>
            <a:ext cx="5152177" cy="886718"/>
          </a:xfrm>
          <a:prstGeom prst="rect">
            <a:avLst/>
          </a:prstGeom>
          <a:noFill/>
          <a:ln/>
        </p:spPr>
        <p:txBody>
          <a:bodyPr wrap="square" lIns="25400" tIns="25400" rIns="25400" bIns="25400" rtlCol="0" anchor="t">
            <a:normAutofit/>
          </a:bodyPr>
          <a:lstStyle/>
          <a:p>
            <a:pPr marL="0" indent="0" algn="l">
              <a:lnSpc>
                <a:spcPct val="92812"/>
              </a:lnSpc>
              <a:buNone/>
            </a:pPr>
            <a:r>
              <a:rPr lang="en-US" sz="2475" b="1" dirty="0">
                <a:solidFill>
                  <a:srgbClr val="FFFFFF"/>
                </a:solidFill>
                <a:latin typeface="Noto Sans KR" pitchFamily="34" charset="0"/>
                <a:ea typeface="Noto Sans KR" pitchFamily="34" charset="-122"/>
                <a:cs typeface="Noto Sans KR" pitchFamily="34" charset="-120"/>
              </a:rPr>
              <a:t>좋아졌다는 </a:t>
            </a:r>
            <a:r>
              <a:rPr lang="en-US" sz="2475" b="1" dirty="0" err="1">
                <a:solidFill>
                  <a:srgbClr val="FFFFFF"/>
                </a:solidFill>
                <a:latin typeface="Noto Sans KR" pitchFamily="34" charset="0"/>
                <a:ea typeface="Noto Sans KR" pitchFamily="34" charset="-122"/>
                <a:cs typeface="Noto Sans KR" pitchFamily="34" charset="-120"/>
              </a:rPr>
              <a:t>증거가</a:t>
            </a:r>
            <a:r>
              <a:rPr lang="en-US" sz="2475" b="1" dirty="0">
                <a:solidFill>
                  <a:srgbClr val="FFFFFF"/>
                </a:solidFill>
                <a:latin typeface="Noto Sans KR" pitchFamily="34" charset="0"/>
                <a:ea typeface="Noto Sans KR" pitchFamily="34" charset="-122"/>
                <a:cs typeface="Noto Sans KR" pitchFamily="34" charset="-120"/>
              </a:rPr>
              <a:t> </a:t>
            </a:r>
            <a:r>
              <a:rPr lang="en-US" sz="2475" b="1" dirty="0" err="1">
                <a:solidFill>
                  <a:srgbClr val="FFFFFF"/>
                </a:solidFill>
                <a:latin typeface="Noto Sans KR" pitchFamily="34" charset="0"/>
                <a:ea typeface="Noto Sans KR" pitchFamily="34" charset="-122"/>
                <a:cs typeface="Noto Sans KR" pitchFamily="34" charset="-120"/>
              </a:rPr>
              <a:t>없으면</a:t>
            </a:r>
            <a:br>
              <a:rPr lang="en-US" sz="2475" b="1" dirty="0">
                <a:solidFill>
                  <a:srgbClr val="FFFFFF"/>
                </a:solidFill>
                <a:latin typeface="Noto Sans KR" pitchFamily="34" charset="0"/>
                <a:ea typeface="Noto Sans KR" pitchFamily="34" charset="-122"/>
                <a:cs typeface="Noto Sans KR" pitchFamily="34" charset="-120"/>
              </a:rPr>
            </a:br>
            <a:r>
              <a:rPr lang="en-US" sz="2475" b="1" dirty="0" err="1">
                <a:solidFill>
                  <a:srgbClr val="FFFFFF"/>
                </a:solidFill>
                <a:latin typeface="Noto Sans KR" pitchFamily="34" charset="0"/>
                <a:ea typeface="Noto Sans KR" pitchFamily="34" charset="-122"/>
                <a:cs typeface="Noto Sans KR" pitchFamily="34" charset="-120"/>
              </a:rPr>
              <a:t>되돌렸습니다</a:t>
            </a:r>
            <a:endParaRPr lang="en-US" sz="2475" dirty="0"/>
          </a:p>
        </p:txBody>
      </p:sp>
      <p:sp>
        <p:nvSpPr>
          <p:cNvPr id="28" name="Text 26"/>
          <p:cNvSpPr/>
          <p:nvPr/>
        </p:nvSpPr>
        <p:spPr>
          <a:xfrm>
            <a:off x="12047637" y="7257901"/>
            <a:ext cx="5502325" cy="423863"/>
          </a:xfrm>
          <a:prstGeom prst="rect">
            <a:avLst/>
          </a:prstGeom>
          <a:noFill/>
          <a:ln/>
        </p:spPr>
        <p:txBody>
          <a:bodyPr wrap="square" lIns="25400" tIns="25400" rIns="25400" bIns="25400" rtlCol="0" anchor="t">
            <a:normAutofit/>
          </a:bodyPr>
          <a:lstStyle/>
          <a:p>
            <a:pPr marL="0" indent="0" algn="l">
              <a:lnSpc>
                <a:spcPct val="103846"/>
              </a:lnSpc>
              <a:buNone/>
            </a:pPr>
            <a:r>
              <a:rPr lang="en-US" sz="2025" dirty="0">
                <a:solidFill>
                  <a:srgbClr val="B6C0CC"/>
                </a:solidFill>
                <a:latin typeface="Noto Sans KR" pitchFamily="34" charset="0"/>
                <a:ea typeface="Noto Sans KR" pitchFamily="34" charset="-122"/>
                <a:cs typeface="Noto Sans KR" pitchFamily="34" charset="-120"/>
              </a:rPr>
              <a:t>전략 보강 3항목 롤백 · 어미 필터 제거</a:t>
            </a:r>
            <a:endParaRPr lang="en-US" sz="20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723900"/>
            <a:ext cx="8317662"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컨설턴트 챗봇</a:t>
            </a:r>
            <a:endParaRPr lang="en-US" sz="1875" dirty="0"/>
          </a:p>
        </p:txBody>
      </p:sp>
      <p:sp>
        <p:nvSpPr>
          <p:cNvPr id="3" name="Text 1"/>
          <p:cNvSpPr/>
          <p:nvPr/>
        </p:nvSpPr>
        <p:spPr>
          <a:xfrm>
            <a:off x="914400" y="1200150"/>
            <a:ext cx="8317662"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분석이 - 문제를 찾고 고친 과정</a:t>
            </a:r>
            <a:endParaRPr lang="en-US" sz="4950" dirty="0"/>
          </a:p>
        </p:txBody>
      </p:sp>
      <p:sp>
        <p:nvSpPr>
          <p:cNvPr id="4" name="Text 2"/>
          <p:cNvSpPr/>
          <p:nvPr/>
        </p:nvSpPr>
        <p:spPr>
          <a:xfrm>
            <a:off x="14097269" y="1161008"/>
            <a:ext cx="3276331" cy="800100"/>
          </a:xfrm>
          <a:prstGeom prst="rect">
            <a:avLst/>
          </a:prstGeom>
          <a:noFill/>
          <a:ln/>
        </p:spPr>
        <p:txBody>
          <a:bodyPr wrap="none" lIns="25400" tIns="25400" rIns="25400" bIns="25400" rtlCol="0" anchor="t">
            <a:normAutofit/>
          </a:bodyPr>
          <a:lstStyle/>
          <a:p>
            <a:pPr marL="0" indent="0" algn="r">
              <a:lnSpc>
                <a:spcPct val="111111"/>
              </a:lnSpc>
              <a:buNone/>
            </a:pPr>
            <a:r>
              <a:rPr lang="en-US" sz="1875" dirty="0">
                <a:solidFill>
                  <a:srgbClr val="6B7280"/>
                </a:solidFill>
                <a:latin typeface="Noto Sans KR" pitchFamily="34" charset="0"/>
                <a:ea typeface="Noto Sans KR" pitchFamily="34" charset="-122"/>
                <a:cs typeface="Noto Sans KR" pitchFamily="34" charset="-120"/>
              </a:rPr>
              <a:t>v0에서 v3까지 60문항 </a:t>
            </a:r>
            <a:r>
              <a:rPr lang="en-US" sz="1875" dirty="0" err="1">
                <a:solidFill>
                  <a:srgbClr val="6B7280"/>
                </a:solidFill>
                <a:latin typeface="Noto Sans KR" pitchFamily="34" charset="0"/>
                <a:ea typeface="Noto Sans KR" pitchFamily="34" charset="-122"/>
                <a:cs typeface="Noto Sans KR" pitchFamily="34" charset="-120"/>
              </a:rPr>
              <a:t>반복</a:t>
            </a:r>
            <a:r>
              <a:rPr lang="en-US" sz="1875" dirty="0">
                <a:solidFill>
                  <a:srgbClr val="6B7280"/>
                </a:solidFill>
                <a:latin typeface="Noto Sans KR" pitchFamily="34" charset="0"/>
                <a:ea typeface="Noto Sans KR" pitchFamily="34" charset="-122"/>
                <a:cs typeface="Noto Sans KR" pitchFamily="34" charset="-120"/>
              </a:rPr>
              <a:t> </a:t>
            </a:r>
            <a:r>
              <a:rPr lang="en-US" sz="1875" dirty="0" err="1">
                <a:solidFill>
                  <a:srgbClr val="6B7280"/>
                </a:solidFill>
                <a:latin typeface="Noto Sans KR" pitchFamily="34" charset="0"/>
                <a:ea typeface="Noto Sans KR" pitchFamily="34" charset="-122"/>
                <a:cs typeface="Noto Sans KR" pitchFamily="34" charset="-120"/>
              </a:rPr>
              <a:t>측정</a:t>
            </a:r>
            <a:br>
              <a:rPr lang="en-US" sz="1875" dirty="0">
                <a:solidFill>
                  <a:srgbClr val="6B7280"/>
                </a:solidFill>
                <a:latin typeface="Noto Sans KR" pitchFamily="34" charset="0"/>
                <a:ea typeface="Noto Sans KR" pitchFamily="34" charset="-122"/>
                <a:cs typeface="Noto Sans KR" pitchFamily="34" charset="-120"/>
              </a:rPr>
            </a:br>
            <a:r>
              <a:rPr lang="en-US" sz="1875" dirty="0" err="1">
                <a:solidFill>
                  <a:srgbClr val="6B7280"/>
                </a:solidFill>
                <a:latin typeface="Noto Sans KR" pitchFamily="34" charset="0"/>
                <a:ea typeface="Noto Sans KR" pitchFamily="34" charset="-122"/>
                <a:cs typeface="Noto Sans KR" pitchFamily="34" charset="-120"/>
              </a:rPr>
              <a:t>유지한</a:t>
            </a:r>
            <a:r>
              <a:rPr lang="en-US" sz="1875" dirty="0">
                <a:solidFill>
                  <a:srgbClr val="6B7280"/>
                </a:solidFill>
                <a:latin typeface="Noto Sans KR" pitchFamily="34" charset="0"/>
                <a:ea typeface="Noto Sans KR" pitchFamily="34" charset="-122"/>
                <a:cs typeface="Noto Sans KR" pitchFamily="34" charset="-120"/>
              </a:rPr>
              <a:t> 변경과 되돌린 변경</a:t>
            </a:r>
            <a:endParaRPr lang="en-US" sz="1875" dirty="0"/>
          </a:p>
        </p:txBody>
      </p:sp>
      <p:sp>
        <p:nvSpPr>
          <p:cNvPr id="5" name="Shape 3"/>
          <p:cNvSpPr/>
          <p:nvPr/>
        </p:nvSpPr>
        <p:spPr>
          <a:xfrm>
            <a:off x="914400" y="2094458"/>
            <a:ext cx="16459200" cy="2079278"/>
          </a:xfrm>
          <a:prstGeom prst="roundRect">
            <a:avLst>
              <a:gd name="adj" fmla="val 12827"/>
            </a:avLst>
          </a:prstGeom>
          <a:solidFill>
            <a:srgbClr val="FFFFFF"/>
          </a:solidFill>
          <a:ln/>
        </p:spPr>
        <p:txBody>
          <a:bodyPr/>
          <a:lstStyle/>
          <a:p>
            <a:endParaRPr lang="ko-KR" altLang="en-US"/>
          </a:p>
        </p:txBody>
      </p:sp>
      <p:sp>
        <p:nvSpPr>
          <p:cNvPr id="6" name="Shape 4"/>
          <p:cNvSpPr/>
          <p:nvPr/>
        </p:nvSpPr>
        <p:spPr>
          <a:xfrm>
            <a:off x="1238250" y="2403574"/>
            <a:ext cx="2589163" cy="523875"/>
          </a:xfrm>
          <a:prstGeom prst="roundRect">
            <a:avLst>
              <a:gd name="adj" fmla="val 50000"/>
            </a:avLst>
          </a:prstGeom>
          <a:solidFill>
            <a:srgbClr val="FDE8E8"/>
          </a:solidFill>
          <a:ln/>
        </p:spPr>
        <p:txBody>
          <a:bodyPr/>
          <a:lstStyle/>
          <a:p>
            <a:endParaRPr lang="ko-KR" altLang="en-US"/>
          </a:p>
        </p:txBody>
      </p:sp>
      <p:sp>
        <p:nvSpPr>
          <p:cNvPr id="7" name="Text 5"/>
          <p:cNvSpPr/>
          <p:nvPr/>
        </p:nvSpPr>
        <p:spPr>
          <a:xfrm>
            <a:off x="1428750" y="2498824"/>
            <a:ext cx="2285838" cy="371475"/>
          </a:xfrm>
          <a:prstGeom prst="rect">
            <a:avLst/>
          </a:prstGeom>
          <a:noFill/>
          <a:ln/>
        </p:spPr>
        <p:txBody>
          <a:bodyPr wrap="none" lIns="25400" tIns="25400" rIns="25400" bIns="25400" rtlCol="0" anchor="t">
            <a:normAutofit/>
          </a:bodyPr>
          <a:lstStyle/>
          <a:p>
            <a:pPr marL="0" indent="0" algn="l">
              <a:buNone/>
            </a:pPr>
            <a:r>
              <a:rPr lang="en-US" sz="1800" b="1" dirty="0">
                <a:solidFill>
                  <a:srgbClr val="C0342F"/>
                </a:solidFill>
                <a:latin typeface="Noto Sans KR" pitchFamily="34" charset="0"/>
                <a:ea typeface="Noto Sans KR" pitchFamily="34" charset="-122"/>
                <a:cs typeface="Noto Sans KR" pitchFamily="34" charset="-120"/>
              </a:rPr>
              <a:t>응답 신뢰성 · v0 → v3</a:t>
            </a:r>
            <a:endParaRPr lang="en-US" sz="1800" dirty="0"/>
          </a:p>
        </p:txBody>
      </p:sp>
      <p:sp>
        <p:nvSpPr>
          <p:cNvPr id="8" name="Text 6"/>
          <p:cNvSpPr/>
          <p:nvPr/>
        </p:nvSpPr>
        <p:spPr>
          <a:xfrm>
            <a:off x="1238250" y="3041749"/>
            <a:ext cx="3728085" cy="860822"/>
          </a:xfrm>
          <a:prstGeom prst="rect">
            <a:avLst/>
          </a:prstGeom>
          <a:noFill/>
          <a:ln/>
        </p:spPr>
        <p:txBody>
          <a:bodyPr wrap="square" lIns="25400" tIns="25400" rIns="25400" bIns="25400" rtlCol="0" anchor="t">
            <a:normAutofit/>
          </a:bodyPr>
          <a:lstStyle/>
          <a:p>
            <a:pPr marL="0" indent="0" algn="l">
              <a:lnSpc>
                <a:spcPct val="93913"/>
              </a:lnSpc>
              <a:buNone/>
            </a:pPr>
            <a:r>
              <a:rPr lang="en-US" sz="2400" b="1" dirty="0">
                <a:solidFill>
                  <a:srgbClr val="1F2937"/>
                </a:solidFill>
                <a:latin typeface="Noto Sans KR" pitchFamily="34" charset="0"/>
                <a:ea typeface="Noto Sans KR" pitchFamily="34" charset="-122"/>
                <a:cs typeface="Noto Sans KR" pitchFamily="34" charset="-120"/>
              </a:rPr>
              <a:t>평균 점수는 가장 </a:t>
            </a:r>
            <a:r>
              <a:rPr lang="en-US" sz="2400" b="1" dirty="0" err="1">
                <a:solidFill>
                  <a:srgbClr val="1F2937"/>
                </a:solidFill>
                <a:latin typeface="Noto Sans KR" pitchFamily="34" charset="0"/>
                <a:ea typeface="Noto Sans KR" pitchFamily="34" charset="-122"/>
                <a:cs typeface="Noto Sans KR" pitchFamily="34" charset="-120"/>
              </a:rPr>
              <a:t>높은데</a:t>
            </a:r>
            <a:r>
              <a:rPr lang="en-US" sz="2400" b="1" dirty="0">
                <a:solidFill>
                  <a:srgbClr val="1F2937"/>
                </a:solidFill>
                <a:latin typeface="Noto Sans KR" pitchFamily="34" charset="0"/>
                <a:ea typeface="Noto Sans KR" pitchFamily="34" charset="-122"/>
                <a:cs typeface="Noto Sans KR" pitchFamily="34" charset="-120"/>
              </a:rPr>
              <a:t> </a:t>
            </a:r>
            <a:br>
              <a:rPr lang="en-US" sz="2400" b="1" dirty="0">
                <a:solidFill>
                  <a:srgbClr val="1F2937"/>
                </a:solidFill>
                <a:latin typeface="Noto Sans KR" pitchFamily="34" charset="0"/>
                <a:ea typeface="Noto Sans KR" pitchFamily="34" charset="-122"/>
                <a:cs typeface="Noto Sans KR" pitchFamily="34" charset="-120"/>
              </a:rPr>
            </a:br>
            <a:r>
              <a:rPr lang="en-US" sz="2400" b="1" dirty="0">
                <a:solidFill>
                  <a:srgbClr val="1F2937"/>
                </a:solidFill>
                <a:latin typeface="Noto Sans KR" pitchFamily="34" charset="0"/>
                <a:ea typeface="Noto Sans KR" pitchFamily="34" charset="-122"/>
                <a:cs typeface="Noto Sans KR" pitchFamily="34" charset="-120"/>
              </a:rPr>
              <a:t>5문항이 응답 실패</a:t>
            </a:r>
            <a:endParaRPr lang="en-US" sz="2400" dirty="0"/>
          </a:p>
        </p:txBody>
      </p:sp>
      <p:sp>
        <p:nvSpPr>
          <p:cNvPr id="9" name="Shape 7"/>
          <p:cNvSpPr/>
          <p:nvPr/>
        </p:nvSpPr>
        <p:spPr>
          <a:xfrm>
            <a:off x="5105400" y="2342108"/>
            <a:ext cx="19050" cy="1583978"/>
          </a:xfrm>
          <a:prstGeom prst="rect">
            <a:avLst/>
          </a:prstGeom>
          <a:solidFill>
            <a:srgbClr val="EFEFF4"/>
          </a:solidFill>
          <a:ln/>
        </p:spPr>
        <p:txBody>
          <a:bodyPr/>
          <a:lstStyle/>
          <a:p>
            <a:endParaRPr lang="ko-KR" altLang="en-US"/>
          </a:p>
        </p:txBody>
      </p:sp>
      <p:sp>
        <p:nvSpPr>
          <p:cNvPr id="10" name="Text 8"/>
          <p:cNvSpPr/>
          <p:nvPr/>
        </p:nvSpPr>
        <p:spPr>
          <a:xfrm>
            <a:off x="5372100" y="2720280"/>
            <a:ext cx="7816215"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C3FCF"/>
                </a:solidFill>
                <a:latin typeface="Noto Sans KR" pitchFamily="34" charset="0"/>
                <a:ea typeface="Noto Sans KR" pitchFamily="34" charset="-122"/>
                <a:cs typeface="Noto Sans KR" pitchFamily="34" charset="-120"/>
              </a:rPr>
              <a:t>이렇게 고쳤습니다</a:t>
            </a:r>
            <a:endParaRPr lang="en-US" sz="1800" dirty="0"/>
          </a:p>
        </p:txBody>
      </p:sp>
      <p:sp>
        <p:nvSpPr>
          <p:cNvPr id="11" name="Text 9"/>
          <p:cNvSpPr/>
          <p:nvPr/>
        </p:nvSpPr>
        <p:spPr>
          <a:xfrm>
            <a:off x="5372100" y="3110805"/>
            <a:ext cx="7816215" cy="475208"/>
          </a:xfrm>
          <a:prstGeom prst="rect">
            <a:avLst/>
          </a:prstGeom>
          <a:noFill/>
          <a:ln/>
        </p:spPr>
        <p:txBody>
          <a:bodyPr wrap="square" lIns="25400" tIns="25400" rIns="25400" bIns="25400" rtlCol="0" anchor="t">
            <a:normAutofit/>
          </a:bodyPr>
          <a:lstStyle/>
          <a:p>
            <a:pPr marL="0" indent="0" algn="l">
              <a:lnSpc>
                <a:spcPct val="93673"/>
              </a:lnSpc>
              <a:buNone/>
            </a:pPr>
            <a:r>
              <a:rPr lang="en-US" sz="2550" b="1" kern="0" spc="-51" dirty="0">
                <a:solidFill>
                  <a:srgbClr val="1F2937"/>
                </a:solidFill>
                <a:latin typeface="Noto Sans KR" pitchFamily="34" charset="0"/>
                <a:ea typeface="Noto Sans KR" pitchFamily="34" charset="-122"/>
                <a:cs typeface="Noto Sans KR" pitchFamily="34" charset="-120"/>
              </a:rPr>
              <a:t>실패율과 계약 준수를 별도 지표로 분리해 검증</a:t>
            </a:r>
            <a:endParaRPr lang="en-US" sz="255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25400" y="3010198"/>
            <a:ext cx="438150" cy="247650"/>
          </a:xfrm>
          <a:prstGeom prst="rect">
            <a:avLst/>
          </a:prstGeom>
        </p:spPr>
      </p:pic>
      <p:sp>
        <p:nvSpPr>
          <p:cNvPr id="13" name="Shape 10"/>
          <p:cNvSpPr/>
          <p:nvPr/>
        </p:nvSpPr>
        <p:spPr>
          <a:xfrm>
            <a:off x="13411200" y="2564606"/>
            <a:ext cx="3638550" cy="1138982"/>
          </a:xfrm>
          <a:prstGeom prst="roundRect">
            <a:avLst>
              <a:gd name="adj" fmla="val 16725"/>
            </a:avLst>
          </a:prstGeom>
          <a:solidFill>
            <a:srgbClr val="EEECFF"/>
          </a:solidFill>
          <a:ln/>
        </p:spPr>
        <p:txBody>
          <a:bodyPr/>
          <a:lstStyle/>
          <a:p>
            <a:endParaRPr lang="ko-KR" altLang="en-US"/>
          </a:p>
        </p:txBody>
      </p:sp>
      <p:sp>
        <p:nvSpPr>
          <p:cNvPr id="14" name="Text 11"/>
          <p:cNvSpPr/>
          <p:nvPr/>
        </p:nvSpPr>
        <p:spPr>
          <a:xfrm>
            <a:off x="13658850" y="2755106"/>
            <a:ext cx="3457575"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kern="0" spc="-54" dirty="0">
                <a:solidFill>
                  <a:srgbClr val="4C3FCF"/>
                </a:solidFill>
                <a:latin typeface="Noto Sans KR" pitchFamily="34" charset="0"/>
                <a:ea typeface="Noto Sans KR" pitchFamily="34" charset="-122"/>
                <a:cs typeface="Noto Sans KR" pitchFamily="34" charset="-120"/>
              </a:rPr>
              <a:t>8.3% → 0%</a:t>
            </a:r>
            <a:endParaRPr lang="en-US" sz="2700" dirty="0"/>
          </a:p>
        </p:txBody>
      </p:sp>
      <p:sp>
        <p:nvSpPr>
          <p:cNvPr id="15" name="Text 12"/>
          <p:cNvSpPr/>
          <p:nvPr/>
        </p:nvSpPr>
        <p:spPr>
          <a:xfrm>
            <a:off x="13658850" y="3204567"/>
            <a:ext cx="3457575" cy="346621"/>
          </a:xfrm>
          <a:prstGeom prst="rect">
            <a:avLst/>
          </a:prstGeom>
          <a:noFill/>
          <a:ln/>
        </p:spPr>
        <p:txBody>
          <a:bodyPr wrap="square" lIns="25400" tIns="25400" rIns="25400" bIns="25400" rtlCol="0" anchor="t">
            <a:normAutofit/>
          </a:bodyPr>
          <a:lstStyle/>
          <a:p>
            <a:pPr marL="0" indent="0" algn="l">
              <a:lnSpc>
                <a:spcPct val="92571"/>
              </a:lnSpc>
              <a:buNone/>
            </a:pPr>
            <a:r>
              <a:rPr lang="en-US" sz="1800" dirty="0">
                <a:solidFill>
                  <a:srgbClr val="4C3FCF">
                    <a:alpha val="80000"/>
                  </a:srgbClr>
                </a:solidFill>
                <a:latin typeface="Noto Sans KR" pitchFamily="34" charset="0"/>
                <a:ea typeface="Noto Sans KR" pitchFamily="34" charset="-122"/>
                <a:cs typeface="Noto Sans KR" pitchFamily="34" charset="-120"/>
              </a:rPr>
              <a:t>응답 실패율 · 계약 100%</a:t>
            </a:r>
            <a:endParaRPr lang="en-US" sz="1800" dirty="0"/>
          </a:p>
        </p:txBody>
      </p:sp>
      <p:sp>
        <p:nvSpPr>
          <p:cNvPr id="16" name="Shape 13"/>
          <p:cNvSpPr/>
          <p:nvPr/>
        </p:nvSpPr>
        <p:spPr>
          <a:xfrm>
            <a:off x="914400" y="4345186"/>
            <a:ext cx="16459200" cy="2079427"/>
          </a:xfrm>
          <a:prstGeom prst="roundRect">
            <a:avLst>
              <a:gd name="adj" fmla="val 12826"/>
            </a:avLst>
          </a:prstGeom>
          <a:solidFill>
            <a:srgbClr val="FFFFFF"/>
          </a:solidFill>
          <a:ln/>
        </p:spPr>
        <p:txBody>
          <a:bodyPr/>
          <a:lstStyle/>
          <a:p>
            <a:endParaRPr lang="ko-KR" altLang="en-US"/>
          </a:p>
        </p:txBody>
      </p:sp>
      <p:sp>
        <p:nvSpPr>
          <p:cNvPr id="17" name="Shape 14"/>
          <p:cNvSpPr/>
          <p:nvPr/>
        </p:nvSpPr>
        <p:spPr>
          <a:xfrm>
            <a:off x="1238250" y="4654451"/>
            <a:ext cx="2886521" cy="523875"/>
          </a:xfrm>
          <a:prstGeom prst="roundRect">
            <a:avLst>
              <a:gd name="adj" fmla="val 50000"/>
            </a:avLst>
          </a:prstGeom>
          <a:solidFill>
            <a:srgbClr val="EEECFF"/>
          </a:solidFill>
          <a:ln/>
        </p:spPr>
        <p:txBody>
          <a:bodyPr/>
          <a:lstStyle/>
          <a:p>
            <a:endParaRPr lang="ko-KR" altLang="en-US"/>
          </a:p>
        </p:txBody>
      </p:sp>
      <p:sp>
        <p:nvSpPr>
          <p:cNvPr id="18" name="Text 15"/>
          <p:cNvSpPr/>
          <p:nvPr/>
        </p:nvSpPr>
        <p:spPr>
          <a:xfrm>
            <a:off x="1428750" y="4749701"/>
            <a:ext cx="2592117" cy="371475"/>
          </a:xfrm>
          <a:prstGeom prst="rect">
            <a:avLst/>
          </a:prstGeom>
          <a:noFill/>
          <a:ln/>
        </p:spPr>
        <p:txBody>
          <a:bodyPr wrap="none" lIns="25400" tIns="25400" rIns="25400" bIns="25400" rtlCol="0" anchor="t">
            <a:normAutofit/>
          </a:bodyPr>
          <a:lstStyle/>
          <a:p>
            <a:pPr marL="0" indent="0" algn="l">
              <a:buNone/>
            </a:pPr>
            <a:r>
              <a:rPr lang="en-US" sz="1800" b="1" dirty="0">
                <a:solidFill>
                  <a:srgbClr val="4C3FCF"/>
                </a:solidFill>
                <a:latin typeface="Noto Sans KR" pitchFamily="34" charset="0"/>
                <a:ea typeface="Noto Sans KR" pitchFamily="34" charset="-122"/>
                <a:cs typeface="Noto Sans KR" pitchFamily="34" charset="-120"/>
              </a:rPr>
              <a:t>추천 질문 · 10문항 재측정</a:t>
            </a:r>
            <a:endParaRPr lang="en-US" sz="1800" dirty="0"/>
          </a:p>
        </p:txBody>
      </p:sp>
      <p:sp>
        <p:nvSpPr>
          <p:cNvPr id="19" name="Text 16"/>
          <p:cNvSpPr/>
          <p:nvPr/>
        </p:nvSpPr>
        <p:spPr>
          <a:xfrm>
            <a:off x="1238250" y="5292626"/>
            <a:ext cx="3728085" cy="860822"/>
          </a:xfrm>
          <a:prstGeom prst="rect">
            <a:avLst/>
          </a:prstGeom>
          <a:noFill/>
          <a:ln/>
        </p:spPr>
        <p:txBody>
          <a:bodyPr wrap="square" lIns="25400" tIns="25400" rIns="25400" bIns="25400" rtlCol="0" anchor="t">
            <a:normAutofit/>
          </a:bodyPr>
          <a:lstStyle/>
          <a:p>
            <a:pPr marL="0" indent="0" algn="l">
              <a:lnSpc>
                <a:spcPct val="93913"/>
              </a:lnSpc>
              <a:buNone/>
            </a:pPr>
            <a:r>
              <a:rPr lang="en-US" sz="2400" b="1" dirty="0">
                <a:solidFill>
                  <a:srgbClr val="1F2937"/>
                </a:solidFill>
                <a:latin typeface="Noto Sans KR" pitchFamily="34" charset="0"/>
                <a:ea typeface="Noto Sans KR" pitchFamily="34" charset="-122"/>
                <a:cs typeface="Noto Sans KR" pitchFamily="34" charset="-120"/>
              </a:rPr>
              <a:t>챗봇이 </a:t>
            </a:r>
            <a:r>
              <a:rPr lang="en-US" sz="2400" b="1" dirty="0" err="1">
                <a:solidFill>
                  <a:srgbClr val="1F2937"/>
                </a:solidFill>
                <a:latin typeface="Noto Sans KR" pitchFamily="34" charset="0"/>
                <a:ea typeface="Noto Sans KR" pitchFamily="34" charset="-122"/>
                <a:cs typeface="Noto Sans KR" pitchFamily="34" charset="-120"/>
              </a:rPr>
              <a:t>사용자에게</a:t>
            </a:r>
            <a:r>
              <a:rPr lang="en-US" sz="2400" b="1" dirty="0">
                <a:solidFill>
                  <a:srgbClr val="1F2937"/>
                </a:solidFill>
                <a:latin typeface="Noto Sans KR" pitchFamily="34" charset="0"/>
                <a:ea typeface="Noto Sans KR" pitchFamily="34" charset="-122"/>
                <a:cs typeface="Noto Sans KR" pitchFamily="34" charset="-120"/>
              </a:rPr>
              <a:t> </a:t>
            </a:r>
            <a:r>
              <a:rPr lang="en-US" sz="2400" b="1" dirty="0" err="1">
                <a:solidFill>
                  <a:srgbClr val="1F2937"/>
                </a:solidFill>
                <a:latin typeface="Noto Sans KR" pitchFamily="34" charset="0"/>
                <a:ea typeface="Noto Sans KR" pitchFamily="34" charset="-122"/>
                <a:cs typeface="Noto Sans KR" pitchFamily="34" charset="-120"/>
              </a:rPr>
              <a:t>되묻는</a:t>
            </a:r>
            <a:br>
              <a:rPr lang="en-US" sz="2400" b="1" dirty="0">
                <a:solidFill>
                  <a:srgbClr val="1F2937"/>
                </a:solidFill>
                <a:latin typeface="Noto Sans KR" pitchFamily="34" charset="0"/>
                <a:ea typeface="Noto Sans KR" pitchFamily="34" charset="-122"/>
                <a:cs typeface="Noto Sans KR" pitchFamily="34" charset="-120"/>
              </a:rPr>
            </a:br>
            <a:r>
              <a:rPr lang="en-US" sz="2400" b="1" dirty="0" err="1">
                <a:solidFill>
                  <a:srgbClr val="1F2937"/>
                </a:solidFill>
                <a:latin typeface="Noto Sans KR" pitchFamily="34" charset="0"/>
                <a:ea typeface="Noto Sans KR" pitchFamily="34" charset="-122"/>
                <a:cs typeface="Noto Sans KR" pitchFamily="34" charset="-120"/>
              </a:rPr>
              <a:t>질문이</a:t>
            </a:r>
            <a:r>
              <a:rPr lang="en-US" sz="2400" b="1" dirty="0">
                <a:solidFill>
                  <a:srgbClr val="1F2937"/>
                </a:solidFill>
                <a:latin typeface="Noto Sans KR" pitchFamily="34" charset="0"/>
                <a:ea typeface="Noto Sans KR" pitchFamily="34" charset="-122"/>
                <a:cs typeface="Noto Sans KR" pitchFamily="34" charset="-120"/>
              </a:rPr>
              <a:t> 생성됨</a:t>
            </a:r>
            <a:endParaRPr lang="en-US" sz="2400" dirty="0"/>
          </a:p>
        </p:txBody>
      </p:sp>
      <p:sp>
        <p:nvSpPr>
          <p:cNvPr id="20" name="Shape 17"/>
          <p:cNvSpPr/>
          <p:nvPr/>
        </p:nvSpPr>
        <p:spPr>
          <a:xfrm>
            <a:off x="5105400" y="4592836"/>
            <a:ext cx="19050" cy="1584127"/>
          </a:xfrm>
          <a:prstGeom prst="rect">
            <a:avLst/>
          </a:prstGeom>
          <a:solidFill>
            <a:srgbClr val="EFEFF4"/>
          </a:solidFill>
          <a:ln/>
        </p:spPr>
        <p:txBody>
          <a:bodyPr/>
          <a:lstStyle/>
          <a:p>
            <a:endParaRPr lang="ko-KR" altLang="en-US"/>
          </a:p>
        </p:txBody>
      </p:sp>
      <p:sp>
        <p:nvSpPr>
          <p:cNvPr id="21" name="Text 18"/>
          <p:cNvSpPr/>
          <p:nvPr/>
        </p:nvSpPr>
        <p:spPr>
          <a:xfrm>
            <a:off x="5372100" y="4971008"/>
            <a:ext cx="7816215"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C3FCF"/>
                </a:solidFill>
                <a:latin typeface="Noto Sans KR" pitchFamily="34" charset="0"/>
                <a:ea typeface="Noto Sans KR" pitchFamily="34" charset="-122"/>
                <a:cs typeface="Noto Sans KR" pitchFamily="34" charset="-120"/>
              </a:rPr>
              <a:t>이렇게 고쳤습니다</a:t>
            </a:r>
            <a:endParaRPr lang="en-US" sz="1800" dirty="0"/>
          </a:p>
        </p:txBody>
      </p:sp>
      <p:sp>
        <p:nvSpPr>
          <p:cNvPr id="22" name="Text 19"/>
          <p:cNvSpPr/>
          <p:nvPr/>
        </p:nvSpPr>
        <p:spPr>
          <a:xfrm>
            <a:off x="5372100" y="5361533"/>
            <a:ext cx="7816215" cy="475208"/>
          </a:xfrm>
          <a:prstGeom prst="rect">
            <a:avLst/>
          </a:prstGeom>
          <a:noFill/>
          <a:ln/>
        </p:spPr>
        <p:txBody>
          <a:bodyPr wrap="square" lIns="25400" tIns="25400" rIns="25400" bIns="25400" rtlCol="0" anchor="t">
            <a:normAutofit/>
          </a:bodyPr>
          <a:lstStyle/>
          <a:p>
            <a:pPr marL="0" indent="0" algn="l">
              <a:lnSpc>
                <a:spcPct val="93673"/>
              </a:lnSpc>
              <a:buNone/>
            </a:pPr>
            <a:r>
              <a:rPr lang="en-US" sz="2550" b="1" kern="0" spc="-51" dirty="0">
                <a:solidFill>
                  <a:srgbClr val="1F2937"/>
                </a:solidFill>
                <a:latin typeface="Noto Sans KR" pitchFamily="34" charset="0"/>
                <a:ea typeface="Noto Sans KR" pitchFamily="34" charset="-122"/>
                <a:cs typeface="Noto Sans KR" pitchFamily="34" charset="-120"/>
              </a:rPr>
              <a:t>어미 필터를 걷어내고 화자 방향을 평가축으로 분리</a:t>
            </a:r>
            <a:endParaRPr lang="en-US" sz="2550"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725400" y="5261074"/>
            <a:ext cx="438150" cy="247650"/>
          </a:xfrm>
          <a:prstGeom prst="rect">
            <a:avLst/>
          </a:prstGeom>
        </p:spPr>
      </p:pic>
      <p:sp>
        <p:nvSpPr>
          <p:cNvPr id="24" name="Shape 20"/>
          <p:cNvSpPr/>
          <p:nvPr/>
        </p:nvSpPr>
        <p:spPr>
          <a:xfrm>
            <a:off x="13411200" y="4815334"/>
            <a:ext cx="3638550" cy="1138982"/>
          </a:xfrm>
          <a:prstGeom prst="roundRect">
            <a:avLst>
              <a:gd name="adj" fmla="val 16725"/>
            </a:avLst>
          </a:prstGeom>
          <a:solidFill>
            <a:srgbClr val="EEECFF"/>
          </a:solidFill>
          <a:ln/>
        </p:spPr>
        <p:txBody>
          <a:bodyPr/>
          <a:lstStyle/>
          <a:p>
            <a:endParaRPr lang="ko-KR" altLang="en-US"/>
          </a:p>
        </p:txBody>
      </p:sp>
      <p:sp>
        <p:nvSpPr>
          <p:cNvPr id="25" name="Text 21"/>
          <p:cNvSpPr/>
          <p:nvPr/>
        </p:nvSpPr>
        <p:spPr>
          <a:xfrm>
            <a:off x="13658850" y="5005834"/>
            <a:ext cx="3457575"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kern="0" spc="-54" dirty="0">
                <a:solidFill>
                  <a:srgbClr val="4C3FCF"/>
                </a:solidFill>
                <a:latin typeface="Noto Sans KR" pitchFamily="34" charset="0"/>
                <a:ea typeface="Noto Sans KR" pitchFamily="34" charset="-122"/>
                <a:cs typeface="Noto Sans KR" pitchFamily="34" charset="-120"/>
              </a:rPr>
              <a:t>방향 오류 0건</a:t>
            </a:r>
            <a:endParaRPr lang="en-US" sz="2700" dirty="0"/>
          </a:p>
        </p:txBody>
      </p:sp>
      <p:sp>
        <p:nvSpPr>
          <p:cNvPr id="26" name="Text 22"/>
          <p:cNvSpPr/>
          <p:nvPr/>
        </p:nvSpPr>
        <p:spPr>
          <a:xfrm>
            <a:off x="13658850" y="5455295"/>
            <a:ext cx="3457575" cy="346621"/>
          </a:xfrm>
          <a:prstGeom prst="rect">
            <a:avLst/>
          </a:prstGeom>
          <a:noFill/>
          <a:ln/>
        </p:spPr>
        <p:txBody>
          <a:bodyPr wrap="square" lIns="25400" tIns="25400" rIns="25400" bIns="25400" rtlCol="0" anchor="t">
            <a:normAutofit/>
          </a:bodyPr>
          <a:lstStyle/>
          <a:p>
            <a:pPr marL="0" indent="0" algn="l">
              <a:lnSpc>
                <a:spcPct val="92571"/>
              </a:lnSpc>
              <a:buNone/>
            </a:pPr>
            <a:r>
              <a:rPr lang="en-US" sz="1800" dirty="0">
                <a:solidFill>
                  <a:srgbClr val="4C3FCF">
                    <a:alpha val="80000"/>
                  </a:srgbClr>
                </a:solidFill>
                <a:latin typeface="Noto Sans KR" pitchFamily="34" charset="0"/>
                <a:ea typeface="Noto Sans KR" pitchFamily="34" charset="-122"/>
                <a:cs typeface="Noto Sans KR" pitchFamily="34" charset="-120"/>
              </a:rPr>
              <a:t>추천 질문 30개 직접 검수</a:t>
            </a:r>
            <a:endParaRPr lang="en-US" sz="1800" dirty="0"/>
          </a:p>
        </p:txBody>
      </p:sp>
      <p:sp>
        <p:nvSpPr>
          <p:cNvPr id="27" name="Shape 23"/>
          <p:cNvSpPr/>
          <p:nvPr/>
        </p:nvSpPr>
        <p:spPr>
          <a:xfrm>
            <a:off x="914400" y="6596063"/>
            <a:ext cx="16459200" cy="2079427"/>
          </a:xfrm>
          <a:prstGeom prst="roundRect">
            <a:avLst>
              <a:gd name="adj" fmla="val 12826"/>
            </a:avLst>
          </a:prstGeom>
          <a:solidFill>
            <a:srgbClr val="FFFFFF"/>
          </a:solidFill>
          <a:ln/>
        </p:spPr>
        <p:txBody>
          <a:bodyPr/>
          <a:lstStyle/>
          <a:p>
            <a:endParaRPr lang="ko-KR" altLang="en-US"/>
          </a:p>
        </p:txBody>
      </p:sp>
      <p:sp>
        <p:nvSpPr>
          <p:cNvPr id="28" name="Shape 24"/>
          <p:cNvSpPr/>
          <p:nvPr/>
        </p:nvSpPr>
        <p:spPr>
          <a:xfrm>
            <a:off x="1238250" y="6905327"/>
            <a:ext cx="2886521" cy="523875"/>
          </a:xfrm>
          <a:prstGeom prst="roundRect">
            <a:avLst>
              <a:gd name="adj" fmla="val 50000"/>
            </a:avLst>
          </a:prstGeom>
          <a:solidFill>
            <a:srgbClr val="FFF1D6"/>
          </a:solidFill>
          <a:ln/>
        </p:spPr>
        <p:txBody>
          <a:bodyPr/>
          <a:lstStyle/>
          <a:p>
            <a:endParaRPr lang="ko-KR" altLang="en-US"/>
          </a:p>
        </p:txBody>
      </p:sp>
      <p:sp>
        <p:nvSpPr>
          <p:cNvPr id="29" name="Text 25"/>
          <p:cNvSpPr/>
          <p:nvPr/>
        </p:nvSpPr>
        <p:spPr>
          <a:xfrm>
            <a:off x="1428750" y="7000577"/>
            <a:ext cx="2592117" cy="371475"/>
          </a:xfrm>
          <a:prstGeom prst="rect">
            <a:avLst/>
          </a:prstGeom>
          <a:noFill/>
          <a:ln/>
        </p:spPr>
        <p:txBody>
          <a:bodyPr wrap="none" lIns="25400" tIns="25400" rIns="25400" bIns="25400" rtlCol="0" anchor="t">
            <a:normAutofit/>
          </a:bodyPr>
          <a:lstStyle/>
          <a:p>
            <a:pPr marL="0" indent="0" algn="l">
              <a:buNone/>
            </a:pPr>
            <a:r>
              <a:rPr lang="en-US" sz="1800" b="1" dirty="0">
                <a:solidFill>
                  <a:srgbClr val="8A5B00"/>
                </a:solidFill>
                <a:latin typeface="Noto Sans KR" pitchFamily="34" charset="0"/>
                <a:ea typeface="Noto Sans KR" pitchFamily="34" charset="-122"/>
                <a:cs typeface="Noto Sans KR" pitchFamily="34" charset="-120"/>
              </a:rPr>
              <a:t>전략 신뢰성 · 36문항 실험</a:t>
            </a:r>
            <a:endParaRPr lang="en-US" sz="1800" dirty="0"/>
          </a:p>
        </p:txBody>
      </p:sp>
      <p:sp>
        <p:nvSpPr>
          <p:cNvPr id="30" name="Text 26"/>
          <p:cNvSpPr/>
          <p:nvPr/>
        </p:nvSpPr>
        <p:spPr>
          <a:xfrm>
            <a:off x="1238250" y="7543502"/>
            <a:ext cx="3728085" cy="860822"/>
          </a:xfrm>
          <a:prstGeom prst="rect">
            <a:avLst/>
          </a:prstGeom>
          <a:noFill/>
          <a:ln/>
        </p:spPr>
        <p:txBody>
          <a:bodyPr wrap="square" lIns="25400" tIns="25400" rIns="25400" bIns="25400" rtlCol="0" anchor="t">
            <a:normAutofit/>
          </a:bodyPr>
          <a:lstStyle/>
          <a:p>
            <a:pPr marL="0" indent="0" algn="l">
              <a:lnSpc>
                <a:spcPct val="93913"/>
              </a:lnSpc>
              <a:buNone/>
            </a:pPr>
            <a:r>
              <a:rPr lang="en-US" sz="2400" b="1" dirty="0">
                <a:solidFill>
                  <a:srgbClr val="1F2937"/>
                </a:solidFill>
                <a:latin typeface="Noto Sans KR" pitchFamily="34" charset="0"/>
                <a:ea typeface="Noto Sans KR" pitchFamily="34" charset="-122"/>
                <a:cs typeface="Noto Sans KR" pitchFamily="34" charset="-120"/>
              </a:rPr>
              <a:t>지역 특성 · 연관어 · </a:t>
            </a:r>
            <a:br>
              <a:rPr lang="en-US" sz="2400" b="1" dirty="0">
                <a:solidFill>
                  <a:srgbClr val="1F2937"/>
                </a:solidFill>
                <a:latin typeface="Noto Sans KR" pitchFamily="34" charset="0"/>
                <a:ea typeface="Noto Sans KR" pitchFamily="34" charset="-122"/>
                <a:cs typeface="Noto Sans KR" pitchFamily="34" charset="-120"/>
              </a:rPr>
            </a:br>
            <a:r>
              <a:rPr lang="en-US" sz="2400" b="1" dirty="0" err="1">
                <a:solidFill>
                  <a:srgbClr val="1F2937"/>
                </a:solidFill>
                <a:latin typeface="Noto Sans KR" pitchFamily="34" charset="0"/>
                <a:ea typeface="Noto Sans KR" pitchFamily="34" charset="-122"/>
                <a:cs typeface="Noto Sans KR" pitchFamily="34" charset="-120"/>
              </a:rPr>
              <a:t>할인율을</a:t>
            </a:r>
            <a:r>
              <a:rPr lang="en-US" sz="2400" b="1" dirty="0">
                <a:solidFill>
                  <a:srgbClr val="1F2937"/>
                </a:solidFill>
                <a:latin typeface="Noto Sans KR" pitchFamily="34" charset="0"/>
                <a:ea typeface="Noto Sans KR" pitchFamily="34" charset="-122"/>
                <a:cs typeface="Noto Sans KR" pitchFamily="34" charset="-120"/>
              </a:rPr>
              <a:t> 지어냄</a:t>
            </a:r>
            <a:endParaRPr lang="en-US" sz="2400" dirty="0"/>
          </a:p>
        </p:txBody>
      </p:sp>
      <p:sp>
        <p:nvSpPr>
          <p:cNvPr id="31" name="Shape 27"/>
          <p:cNvSpPr/>
          <p:nvPr/>
        </p:nvSpPr>
        <p:spPr>
          <a:xfrm>
            <a:off x="5105400" y="6843713"/>
            <a:ext cx="19050" cy="1584127"/>
          </a:xfrm>
          <a:prstGeom prst="rect">
            <a:avLst/>
          </a:prstGeom>
          <a:solidFill>
            <a:srgbClr val="EFEFF4"/>
          </a:solidFill>
          <a:ln/>
        </p:spPr>
        <p:txBody>
          <a:bodyPr/>
          <a:lstStyle/>
          <a:p>
            <a:endParaRPr lang="ko-KR" altLang="en-US"/>
          </a:p>
        </p:txBody>
      </p:sp>
      <p:sp>
        <p:nvSpPr>
          <p:cNvPr id="32" name="Text 28"/>
          <p:cNvSpPr/>
          <p:nvPr/>
        </p:nvSpPr>
        <p:spPr>
          <a:xfrm>
            <a:off x="5372100" y="7221885"/>
            <a:ext cx="7816215" cy="371475"/>
          </a:xfrm>
          <a:prstGeom prst="rect">
            <a:avLst/>
          </a:prstGeom>
          <a:noFill/>
          <a:ln/>
        </p:spPr>
        <p:txBody>
          <a:bodyPr wrap="square" lIns="25400" tIns="25400" rIns="25400" bIns="25400" rtlCol="0" anchor="t">
            <a:normAutofit/>
          </a:bodyPr>
          <a:lstStyle/>
          <a:p>
            <a:pPr marL="0" indent="0" algn="l">
              <a:buNone/>
            </a:pPr>
            <a:r>
              <a:rPr lang="en-US" sz="1800" b="1" dirty="0">
                <a:solidFill>
                  <a:srgbClr val="4C3FCF"/>
                </a:solidFill>
                <a:latin typeface="Noto Sans KR" pitchFamily="34" charset="0"/>
                <a:ea typeface="Noto Sans KR" pitchFamily="34" charset="-122"/>
                <a:cs typeface="Noto Sans KR" pitchFamily="34" charset="-120"/>
              </a:rPr>
              <a:t>이렇게 고쳤습니다</a:t>
            </a:r>
            <a:endParaRPr lang="en-US" sz="1800" dirty="0"/>
          </a:p>
        </p:txBody>
      </p:sp>
      <p:sp>
        <p:nvSpPr>
          <p:cNvPr id="33" name="Text 29"/>
          <p:cNvSpPr/>
          <p:nvPr/>
        </p:nvSpPr>
        <p:spPr>
          <a:xfrm>
            <a:off x="5372100" y="7612410"/>
            <a:ext cx="7816215" cy="475208"/>
          </a:xfrm>
          <a:prstGeom prst="rect">
            <a:avLst/>
          </a:prstGeom>
          <a:noFill/>
          <a:ln/>
        </p:spPr>
        <p:txBody>
          <a:bodyPr wrap="square" lIns="25400" tIns="25400" rIns="25400" bIns="25400" rtlCol="0" anchor="t">
            <a:normAutofit/>
          </a:bodyPr>
          <a:lstStyle/>
          <a:p>
            <a:pPr marL="0" indent="0" algn="l">
              <a:lnSpc>
                <a:spcPct val="93673"/>
              </a:lnSpc>
              <a:buNone/>
            </a:pPr>
            <a:r>
              <a:rPr lang="en-US" sz="2550" b="1" kern="0" spc="-51" dirty="0">
                <a:solidFill>
                  <a:srgbClr val="1F2937"/>
                </a:solidFill>
                <a:latin typeface="Noto Sans KR" pitchFamily="34" charset="0"/>
                <a:ea typeface="Noto Sans KR" pitchFamily="34" charset="-122"/>
                <a:cs typeface="Noto Sans KR" pitchFamily="34" charset="-120"/>
              </a:rPr>
              <a:t>금지 규칙을 추가했지만 검증에서 탈락해 롤백</a:t>
            </a:r>
            <a:endParaRPr lang="en-US" sz="2550" dirty="0"/>
          </a:p>
        </p:txBody>
      </p:sp>
      <p:pic>
        <p:nvPicPr>
          <p:cNvPr id="3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25400" y="7511951"/>
            <a:ext cx="438150" cy="247650"/>
          </a:xfrm>
          <a:prstGeom prst="rect">
            <a:avLst/>
          </a:prstGeom>
        </p:spPr>
      </p:pic>
      <p:sp>
        <p:nvSpPr>
          <p:cNvPr id="35" name="Shape 30"/>
          <p:cNvSpPr/>
          <p:nvPr/>
        </p:nvSpPr>
        <p:spPr>
          <a:xfrm>
            <a:off x="13411200" y="7066211"/>
            <a:ext cx="3638550" cy="1138982"/>
          </a:xfrm>
          <a:prstGeom prst="roundRect">
            <a:avLst>
              <a:gd name="adj" fmla="val 16725"/>
            </a:avLst>
          </a:prstGeom>
          <a:solidFill>
            <a:srgbClr val="FFF1D6"/>
          </a:solidFill>
          <a:ln/>
        </p:spPr>
        <p:txBody>
          <a:bodyPr/>
          <a:lstStyle/>
          <a:p>
            <a:endParaRPr lang="ko-KR" altLang="en-US"/>
          </a:p>
        </p:txBody>
      </p:sp>
      <p:sp>
        <p:nvSpPr>
          <p:cNvPr id="36" name="Text 31"/>
          <p:cNvSpPr/>
          <p:nvPr/>
        </p:nvSpPr>
        <p:spPr>
          <a:xfrm>
            <a:off x="13658850" y="7256711"/>
            <a:ext cx="3457575" cy="449461"/>
          </a:xfrm>
          <a:prstGeom prst="rect">
            <a:avLst/>
          </a:prstGeom>
          <a:noFill/>
          <a:ln/>
        </p:spPr>
        <p:txBody>
          <a:bodyPr wrap="square" lIns="25400" tIns="25400" rIns="25400" bIns="25400" rtlCol="0" anchor="t">
            <a:normAutofit/>
          </a:bodyPr>
          <a:lstStyle/>
          <a:p>
            <a:pPr marL="0" indent="0" algn="l">
              <a:lnSpc>
                <a:spcPct val="83077"/>
              </a:lnSpc>
              <a:buNone/>
            </a:pPr>
            <a:r>
              <a:rPr lang="en-US" sz="2700" b="1" kern="0" spc="-54" dirty="0">
                <a:solidFill>
                  <a:srgbClr val="8A5B00"/>
                </a:solidFill>
                <a:latin typeface="Noto Sans KR" pitchFamily="34" charset="0"/>
                <a:ea typeface="Noto Sans KR" pitchFamily="34" charset="-122"/>
                <a:cs typeface="Noto Sans KR" pitchFamily="34" charset="-120"/>
              </a:rPr>
              <a:t>11 / 36 통과</a:t>
            </a:r>
            <a:endParaRPr lang="en-US" sz="2700" dirty="0"/>
          </a:p>
        </p:txBody>
      </p:sp>
      <p:sp>
        <p:nvSpPr>
          <p:cNvPr id="37" name="Text 32"/>
          <p:cNvSpPr/>
          <p:nvPr/>
        </p:nvSpPr>
        <p:spPr>
          <a:xfrm>
            <a:off x="13658850" y="7706171"/>
            <a:ext cx="3457575" cy="346621"/>
          </a:xfrm>
          <a:prstGeom prst="rect">
            <a:avLst/>
          </a:prstGeom>
          <a:noFill/>
          <a:ln/>
        </p:spPr>
        <p:txBody>
          <a:bodyPr wrap="square" lIns="25400" tIns="25400" rIns="25400" bIns="25400" rtlCol="0" anchor="t">
            <a:normAutofit/>
          </a:bodyPr>
          <a:lstStyle/>
          <a:p>
            <a:pPr marL="0" indent="0" algn="l">
              <a:lnSpc>
                <a:spcPct val="92571"/>
              </a:lnSpc>
              <a:buNone/>
            </a:pPr>
            <a:r>
              <a:rPr lang="en-US" sz="1800" dirty="0">
                <a:solidFill>
                  <a:srgbClr val="8A5B00">
                    <a:alpha val="80000"/>
                  </a:srgbClr>
                </a:solidFill>
                <a:latin typeface="Noto Sans KR" pitchFamily="34" charset="0"/>
                <a:ea typeface="Noto Sans KR" pitchFamily="34" charset="-122"/>
                <a:cs typeface="Noto Sans KR" pitchFamily="34" charset="-120"/>
              </a:rPr>
              <a:t>기준 미달로 운영 제외</a:t>
            </a:r>
            <a:endParaRPr lang="en-US" sz="1800" dirty="0"/>
          </a:p>
        </p:txBody>
      </p:sp>
      <p:sp>
        <p:nvSpPr>
          <p:cNvPr id="38" name="Shape 33"/>
          <p:cNvSpPr/>
          <p:nvPr/>
        </p:nvSpPr>
        <p:spPr>
          <a:xfrm>
            <a:off x="914400" y="8846939"/>
            <a:ext cx="16459200" cy="906661"/>
          </a:xfrm>
          <a:prstGeom prst="roundRect">
            <a:avLst>
              <a:gd name="adj" fmla="val 23112"/>
            </a:avLst>
          </a:prstGeom>
          <a:solidFill>
            <a:srgbClr val="6A5AED"/>
          </a:solidFill>
          <a:ln/>
        </p:spPr>
        <p:txBody>
          <a:bodyPr/>
          <a:lstStyle/>
          <a:p>
            <a:endParaRPr lang="ko-KR" altLang="en-US"/>
          </a:p>
        </p:txBody>
      </p:sp>
      <p:sp>
        <p:nvSpPr>
          <p:cNvPr id="39" name="Text 34"/>
          <p:cNvSpPr/>
          <p:nvPr/>
        </p:nvSpPr>
        <p:spPr>
          <a:xfrm>
            <a:off x="1276350" y="9143107"/>
            <a:ext cx="933450" cy="352425"/>
          </a:xfrm>
          <a:prstGeom prst="rect">
            <a:avLst/>
          </a:prstGeom>
          <a:noFill/>
          <a:ln/>
        </p:spPr>
        <p:txBody>
          <a:bodyPr wrap="none" lIns="25400" tIns="25400" rIns="25400" bIns="25400" rtlCol="0" anchor="t">
            <a:normAutofit/>
          </a:bodyPr>
          <a:lstStyle/>
          <a:p>
            <a:pPr marL="0" indent="0" algn="l">
              <a:buNone/>
            </a:pPr>
            <a:r>
              <a:rPr lang="en-US" sz="1875" dirty="0">
                <a:solidFill>
                  <a:srgbClr val="FFB703"/>
                </a:solidFill>
                <a:latin typeface="IBM Plex Mono" pitchFamily="34" charset="0"/>
                <a:ea typeface="IBM Plex Mono" pitchFamily="34" charset="-122"/>
                <a:cs typeface="IBM Plex Mono" pitchFamily="34" charset="-120"/>
              </a:rPr>
              <a:t>LESSON</a:t>
            </a:r>
            <a:endParaRPr lang="en-US" sz="1875" dirty="0"/>
          </a:p>
        </p:txBody>
      </p:sp>
      <p:sp>
        <p:nvSpPr>
          <p:cNvPr id="40" name="Text 35"/>
          <p:cNvSpPr/>
          <p:nvPr/>
        </p:nvSpPr>
        <p:spPr>
          <a:xfrm>
            <a:off x="2419350" y="9094589"/>
            <a:ext cx="11082084" cy="449461"/>
          </a:xfrm>
          <a:prstGeom prst="rect">
            <a:avLst/>
          </a:prstGeom>
          <a:noFill/>
          <a:ln/>
        </p:spPr>
        <p:txBody>
          <a:bodyPr wrap="square" lIns="25400" tIns="25400" rIns="25400" bIns="25400" rtlCol="0" anchor="t">
            <a:normAutofit/>
          </a:bodyPr>
          <a:lstStyle/>
          <a:p>
            <a:pPr marL="0" indent="0" algn="l">
              <a:lnSpc>
                <a:spcPct val="93913"/>
              </a:lnSpc>
              <a:buNone/>
            </a:pPr>
            <a:r>
              <a:rPr lang="en-US" sz="2400" b="1" dirty="0">
                <a:solidFill>
                  <a:srgbClr val="FFFFFF"/>
                </a:solidFill>
                <a:latin typeface="Noto Sans KR" pitchFamily="34" charset="0"/>
                <a:ea typeface="Noto Sans KR" pitchFamily="34" charset="-122"/>
                <a:cs typeface="Noto Sans KR" pitchFamily="34" charset="-120"/>
              </a:rPr>
              <a:t>측정이 뒷받침하지 않는 변경은 되돌리고, 계산과 사실 판정은 코드로 옮겼습니다.</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00100"/>
            <a:ext cx="13378785"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검증 함수 4종</a:t>
            </a:r>
            <a:endParaRPr lang="en-US" sz="1875" dirty="0"/>
          </a:p>
        </p:txBody>
      </p:sp>
      <p:sp>
        <p:nvSpPr>
          <p:cNvPr id="3" name="Text 1"/>
          <p:cNvSpPr/>
          <p:nvPr/>
        </p:nvSpPr>
        <p:spPr>
          <a:xfrm>
            <a:off x="914400" y="1276350"/>
            <a:ext cx="13378785"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검증 파이프라인 - 결과가 안전하게 걸러지는 과정</a:t>
            </a:r>
            <a:endParaRPr lang="en-US" sz="4950" dirty="0"/>
          </a:p>
        </p:txBody>
      </p:sp>
      <p:sp>
        <p:nvSpPr>
          <p:cNvPr id="4" name="Shape 2"/>
          <p:cNvSpPr/>
          <p:nvPr/>
        </p:nvSpPr>
        <p:spPr>
          <a:xfrm>
            <a:off x="13581162" y="1233487"/>
            <a:ext cx="3792438" cy="561975"/>
          </a:xfrm>
          <a:prstGeom prst="roundRect">
            <a:avLst>
              <a:gd name="adj" fmla="val 23729"/>
            </a:avLst>
          </a:prstGeom>
          <a:solidFill>
            <a:srgbClr val="EEEBFE"/>
          </a:solidFill>
          <a:ln/>
        </p:spPr>
        <p:txBody>
          <a:bodyPr/>
          <a:lstStyle/>
          <a:p>
            <a:endParaRPr lang="ko-KR" altLang="en-US"/>
          </a:p>
        </p:txBody>
      </p:sp>
      <p:sp>
        <p:nvSpPr>
          <p:cNvPr id="5" name="Text 3"/>
          <p:cNvSpPr/>
          <p:nvPr/>
        </p:nvSpPr>
        <p:spPr>
          <a:xfrm>
            <a:off x="13771662" y="1333500"/>
            <a:ext cx="3525211" cy="371475"/>
          </a:xfrm>
          <a:prstGeom prst="rect">
            <a:avLst/>
          </a:prstGeom>
          <a:noFill/>
          <a:ln/>
        </p:spPr>
        <p:txBody>
          <a:bodyPr wrap="none" lIns="25400" tIns="25400" rIns="25400" bIns="25400" rtlCol="0" anchor="t">
            <a:normAutofit/>
          </a:bodyPr>
          <a:lstStyle/>
          <a:p>
            <a:pPr marL="0" indent="0" algn="l">
              <a:buNone/>
            </a:pPr>
            <a:r>
              <a:rPr lang="en-US" sz="1800" dirty="0">
                <a:solidFill>
                  <a:srgbClr val="5B4FBF"/>
                </a:solidFill>
                <a:latin typeface="Noto Sans KR" pitchFamily="34" charset="0"/>
                <a:ea typeface="Noto Sans KR" pitchFamily="34" charset="-122"/>
                <a:cs typeface="Noto Sans KR" pitchFamily="34" charset="-120"/>
              </a:rPr>
              <a:t>골든 데이터셋 67문항 · 2026.08.28</a:t>
            </a:r>
            <a:endParaRPr lang="en-US" sz="1800" dirty="0"/>
          </a:p>
        </p:txBody>
      </p:sp>
      <p:sp>
        <p:nvSpPr>
          <p:cNvPr id="6" name="Shape 4"/>
          <p:cNvSpPr/>
          <p:nvPr/>
        </p:nvSpPr>
        <p:spPr>
          <a:xfrm>
            <a:off x="914400" y="2284958"/>
            <a:ext cx="1905446" cy="819150"/>
          </a:xfrm>
          <a:prstGeom prst="roundRect">
            <a:avLst>
              <a:gd name="adj" fmla="val 23256"/>
            </a:avLst>
          </a:prstGeom>
          <a:solidFill>
            <a:srgbClr val="1F2937"/>
          </a:solidFill>
          <a:ln/>
        </p:spPr>
        <p:txBody>
          <a:bodyPr/>
          <a:lstStyle/>
          <a:p>
            <a:endParaRPr lang="ko-KR" altLang="en-US"/>
          </a:p>
        </p:txBody>
      </p:sp>
      <p:sp>
        <p:nvSpPr>
          <p:cNvPr id="7" name="Text 5"/>
          <p:cNvSpPr/>
          <p:nvPr/>
        </p:nvSpPr>
        <p:spPr>
          <a:xfrm>
            <a:off x="1200150" y="2494508"/>
            <a:ext cx="1410146" cy="438150"/>
          </a:xfrm>
          <a:prstGeom prst="rect">
            <a:avLst/>
          </a:prstGeom>
          <a:noFill/>
          <a:ln/>
        </p:spPr>
        <p:txBody>
          <a:bodyPr wrap="none" lIns="25400" tIns="25400" rIns="25400" bIns="25400" rtlCol="0" anchor="t">
            <a:normAutofit/>
          </a:bodyPr>
          <a:lstStyle/>
          <a:p>
            <a:pPr marL="0" indent="0" algn="l">
              <a:buNone/>
            </a:pPr>
            <a:r>
              <a:rPr lang="en-US" sz="2175" b="1" dirty="0">
                <a:solidFill>
                  <a:srgbClr val="FFFFFF"/>
                </a:solidFill>
                <a:latin typeface="Noto Sans KR" pitchFamily="34" charset="0"/>
                <a:ea typeface="Noto Sans KR" pitchFamily="34" charset="-122"/>
                <a:cs typeface="Noto Sans KR" pitchFamily="34" charset="-120"/>
              </a:rPr>
              <a:t>사용자 요청</a:t>
            </a:r>
            <a:endParaRPr lang="en-US" sz="2175" dirty="0"/>
          </a:p>
        </p:txBody>
      </p:sp>
      <p:sp>
        <p:nvSpPr>
          <p:cNvPr id="8" name="Shape 6"/>
          <p:cNvSpPr/>
          <p:nvPr/>
        </p:nvSpPr>
        <p:spPr>
          <a:xfrm>
            <a:off x="3010346" y="2665958"/>
            <a:ext cx="12521357" cy="57150"/>
          </a:xfrm>
          <a:prstGeom prst="roundRect">
            <a:avLst>
              <a:gd name="adj" fmla="val 50000"/>
            </a:avLst>
          </a:prstGeom>
          <a:solidFill>
            <a:srgbClr val="6A5AED"/>
          </a:solidFill>
          <a:ln/>
        </p:spPr>
        <p:txBody>
          <a:bodyPr/>
          <a:lstStyle/>
          <a:p>
            <a:endParaRPr lang="ko-KR" altLang="en-US"/>
          </a:p>
        </p:txBody>
      </p:sp>
      <p:sp>
        <p:nvSpPr>
          <p:cNvPr id="9" name="Shape 7"/>
          <p:cNvSpPr/>
          <p:nvPr/>
        </p:nvSpPr>
        <p:spPr>
          <a:xfrm>
            <a:off x="15722203" y="2284958"/>
            <a:ext cx="1651397" cy="819150"/>
          </a:xfrm>
          <a:prstGeom prst="roundRect">
            <a:avLst>
              <a:gd name="adj" fmla="val 23256"/>
            </a:avLst>
          </a:prstGeom>
          <a:solidFill>
            <a:srgbClr val="6A5AED"/>
          </a:solidFill>
          <a:ln/>
        </p:spPr>
        <p:txBody>
          <a:bodyPr/>
          <a:lstStyle/>
          <a:p>
            <a:endParaRPr lang="ko-KR" altLang="en-US"/>
          </a:p>
        </p:txBody>
      </p:sp>
      <p:sp>
        <p:nvSpPr>
          <p:cNvPr id="10" name="Text 8"/>
          <p:cNvSpPr/>
          <p:nvPr/>
        </p:nvSpPr>
        <p:spPr>
          <a:xfrm>
            <a:off x="16007953" y="2494508"/>
            <a:ext cx="1156097" cy="438150"/>
          </a:xfrm>
          <a:prstGeom prst="rect">
            <a:avLst/>
          </a:prstGeom>
          <a:noFill/>
          <a:ln/>
        </p:spPr>
        <p:txBody>
          <a:bodyPr wrap="none" lIns="25400" tIns="25400" rIns="25400" bIns="25400" rtlCol="0" anchor="t">
            <a:normAutofit/>
          </a:bodyPr>
          <a:lstStyle/>
          <a:p>
            <a:pPr marL="0" indent="0" algn="l">
              <a:buNone/>
            </a:pPr>
            <a:r>
              <a:rPr lang="en-US" sz="2175" b="1" dirty="0">
                <a:solidFill>
                  <a:srgbClr val="FFFFFF"/>
                </a:solidFill>
                <a:latin typeface="Noto Sans KR" pitchFamily="34" charset="0"/>
                <a:ea typeface="Noto Sans KR" pitchFamily="34" charset="-122"/>
                <a:cs typeface="Noto Sans KR" pitchFamily="34" charset="-120"/>
              </a:rPr>
              <a:t>응답 전달</a:t>
            </a:r>
            <a:endParaRPr lang="en-US" sz="2175" dirty="0"/>
          </a:p>
        </p:txBody>
      </p:sp>
      <p:sp>
        <p:nvSpPr>
          <p:cNvPr id="11" name="Shape 9"/>
          <p:cNvSpPr/>
          <p:nvPr/>
        </p:nvSpPr>
        <p:spPr>
          <a:xfrm>
            <a:off x="742950" y="3389858"/>
            <a:ext cx="4329113" cy="2318742"/>
          </a:xfrm>
          <a:prstGeom prst="roundRect">
            <a:avLst>
              <a:gd name="adj" fmla="val 9037"/>
            </a:avLst>
          </a:prstGeom>
          <a:solidFill>
            <a:srgbClr val="FFFFFF"/>
          </a:solidFill>
          <a:ln/>
        </p:spPr>
        <p:txBody>
          <a:bodyPr/>
          <a:lstStyle/>
          <a:p>
            <a:endParaRPr lang="ko-KR" altLang="en-US"/>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97956" y="3580358"/>
            <a:ext cx="419100" cy="419100"/>
          </a:xfrm>
          <a:prstGeom prst="rect">
            <a:avLst/>
          </a:prstGeom>
        </p:spPr>
      </p:pic>
      <p:sp>
        <p:nvSpPr>
          <p:cNvPr id="13" name="Text 10"/>
          <p:cNvSpPr/>
          <p:nvPr/>
        </p:nvSpPr>
        <p:spPr>
          <a:xfrm>
            <a:off x="2329458" y="4075658"/>
            <a:ext cx="1156097" cy="383381"/>
          </a:xfrm>
          <a:prstGeom prst="rect">
            <a:avLst/>
          </a:prstGeom>
          <a:noFill/>
          <a:ln/>
        </p:spPr>
        <p:txBody>
          <a:bodyPr wrap="square" lIns="25400" tIns="25400" rIns="25400" bIns="25400" rtlCol="0" anchor="t">
            <a:normAutofit/>
          </a:bodyPr>
          <a:lstStyle/>
          <a:p>
            <a:pPr marL="0" indent="0" algn="ctr">
              <a:lnSpc>
                <a:spcPct val="86310"/>
              </a:lnSpc>
              <a:buNone/>
            </a:pPr>
            <a:r>
              <a:rPr lang="en-US" sz="2175" b="1" dirty="0">
                <a:solidFill>
                  <a:srgbClr val="1F2937"/>
                </a:solidFill>
                <a:latin typeface="Noto Sans KR" pitchFamily="34" charset="0"/>
                <a:ea typeface="Noto Sans KR" pitchFamily="34" charset="-122"/>
                <a:cs typeface="Noto Sans KR" pitchFamily="34" charset="-120"/>
              </a:rPr>
              <a:t>입력 보안</a:t>
            </a:r>
            <a:endParaRPr lang="en-US" sz="2175" dirty="0"/>
          </a:p>
        </p:txBody>
      </p:sp>
      <p:sp>
        <p:nvSpPr>
          <p:cNvPr id="14" name="Text 11"/>
          <p:cNvSpPr/>
          <p:nvPr/>
        </p:nvSpPr>
        <p:spPr>
          <a:xfrm>
            <a:off x="1436200" y="4497139"/>
            <a:ext cx="2942612" cy="678061"/>
          </a:xfrm>
          <a:prstGeom prst="rect">
            <a:avLst/>
          </a:prstGeom>
          <a:noFill/>
          <a:ln/>
        </p:spPr>
        <p:txBody>
          <a:bodyPr wrap="square" lIns="25400" tIns="25400" rIns="25400" bIns="25400" rtlCol="0" anchor="t">
            <a:normAutofit/>
          </a:bodyPr>
          <a:lstStyle/>
          <a:p>
            <a:pPr marL="0" indent="0" algn="ctr">
              <a:lnSpc>
                <a:spcPct val="96000"/>
              </a:lnSpc>
              <a:buNone/>
            </a:pPr>
            <a:r>
              <a:rPr lang="en-US" sz="1800" dirty="0">
                <a:solidFill>
                  <a:srgbClr val="6B7280"/>
                </a:solidFill>
                <a:latin typeface="Noto Sans KR" pitchFamily="34" charset="0"/>
                <a:ea typeface="Noto Sans KR" pitchFamily="34" charset="-122"/>
                <a:cs typeface="Noto Sans KR" pitchFamily="34" charset="-120"/>
              </a:rPr>
              <a:t>불법 키워드 · 프롬프트 인젝션 두 챗봇 공통</a:t>
            </a:r>
            <a:endParaRPr lang="en-US" sz="1800" dirty="0"/>
          </a:p>
        </p:txBody>
      </p:sp>
      <p:sp>
        <p:nvSpPr>
          <p:cNvPr id="15" name="Text 12"/>
          <p:cNvSpPr/>
          <p:nvPr/>
        </p:nvSpPr>
        <p:spPr>
          <a:xfrm>
            <a:off x="2153096" y="5213300"/>
            <a:ext cx="165970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A99BF5"/>
                </a:solidFill>
                <a:latin typeface="IBM Plex Mono" pitchFamily="34" charset="0"/>
                <a:ea typeface="IBM Plex Mono" pitchFamily="34" charset="-122"/>
                <a:cs typeface="IBM Plex Mono" pitchFamily="34" charset="-120"/>
              </a:rPr>
              <a:t>check_input</a:t>
            </a:r>
            <a:endParaRPr lang="en-US" sz="1800" dirty="0"/>
          </a:p>
        </p:txBody>
      </p:sp>
      <p:sp>
        <p:nvSpPr>
          <p:cNvPr id="16" name="Shape 13"/>
          <p:cNvSpPr/>
          <p:nvPr/>
        </p:nvSpPr>
        <p:spPr>
          <a:xfrm>
            <a:off x="2893219" y="5803850"/>
            <a:ext cx="28575" cy="438150"/>
          </a:xfrm>
          <a:prstGeom prst="rect">
            <a:avLst/>
          </a:prstGeom>
          <a:solidFill>
            <a:srgbClr val="DC2626"/>
          </a:solidFill>
          <a:ln/>
        </p:spPr>
        <p:txBody>
          <a:bodyPr/>
          <a:lstStyle/>
          <a:p>
            <a:endParaRPr lang="ko-KR" altLang="en-US"/>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3206" y="6242000"/>
            <a:ext cx="228600" cy="228600"/>
          </a:xfrm>
          <a:prstGeom prst="rect">
            <a:avLst/>
          </a:prstGeom>
        </p:spPr>
      </p:pic>
      <p:sp>
        <p:nvSpPr>
          <p:cNvPr id="18" name="Shape 14"/>
          <p:cNvSpPr/>
          <p:nvPr/>
        </p:nvSpPr>
        <p:spPr>
          <a:xfrm>
            <a:off x="4900613" y="3389858"/>
            <a:ext cx="4329113" cy="2318742"/>
          </a:xfrm>
          <a:prstGeom prst="roundRect">
            <a:avLst>
              <a:gd name="adj" fmla="val 9037"/>
            </a:avLst>
          </a:prstGeom>
          <a:solidFill>
            <a:srgbClr val="FFFFFF"/>
          </a:solidFill>
          <a:ln/>
        </p:spPr>
        <p:txBody>
          <a:bodyPr/>
          <a:lstStyle/>
          <a:p>
            <a:endParaRPr lang="ko-KR" alt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5619" y="3580358"/>
            <a:ext cx="419100" cy="419100"/>
          </a:xfrm>
          <a:prstGeom prst="rect">
            <a:avLst/>
          </a:prstGeom>
        </p:spPr>
      </p:pic>
      <p:sp>
        <p:nvSpPr>
          <p:cNvPr id="20" name="Text 15"/>
          <p:cNvSpPr/>
          <p:nvPr/>
        </p:nvSpPr>
        <p:spPr>
          <a:xfrm>
            <a:off x="6487120" y="4075658"/>
            <a:ext cx="1156097" cy="383381"/>
          </a:xfrm>
          <a:prstGeom prst="rect">
            <a:avLst/>
          </a:prstGeom>
          <a:noFill/>
          <a:ln/>
        </p:spPr>
        <p:txBody>
          <a:bodyPr wrap="square" lIns="25400" tIns="25400" rIns="25400" bIns="25400" rtlCol="0" anchor="t">
            <a:normAutofit/>
          </a:bodyPr>
          <a:lstStyle/>
          <a:p>
            <a:pPr marL="0" indent="0" algn="ctr">
              <a:lnSpc>
                <a:spcPct val="86310"/>
              </a:lnSpc>
              <a:buNone/>
            </a:pPr>
            <a:r>
              <a:rPr lang="en-US" sz="2175" b="1" dirty="0">
                <a:solidFill>
                  <a:srgbClr val="1F2937"/>
                </a:solidFill>
                <a:latin typeface="Noto Sans KR" pitchFamily="34" charset="0"/>
                <a:ea typeface="Noto Sans KR" pitchFamily="34" charset="-122"/>
                <a:cs typeface="Noto Sans KR" pitchFamily="34" charset="-120"/>
              </a:rPr>
              <a:t>규제 검증</a:t>
            </a:r>
            <a:endParaRPr lang="en-US" sz="2175" dirty="0"/>
          </a:p>
        </p:txBody>
      </p:sp>
      <p:sp>
        <p:nvSpPr>
          <p:cNvPr id="21" name="Text 16"/>
          <p:cNvSpPr/>
          <p:nvPr/>
        </p:nvSpPr>
        <p:spPr>
          <a:xfrm>
            <a:off x="6019949" y="4497139"/>
            <a:ext cx="2090440" cy="678061"/>
          </a:xfrm>
          <a:prstGeom prst="rect">
            <a:avLst/>
          </a:prstGeom>
          <a:noFill/>
          <a:ln/>
        </p:spPr>
        <p:txBody>
          <a:bodyPr wrap="square" lIns="25400" tIns="25400" rIns="25400" bIns="25400" rtlCol="0" anchor="t">
            <a:normAutofit/>
          </a:bodyPr>
          <a:lstStyle/>
          <a:p>
            <a:pPr marL="0" indent="0" algn="ctr">
              <a:lnSpc>
                <a:spcPct val="96000"/>
              </a:lnSpc>
              <a:buNone/>
            </a:pPr>
            <a:r>
              <a:rPr lang="en-US" sz="1800" dirty="0">
                <a:solidFill>
                  <a:srgbClr val="6B7280"/>
                </a:solidFill>
                <a:latin typeface="Noto Sans KR" pitchFamily="34" charset="0"/>
                <a:ea typeface="Noto Sans KR" pitchFamily="34" charset="-122"/>
                <a:cs typeface="Noto Sans KR" pitchFamily="34" charset="-120"/>
              </a:rPr>
              <a:t>조문 근거 + 대안 문구 기본 챗봇에만 연결</a:t>
            </a:r>
            <a:endParaRPr lang="en-US" sz="1800" dirty="0"/>
          </a:p>
        </p:txBody>
      </p:sp>
      <p:sp>
        <p:nvSpPr>
          <p:cNvPr id="22" name="Text 17"/>
          <p:cNvSpPr/>
          <p:nvPr/>
        </p:nvSpPr>
        <p:spPr>
          <a:xfrm>
            <a:off x="5967859" y="5213300"/>
            <a:ext cx="241408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A99BF5"/>
                </a:solidFill>
                <a:latin typeface="IBM Plex Mono" pitchFamily="34" charset="0"/>
                <a:ea typeface="IBM Plex Mono" pitchFamily="34" charset="-122"/>
                <a:cs typeface="IBM Plex Mono" pitchFamily="34" charset="-120"/>
              </a:rPr>
              <a:t>check_regulation</a:t>
            </a:r>
            <a:endParaRPr lang="en-US" sz="1800" dirty="0"/>
          </a:p>
        </p:txBody>
      </p:sp>
      <p:sp>
        <p:nvSpPr>
          <p:cNvPr id="23" name="Shape 18"/>
          <p:cNvSpPr/>
          <p:nvPr/>
        </p:nvSpPr>
        <p:spPr>
          <a:xfrm>
            <a:off x="7050881" y="5803850"/>
            <a:ext cx="28575" cy="438150"/>
          </a:xfrm>
          <a:prstGeom prst="rect">
            <a:avLst/>
          </a:prstGeom>
          <a:solidFill>
            <a:srgbClr val="DC2626"/>
          </a:solidFill>
          <a:ln/>
        </p:spPr>
        <p:txBody>
          <a:bodyPr/>
          <a:lstStyle/>
          <a:p>
            <a:endParaRPr lang="ko-KR" alt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50869" y="6242000"/>
            <a:ext cx="228600" cy="228600"/>
          </a:xfrm>
          <a:prstGeom prst="rect">
            <a:avLst/>
          </a:prstGeom>
        </p:spPr>
      </p:pic>
      <p:sp>
        <p:nvSpPr>
          <p:cNvPr id="25" name="Shape 19"/>
          <p:cNvSpPr/>
          <p:nvPr/>
        </p:nvSpPr>
        <p:spPr>
          <a:xfrm>
            <a:off x="9058275" y="3389858"/>
            <a:ext cx="4329113" cy="2318742"/>
          </a:xfrm>
          <a:prstGeom prst="roundRect">
            <a:avLst>
              <a:gd name="adj" fmla="val 9037"/>
            </a:avLst>
          </a:prstGeom>
          <a:solidFill>
            <a:srgbClr val="FFFFFF"/>
          </a:solidFill>
          <a:ln/>
        </p:spPr>
        <p:txBody>
          <a:bodyPr/>
          <a:lstStyle/>
          <a:p>
            <a:endParaRPr lang="ko-KR" altLang="en-US"/>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013281" y="3580358"/>
            <a:ext cx="419100" cy="419100"/>
          </a:xfrm>
          <a:prstGeom prst="rect">
            <a:avLst/>
          </a:prstGeom>
        </p:spPr>
      </p:pic>
      <p:sp>
        <p:nvSpPr>
          <p:cNvPr id="27" name="Text 20"/>
          <p:cNvSpPr/>
          <p:nvPr/>
        </p:nvSpPr>
        <p:spPr>
          <a:xfrm>
            <a:off x="10644783" y="4075658"/>
            <a:ext cx="1156097" cy="383381"/>
          </a:xfrm>
          <a:prstGeom prst="rect">
            <a:avLst/>
          </a:prstGeom>
          <a:noFill/>
          <a:ln/>
        </p:spPr>
        <p:txBody>
          <a:bodyPr wrap="square" lIns="25400" tIns="25400" rIns="25400" bIns="25400" rtlCol="0" anchor="t">
            <a:normAutofit/>
          </a:bodyPr>
          <a:lstStyle/>
          <a:p>
            <a:pPr marL="0" indent="0" algn="ctr">
              <a:lnSpc>
                <a:spcPct val="86310"/>
              </a:lnSpc>
              <a:buNone/>
            </a:pPr>
            <a:r>
              <a:rPr lang="en-US" sz="2175" b="1" dirty="0">
                <a:solidFill>
                  <a:srgbClr val="1F2937"/>
                </a:solidFill>
                <a:latin typeface="Noto Sans KR" pitchFamily="34" charset="0"/>
                <a:ea typeface="Noto Sans KR" pitchFamily="34" charset="-122"/>
                <a:cs typeface="Noto Sans KR" pitchFamily="34" charset="-120"/>
              </a:rPr>
              <a:t>출력 보안</a:t>
            </a:r>
            <a:endParaRPr lang="en-US" sz="2175" dirty="0"/>
          </a:p>
        </p:txBody>
      </p:sp>
      <p:sp>
        <p:nvSpPr>
          <p:cNvPr id="28" name="Text 21"/>
          <p:cNvSpPr/>
          <p:nvPr/>
        </p:nvSpPr>
        <p:spPr>
          <a:xfrm>
            <a:off x="9992171" y="4497139"/>
            <a:ext cx="2461320" cy="678061"/>
          </a:xfrm>
          <a:prstGeom prst="rect">
            <a:avLst/>
          </a:prstGeom>
          <a:noFill/>
          <a:ln/>
        </p:spPr>
        <p:txBody>
          <a:bodyPr wrap="square" lIns="25400" tIns="25400" rIns="25400" bIns="25400" rtlCol="0" anchor="t">
            <a:normAutofit/>
          </a:bodyPr>
          <a:lstStyle/>
          <a:p>
            <a:pPr marL="0" indent="0" algn="ctr">
              <a:lnSpc>
                <a:spcPct val="96000"/>
              </a:lnSpc>
              <a:buNone/>
            </a:pPr>
            <a:r>
              <a:rPr lang="en-US" sz="1800" dirty="0">
                <a:solidFill>
                  <a:srgbClr val="6B7280"/>
                </a:solidFill>
                <a:latin typeface="Noto Sans KR" pitchFamily="34" charset="0"/>
                <a:ea typeface="Noto Sans KR" pitchFamily="34" charset="-122"/>
                <a:cs typeface="Noto Sans KR" pitchFamily="34" charset="-120"/>
              </a:rPr>
              <a:t>민감정보 · 프롬프트 누출 두 챗봇 공통</a:t>
            </a:r>
            <a:endParaRPr lang="en-US" sz="1800" dirty="0"/>
          </a:p>
        </p:txBody>
      </p:sp>
      <p:sp>
        <p:nvSpPr>
          <p:cNvPr id="29" name="Text 22"/>
          <p:cNvSpPr/>
          <p:nvPr/>
        </p:nvSpPr>
        <p:spPr>
          <a:xfrm>
            <a:off x="10399812" y="5213300"/>
            <a:ext cx="1810643" cy="342900"/>
          </a:xfrm>
          <a:prstGeom prst="rect">
            <a:avLst/>
          </a:prstGeom>
          <a:noFill/>
          <a:ln/>
        </p:spPr>
        <p:txBody>
          <a:bodyPr wrap="square" lIns="25400" tIns="25400" rIns="25400" bIns="25400" rtlCol="0" anchor="t">
            <a:normAutofit/>
          </a:bodyPr>
          <a:lstStyle/>
          <a:p>
            <a:pPr marL="0" indent="0" algn="l">
              <a:buNone/>
            </a:pPr>
            <a:r>
              <a:rPr lang="en-US" sz="1800" dirty="0">
                <a:solidFill>
                  <a:srgbClr val="A99BF5"/>
                </a:solidFill>
                <a:latin typeface="IBM Plex Mono" pitchFamily="34" charset="0"/>
                <a:ea typeface="IBM Plex Mono" pitchFamily="34" charset="-122"/>
                <a:cs typeface="IBM Plex Mono" pitchFamily="34" charset="-120"/>
              </a:rPr>
              <a:t>check_output</a:t>
            </a:r>
            <a:endParaRPr lang="en-US" sz="1800" dirty="0"/>
          </a:p>
        </p:txBody>
      </p:sp>
      <p:sp>
        <p:nvSpPr>
          <p:cNvPr id="30" name="Shape 23"/>
          <p:cNvSpPr/>
          <p:nvPr/>
        </p:nvSpPr>
        <p:spPr>
          <a:xfrm>
            <a:off x="11208544" y="5803850"/>
            <a:ext cx="28575" cy="438150"/>
          </a:xfrm>
          <a:prstGeom prst="rect">
            <a:avLst/>
          </a:prstGeom>
          <a:solidFill>
            <a:srgbClr val="DC2626"/>
          </a:solidFill>
          <a:ln/>
        </p:spPr>
        <p:txBody>
          <a:bodyPr/>
          <a:lstStyle/>
          <a:p>
            <a:endParaRPr lang="ko-KR" altLang="en-US"/>
          </a:p>
        </p:txBody>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08531" y="6242000"/>
            <a:ext cx="228600" cy="228600"/>
          </a:xfrm>
          <a:prstGeom prst="rect">
            <a:avLst/>
          </a:prstGeom>
        </p:spPr>
      </p:pic>
      <p:sp>
        <p:nvSpPr>
          <p:cNvPr id="32" name="Shape 24"/>
          <p:cNvSpPr/>
          <p:nvPr/>
        </p:nvSpPr>
        <p:spPr>
          <a:xfrm>
            <a:off x="13215938" y="3389858"/>
            <a:ext cx="4329113" cy="2318742"/>
          </a:xfrm>
          <a:prstGeom prst="roundRect">
            <a:avLst>
              <a:gd name="adj" fmla="val 9037"/>
            </a:avLst>
          </a:prstGeom>
          <a:solidFill>
            <a:srgbClr val="FFFFFF"/>
          </a:solidFill>
          <a:ln/>
        </p:spPr>
        <p:txBody>
          <a:bodyPr/>
          <a:lstStyle/>
          <a:p>
            <a:endParaRPr lang="ko-KR" altLang="en-US"/>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170944" y="3580358"/>
            <a:ext cx="419100" cy="419100"/>
          </a:xfrm>
          <a:prstGeom prst="rect">
            <a:avLst/>
          </a:prstGeom>
        </p:spPr>
      </p:pic>
      <p:sp>
        <p:nvSpPr>
          <p:cNvPr id="34" name="Text 25"/>
          <p:cNvSpPr/>
          <p:nvPr/>
        </p:nvSpPr>
        <p:spPr>
          <a:xfrm>
            <a:off x="14472225" y="4075658"/>
            <a:ext cx="1816537" cy="383381"/>
          </a:xfrm>
          <a:prstGeom prst="rect">
            <a:avLst/>
          </a:prstGeom>
          <a:noFill/>
          <a:ln/>
        </p:spPr>
        <p:txBody>
          <a:bodyPr wrap="square" lIns="25400" tIns="25400" rIns="25400" bIns="25400" rtlCol="0" anchor="t">
            <a:normAutofit/>
          </a:bodyPr>
          <a:lstStyle/>
          <a:p>
            <a:pPr marL="0" indent="0" algn="ctr">
              <a:lnSpc>
                <a:spcPct val="86310"/>
              </a:lnSpc>
              <a:buNone/>
            </a:pPr>
            <a:r>
              <a:rPr lang="en-US" sz="2175" b="1" dirty="0">
                <a:solidFill>
                  <a:srgbClr val="1F2937"/>
                </a:solidFill>
                <a:latin typeface="Noto Sans KR" pitchFamily="34" charset="0"/>
                <a:ea typeface="Noto Sans KR" pitchFamily="34" charset="-122"/>
                <a:cs typeface="Noto Sans KR" pitchFamily="34" charset="-120"/>
              </a:rPr>
              <a:t>응답 자체 점검</a:t>
            </a:r>
            <a:endParaRPr lang="en-US" sz="2175" dirty="0"/>
          </a:p>
        </p:txBody>
      </p:sp>
      <p:sp>
        <p:nvSpPr>
          <p:cNvPr id="35" name="Text 26"/>
          <p:cNvSpPr/>
          <p:nvPr/>
        </p:nvSpPr>
        <p:spPr>
          <a:xfrm>
            <a:off x="14244786" y="4497139"/>
            <a:ext cx="2271266" cy="678061"/>
          </a:xfrm>
          <a:prstGeom prst="rect">
            <a:avLst/>
          </a:prstGeom>
          <a:noFill/>
          <a:ln/>
        </p:spPr>
        <p:txBody>
          <a:bodyPr wrap="square" lIns="25400" tIns="25400" rIns="25400" bIns="25400" rtlCol="0" anchor="t">
            <a:normAutofit/>
          </a:bodyPr>
          <a:lstStyle/>
          <a:p>
            <a:pPr marL="0" indent="0" algn="ctr">
              <a:lnSpc>
                <a:spcPct val="96000"/>
              </a:lnSpc>
              <a:buNone/>
            </a:pPr>
            <a:r>
              <a:rPr lang="en-US" sz="1800" dirty="0">
                <a:solidFill>
                  <a:srgbClr val="6B7280"/>
                </a:solidFill>
                <a:latin typeface="Noto Sans KR" pitchFamily="34" charset="0"/>
                <a:ea typeface="Noto Sans KR" pitchFamily="34" charset="-122"/>
                <a:cs typeface="Noto Sans KR" pitchFamily="34" charset="-120"/>
              </a:rPr>
              <a:t>근거 · 제안 개수 · 길이 두 챗봇 공통</a:t>
            </a:r>
            <a:endParaRPr lang="en-US" sz="1800" dirty="0"/>
          </a:p>
        </p:txBody>
      </p:sp>
      <p:sp>
        <p:nvSpPr>
          <p:cNvPr id="36" name="Text 27"/>
          <p:cNvSpPr/>
          <p:nvPr/>
        </p:nvSpPr>
        <p:spPr>
          <a:xfrm>
            <a:off x="14694694" y="5213300"/>
            <a:ext cx="1508760" cy="342900"/>
          </a:xfrm>
          <a:prstGeom prst="rect">
            <a:avLst/>
          </a:prstGeom>
          <a:noFill/>
          <a:ln/>
        </p:spPr>
        <p:txBody>
          <a:bodyPr wrap="square" lIns="25400" tIns="25400" rIns="25400" bIns="25400" rtlCol="0" anchor="t">
            <a:normAutofit/>
          </a:bodyPr>
          <a:lstStyle/>
          <a:p>
            <a:pPr marL="0" indent="0" algn="l">
              <a:buNone/>
            </a:pPr>
            <a:r>
              <a:rPr lang="en-US" sz="1800" dirty="0">
                <a:solidFill>
                  <a:srgbClr val="A99BF5"/>
                </a:solidFill>
                <a:latin typeface="IBM Plex Mono" pitchFamily="34" charset="0"/>
                <a:ea typeface="IBM Plex Mono" pitchFamily="34" charset="-122"/>
                <a:cs typeface="IBM Plex Mono" pitchFamily="34" charset="-120"/>
              </a:rPr>
              <a:t>self_check</a:t>
            </a:r>
            <a:endParaRPr lang="en-US" sz="1800" dirty="0"/>
          </a:p>
        </p:txBody>
      </p:sp>
      <p:sp>
        <p:nvSpPr>
          <p:cNvPr id="37" name="Shape 28"/>
          <p:cNvSpPr/>
          <p:nvPr/>
        </p:nvSpPr>
        <p:spPr>
          <a:xfrm>
            <a:off x="15366206" y="5803850"/>
            <a:ext cx="28575" cy="438150"/>
          </a:xfrm>
          <a:prstGeom prst="rect">
            <a:avLst/>
          </a:prstGeom>
          <a:solidFill>
            <a:srgbClr val="DC2626"/>
          </a:solidFill>
          <a:ln/>
        </p:spPr>
        <p:txBody>
          <a:bodyPr/>
          <a:lstStyle/>
          <a:p>
            <a:endParaRPr lang="ko-KR" altLang="en-US"/>
          </a:p>
        </p:txBody>
      </p:sp>
      <p:pic>
        <p:nvPicPr>
          <p:cNvPr id="3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266194" y="6242000"/>
            <a:ext cx="228600" cy="228600"/>
          </a:xfrm>
          <a:prstGeom prst="rect">
            <a:avLst/>
          </a:prstGeom>
        </p:spPr>
      </p:pic>
      <p:sp>
        <p:nvSpPr>
          <p:cNvPr id="39" name="Shape 29"/>
          <p:cNvSpPr/>
          <p:nvPr/>
        </p:nvSpPr>
        <p:spPr>
          <a:xfrm>
            <a:off x="914400" y="6756350"/>
            <a:ext cx="16459200" cy="876300"/>
          </a:xfrm>
          <a:prstGeom prst="roundRect">
            <a:avLst>
              <a:gd name="adj" fmla="val 23913"/>
            </a:avLst>
          </a:prstGeom>
          <a:solidFill>
            <a:srgbClr val="FDE8E8"/>
          </a:solidFill>
          <a:ln w="19050">
            <a:solidFill>
              <a:srgbClr val="DC2626"/>
            </a:solidFill>
            <a:prstDash val="dash"/>
          </a:ln>
        </p:spPr>
        <p:txBody>
          <a:bodyPr/>
          <a:lstStyle/>
          <a:p>
            <a:endParaRPr lang="ko-KR" altLang="en-US"/>
          </a:p>
        </p:txBody>
      </p:sp>
      <p:sp>
        <p:nvSpPr>
          <p:cNvPr id="40" name="Text 30"/>
          <p:cNvSpPr/>
          <p:nvPr/>
        </p:nvSpPr>
        <p:spPr>
          <a:xfrm>
            <a:off x="1257300" y="7042100"/>
            <a:ext cx="1036439" cy="342900"/>
          </a:xfrm>
          <a:prstGeom prst="rect">
            <a:avLst/>
          </a:prstGeom>
          <a:noFill/>
          <a:ln/>
        </p:spPr>
        <p:txBody>
          <a:bodyPr wrap="none" lIns="25400" tIns="25400" rIns="25400" bIns="25400" rtlCol="0" anchor="t">
            <a:normAutofit/>
          </a:bodyPr>
          <a:lstStyle/>
          <a:p>
            <a:pPr marL="0" indent="0" algn="l">
              <a:buNone/>
            </a:pPr>
            <a:r>
              <a:rPr lang="en-US" sz="1800" dirty="0">
                <a:solidFill>
                  <a:srgbClr val="B91C1C"/>
                </a:solidFill>
                <a:latin typeface="IBM Plex Mono" pitchFamily="34" charset="0"/>
                <a:ea typeface="IBM Plex Mono" pitchFamily="34" charset="-122"/>
                <a:cs typeface="IBM Plex Mono" pitchFamily="34" charset="-120"/>
              </a:rPr>
              <a:t>BLOCKED</a:t>
            </a:r>
            <a:endParaRPr lang="en-US" sz="1800" dirty="0"/>
          </a:p>
        </p:txBody>
      </p:sp>
      <p:sp>
        <p:nvSpPr>
          <p:cNvPr id="41" name="Text 31"/>
          <p:cNvSpPr/>
          <p:nvPr/>
        </p:nvSpPr>
        <p:spPr>
          <a:xfrm>
            <a:off x="2446139" y="6984950"/>
            <a:ext cx="3179758"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B91C1C"/>
                </a:solidFill>
                <a:latin typeface="Noto Sans KR" pitchFamily="34" charset="0"/>
                <a:ea typeface="Noto Sans KR" pitchFamily="34" charset="-122"/>
                <a:cs typeface="Noto Sans KR" pitchFamily="34" charset="-120"/>
              </a:rPr>
              <a:t>차단 또는 대안 문구 제시</a:t>
            </a:r>
            <a:endParaRPr lang="en-US" sz="2250" dirty="0"/>
          </a:p>
        </p:txBody>
      </p:sp>
      <p:sp>
        <p:nvSpPr>
          <p:cNvPr id="42" name="Shape 32"/>
          <p:cNvSpPr/>
          <p:nvPr/>
        </p:nvSpPr>
        <p:spPr>
          <a:xfrm>
            <a:off x="914400" y="7918400"/>
            <a:ext cx="3986213" cy="838200"/>
          </a:xfrm>
          <a:prstGeom prst="roundRect">
            <a:avLst>
              <a:gd name="adj" fmla="val 22727"/>
            </a:avLst>
          </a:prstGeom>
          <a:solidFill>
            <a:srgbClr val="FFFFFF"/>
          </a:solidFill>
          <a:ln/>
        </p:spPr>
        <p:txBody>
          <a:bodyPr/>
          <a:lstStyle/>
          <a:p>
            <a:endParaRPr lang="ko-KR" altLang="en-US"/>
          </a:p>
        </p:txBody>
      </p:sp>
      <p:sp>
        <p:nvSpPr>
          <p:cNvPr id="43" name="Text 33"/>
          <p:cNvSpPr/>
          <p:nvPr/>
        </p:nvSpPr>
        <p:spPr>
          <a:xfrm>
            <a:off x="1162050" y="8213675"/>
            <a:ext cx="131427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위반 차단률</a:t>
            </a:r>
            <a:endParaRPr lang="en-US" sz="1950" dirty="0"/>
          </a:p>
        </p:txBody>
      </p:sp>
      <p:sp>
        <p:nvSpPr>
          <p:cNvPr id="44" name="Text 34"/>
          <p:cNvSpPr/>
          <p:nvPr/>
        </p:nvSpPr>
        <p:spPr>
          <a:xfrm>
            <a:off x="3473946" y="8213675"/>
            <a:ext cx="1255216" cy="457200"/>
          </a:xfrm>
          <a:prstGeom prst="rect">
            <a:avLst/>
          </a:prstGeom>
          <a:noFill/>
          <a:ln/>
        </p:spPr>
        <p:txBody>
          <a:bodyPr wrap="square" lIns="25400" tIns="25400" rIns="25400" bIns="25400" rtlCol="0" anchor="t">
            <a:normAutofit/>
          </a:bodyPr>
          <a:lstStyle/>
          <a:p>
            <a:pPr marL="0" indent="0" algn="l">
              <a:lnSpc>
                <a:spcPct val="68750"/>
              </a:lnSpc>
              <a:buNone/>
            </a:pPr>
            <a:r>
              <a:rPr lang="en-US" sz="3300" b="1" dirty="0">
                <a:solidFill>
                  <a:srgbClr val="6A5AED"/>
                </a:solidFill>
                <a:latin typeface="Noto Sans KR" pitchFamily="34" charset="0"/>
                <a:ea typeface="Noto Sans KR" pitchFamily="34" charset="-122"/>
                <a:cs typeface="Noto Sans KR" pitchFamily="34" charset="-120"/>
              </a:rPr>
              <a:t>100%</a:t>
            </a:r>
            <a:endParaRPr lang="en-US" sz="3300" dirty="0"/>
          </a:p>
        </p:txBody>
      </p:sp>
      <p:sp>
        <p:nvSpPr>
          <p:cNvPr id="45" name="Shape 35"/>
          <p:cNvSpPr/>
          <p:nvPr/>
        </p:nvSpPr>
        <p:spPr>
          <a:xfrm>
            <a:off x="5072063" y="7918400"/>
            <a:ext cx="3986213" cy="838200"/>
          </a:xfrm>
          <a:prstGeom prst="roundRect">
            <a:avLst>
              <a:gd name="adj" fmla="val 22727"/>
            </a:avLst>
          </a:prstGeom>
          <a:solidFill>
            <a:srgbClr val="FFFFFF"/>
          </a:solidFill>
          <a:ln/>
        </p:spPr>
        <p:txBody>
          <a:bodyPr/>
          <a:lstStyle/>
          <a:p>
            <a:endParaRPr lang="ko-KR" altLang="en-US"/>
          </a:p>
        </p:txBody>
      </p:sp>
      <p:sp>
        <p:nvSpPr>
          <p:cNvPr id="46" name="Text 36"/>
          <p:cNvSpPr/>
          <p:nvPr/>
        </p:nvSpPr>
        <p:spPr>
          <a:xfrm>
            <a:off x="5319713" y="8213675"/>
            <a:ext cx="131427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과잉 차단률</a:t>
            </a:r>
            <a:endParaRPr lang="en-US" sz="1950" dirty="0"/>
          </a:p>
        </p:txBody>
      </p:sp>
      <p:sp>
        <p:nvSpPr>
          <p:cNvPr id="47" name="Text 37"/>
          <p:cNvSpPr/>
          <p:nvPr/>
        </p:nvSpPr>
        <p:spPr>
          <a:xfrm>
            <a:off x="8142089" y="8208885"/>
            <a:ext cx="744736" cy="457200"/>
          </a:xfrm>
          <a:prstGeom prst="rect">
            <a:avLst/>
          </a:prstGeom>
          <a:noFill/>
          <a:ln/>
        </p:spPr>
        <p:txBody>
          <a:bodyPr wrap="square" lIns="25400" tIns="25400" rIns="25400" bIns="25400" rtlCol="0" anchor="t">
            <a:normAutofit/>
          </a:bodyPr>
          <a:lstStyle/>
          <a:p>
            <a:pPr marL="0" indent="0" algn="l">
              <a:lnSpc>
                <a:spcPct val="68750"/>
              </a:lnSpc>
              <a:buNone/>
            </a:pPr>
            <a:r>
              <a:rPr lang="en-US" sz="3300" b="1" dirty="0">
                <a:solidFill>
                  <a:srgbClr val="10B981"/>
                </a:solidFill>
                <a:latin typeface="Noto Sans KR" pitchFamily="34" charset="0"/>
                <a:ea typeface="Noto Sans KR" pitchFamily="34" charset="-122"/>
                <a:cs typeface="Noto Sans KR" pitchFamily="34" charset="-120"/>
              </a:rPr>
              <a:t>0%</a:t>
            </a:r>
            <a:endParaRPr lang="en-US" sz="3300" dirty="0"/>
          </a:p>
        </p:txBody>
      </p:sp>
      <p:sp>
        <p:nvSpPr>
          <p:cNvPr id="48" name="Shape 38"/>
          <p:cNvSpPr/>
          <p:nvPr/>
        </p:nvSpPr>
        <p:spPr>
          <a:xfrm>
            <a:off x="9229725" y="7918400"/>
            <a:ext cx="3986213" cy="838200"/>
          </a:xfrm>
          <a:prstGeom prst="roundRect">
            <a:avLst>
              <a:gd name="adj" fmla="val 22727"/>
            </a:avLst>
          </a:prstGeom>
          <a:solidFill>
            <a:srgbClr val="FFFFFF"/>
          </a:solidFill>
          <a:ln/>
        </p:spPr>
        <p:txBody>
          <a:bodyPr/>
          <a:lstStyle/>
          <a:p>
            <a:endParaRPr lang="ko-KR" altLang="en-US"/>
          </a:p>
        </p:txBody>
      </p:sp>
      <p:sp>
        <p:nvSpPr>
          <p:cNvPr id="49" name="Text 39"/>
          <p:cNvSpPr/>
          <p:nvPr/>
        </p:nvSpPr>
        <p:spPr>
          <a:xfrm>
            <a:off x="9477375" y="8213675"/>
            <a:ext cx="131427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대안 유효성</a:t>
            </a:r>
            <a:endParaRPr lang="en-US" sz="1950" dirty="0"/>
          </a:p>
        </p:txBody>
      </p:sp>
      <p:sp>
        <p:nvSpPr>
          <p:cNvPr id="50" name="Text 40"/>
          <p:cNvSpPr/>
          <p:nvPr/>
        </p:nvSpPr>
        <p:spPr>
          <a:xfrm>
            <a:off x="11789271" y="8180337"/>
            <a:ext cx="1255216" cy="457200"/>
          </a:xfrm>
          <a:prstGeom prst="rect">
            <a:avLst/>
          </a:prstGeom>
          <a:noFill/>
          <a:ln/>
        </p:spPr>
        <p:txBody>
          <a:bodyPr wrap="square" lIns="25400" tIns="25400" rIns="25400" bIns="25400" rtlCol="0" anchor="t">
            <a:normAutofit/>
          </a:bodyPr>
          <a:lstStyle/>
          <a:p>
            <a:pPr marL="0" indent="0" algn="l">
              <a:lnSpc>
                <a:spcPct val="68750"/>
              </a:lnSpc>
              <a:buNone/>
            </a:pPr>
            <a:r>
              <a:rPr lang="en-US" sz="3300" b="1" dirty="0">
                <a:solidFill>
                  <a:srgbClr val="10B981"/>
                </a:solidFill>
                <a:latin typeface="Noto Sans KR" pitchFamily="34" charset="0"/>
                <a:ea typeface="Noto Sans KR" pitchFamily="34" charset="-122"/>
                <a:cs typeface="Noto Sans KR" pitchFamily="34" charset="-120"/>
              </a:rPr>
              <a:t>100%</a:t>
            </a:r>
            <a:endParaRPr lang="en-US" sz="3300" dirty="0"/>
          </a:p>
        </p:txBody>
      </p:sp>
      <p:sp>
        <p:nvSpPr>
          <p:cNvPr id="51" name="Shape 41"/>
          <p:cNvSpPr/>
          <p:nvPr/>
        </p:nvSpPr>
        <p:spPr>
          <a:xfrm>
            <a:off x="13387388" y="7918400"/>
            <a:ext cx="3986213" cy="838200"/>
          </a:xfrm>
          <a:prstGeom prst="roundRect">
            <a:avLst>
              <a:gd name="adj" fmla="val 22727"/>
            </a:avLst>
          </a:prstGeom>
          <a:solidFill>
            <a:srgbClr val="FFFFFF"/>
          </a:solidFill>
          <a:ln/>
        </p:spPr>
        <p:txBody>
          <a:bodyPr/>
          <a:lstStyle/>
          <a:p>
            <a:endParaRPr lang="ko-KR" altLang="en-US"/>
          </a:p>
        </p:txBody>
      </p:sp>
      <p:sp>
        <p:nvSpPr>
          <p:cNvPr id="52" name="Text 42"/>
          <p:cNvSpPr/>
          <p:nvPr/>
        </p:nvSpPr>
        <p:spPr>
          <a:xfrm>
            <a:off x="13635038" y="8213675"/>
            <a:ext cx="1314271"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표현 불변성</a:t>
            </a:r>
            <a:endParaRPr lang="en-US" sz="1950" dirty="0"/>
          </a:p>
        </p:txBody>
      </p:sp>
      <p:sp>
        <p:nvSpPr>
          <p:cNvPr id="53" name="Text 43"/>
          <p:cNvSpPr/>
          <p:nvPr/>
        </p:nvSpPr>
        <p:spPr>
          <a:xfrm>
            <a:off x="15799891" y="8180337"/>
            <a:ext cx="1458664" cy="457200"/>
          </a:xfrm>
          <a:prstGeom prst="rect">
            <a:avLst/>
          </a:prstGeom>
          <a:noFill/>
          <a:ln/>
        </p:spPr>
        <p:txBody>
          <a:bodyPr wrap="square" lIns="25400" tIns="25400" rIns="25400" bIns="25400" rtlCol="0" anchor="t">
            <a:normAutofit/>
          </a:bodyPr>
          <a:lstStyle/>
          <a:p>
            <a:pPr marL="0" indent="0" algn="l">
              <a:lnSpc>
                <a:spcPct val="68750"/>
              </a:lnSpc>
              <a:buNone/>
            </a:pPr>
            <a:r>
              <a:rPr lang="en-US" sz="3300" b="1" dirty="0">
                <a:solidFill>
                  <a:srgbClr val="6A5AED"/>
                </a:solidFill>
                <a:latin typeface="Noto Sans KR" pitchFamily="34" charset="0"/>
                <a:ea typeface="Noto Sans KR" pitchFamily="34" charset="-122"/>
                <a:cs typeface="Noto Sans KR" pitchFamily="34" charset="-120"/>
              </a:rPr>
              <a:t>98.8%</a:t>
            </a:r>
            <a:endParaRPr lang="en-US" sz="3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762000"/>
            <a:ext cx="10163994"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서비스 · UI/UX</a:t>
            </a:r>
            <a:endParaRPr lang="en-US" sz="1875" dirty="0"/>
          </a:p>
        </p:txBody>
      </p:sp>
      <p:sp>
        <p:nvSpPr>
          <p:cNvPr id="3" name="Text 1"/>
          <p:cNvSpPr/>
          <p:nvPr/>
        </p:nvSpPr>
        <p:spPr>
          <a:xfrm>
            <a:off x="914400" y="1238250"/>
            <a:ext cx="10163994"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서비스 구조 - 가입부터 광고 결과까지</a:t>
            </a:r>
            <a:endParaRPr lang="en-US" sz="4950" dirty="0"/>
          </a:p>
        </p:txBody>
      </p:sp>
      <p:sp>
        <p:nvSpPr>
          <p:cNvPr id="4" name="Text 2"/>
          <p:cNvSpPr/>
          <p:nvPr/>
        </p:nvSpPr>
        <p:spPr>
          <a:xfrm>
            <a:off x="914400" y="2284958"/>
            <a:ext cx="108630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USER JOURNEY</a:t>
            </a:r>
            <a:endParaRPr lang="en-US" sz="1800" dirty="0"/>
          </a:p>
        </p:txBody>
      </p:sp>
      <p:sp>
        <p:nvSpPr>
          <p:cNvPr id="5" name="Shape 3"/>
          <p:cNvSpPr/>
          <p:nvPr/>
        </p:nvSpPr>
        <p:spPr>
          <a:xfrm>
            <a:off x="914400" y="2704058"/>
            <a:ext cx="9875490" cy="1072604"/>
          </a:xfrm>
          <a:prstGeom prst="roundRect">
            <a:avLst>
              <a:gd name="adj" fmla="val 17761"/>
            </a:avLst>
          </a:prstGeom>
          <a:solidFill>
            <a:srgbClr val="FFFFFF"/>
          </a:solidFill>
          <a:ln/>
        </p:spPr>
        <p:txBody>
          <a:bodyPr/>
          <a:lstStyle/>
          <a:p>
            <a:endParaRPr lang="ko-KR" altLang="en-US"/>
          </a:p>
        </p:txBody>
      </p:sp>
      <p:sp>
        <p:nvSpPr>
          <p:cNvPr id="6" name="Text 4"/>
          <p:cNvSpPr/>
          <p:nvPr/>
        </p:nvSpPr>
        <p:spPr>
          <a:xfrm>
            <a:off x="1200150" y="3078361"/>
            <a:ext cx="373410"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IBM Plex Mono" pitchFamily="34" charset="0"/>
                <a:ea typeface="IBM Plex Mono" pitchFamily="34" charset="-122"/>
                <a:cs typeface="IBM Plex Mono" pitchFamily="34" charset="-120"/>
              </a:rPr>
              <a:t>01</a:t>
            </a:r>
            <a:endParaRPr lang="en-US" sz="19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45010" y="3068836"/>
            <a:ext cx="342900" cy="342900"/>
          </a:xfrm>
          <a:prstGeom prst="rect">
            <a:avLst/>
          </a:prstGeom>
        </p:spPr>
      </p:pic>
      <p:sp>
        <p:nvSpPr>
          <p:cNvPr id="8" name="Text 5"/>
          <p:cNvSpPr/>
          <p:nvPr/>
        </p:nvSpPr>
        <p:spPr>
          <a:xfrm>
            <a:off x="2335560" y="3063180"/>
            <a:ext cx="3562350" cy="392311"/>
          </a:xfrm>
          <a:prstGeom prst="rect">
            <a:avLst/>
          </a:prstGeom>
          <a:noFill/>
          <a:ln/>
        </p:spPr>
        <p:txBody>
          <a:bodyPr wrap="square" lIns="25400" tIns="25400" rIns="25400" bIns="25400" rtlCol="0" anchor="t">
            <a:normAutofit/>
          </a:bodyPr>
          <a:lstStyle/>
          <a:p>
            <a:pPr marL="0" indent="0" algn="l">
              <a:lnSpc>
                <a:spcPct val="82667"/>
              </a:lnSpc>
              <a:buNone/>
            </a:pPr>
            <a:r>
              <a:rPr lang="en-US" sz="2325" b="1" dirty="0">
                <a:solidFill>
                  <a:srgbClr val="1F2937"/>
                </a:solidFill>
                <a:latin typeface="Noto Sans KR" pitchFamily="34" charset="0"/>
                <a:ea typeface="Noto Sans KR" pitchFamily="34" charset="-122"/>
                <a:cs typeface="Noto Sans KR" pitchFamily="34" charset="-120"/>
              </a:rPr>
              <a:t>가입 · 가게 등록</a:t>
            </a:r>
            <a:endParaRPr lang="en-US" sz="2325" dirty="0"/>
          </a:p>
        </p:txBody>
      </p:sp>
      <p:sp>
        <p:nvSpPr>
          <p:cNvPr id="9" name="Text 6"/>
          <p:cNvSpPr/>
          <p:nvPr/>
        </p:nvSpPr>
        <p:spPr>
          <a:xfrm>
            <a:off x="5821710" y="3073152"/>
            <a:ext cx="5150674" cy="372368"/>
          </a:xfrm>
          <a:prstGeom prst="rect">
            <a:avLst/>
          </a:prstGeom>
          <a:noFill/>
          <a:ln/>
        </p:spPr>
        <p:txBody>
          <a:bodyPr wrap="square" lIns="25400" tIns="25400" rIns="25400" bIns="25400" rtlCol="0" anchor="t">
            <a:normAutofit/>
          </a:bodyPr>
          <a:lstStyle/>
          <a:p>
            <a:pPr marL="0" indent="0" algn="l">
              <a:lnSpc>
                <a:spcPct val="94865"/>
              </a:lnSpc>
              <a:buNone/>
            </a:pPr>
            <a:r>
              <a:rPr lang="en-US" sz="1950" dirty="0">
                <a:solidFill>
                  <a:srgbClr val="6B7280"/>
                </a:solidFill>
                <a:latin typeface="Noto Sans KR" pitchFamily="34" charset="0"/>
                <a:ea typeface="Noto Sans KR" pitchFamily="34" charset="-122"/>
                <a:cs typeface="Noto Sans KR" pitchFamily="34" charset="-120"/>
              </a:rPr>
              <a:t>업종 · 위치 입력</a:t>
            </a:r>
            <a:endParaRPr lang="en-US" sz="1950" dirty="0"/>
          </a:p>
        </p:txBody>
      </p:sp>
      <p:sp>
        <p:nvSpPr>
          <p:cNvPr id="10" name="Shape 7"/>
          <p:cNvSpPr/>
          <p:nvPr/>
        </p:nvSpPr>
        <p:spPr>
          <a:xfrm>
            <a:off x="914400" y="3890962"/>
            <a:ext cx="9875490" cy="1072753"/>
          </a:xfrm>
          <a:prstGeom prst="roundRect">
            <a:avLst>
              <a:gd name="adj" fmla="val 17758"/>
            </a:avLst>
          </a:prstGeom>
          <a:solidFill>
            <a:srgbClr val="FFFFFF"/>
          </a:solidFill>
          <a:ln/>
        </p:spPr>
        <p:txBody>
          <a:bodyPr/>
          <a:lstStyle/>
          <a:p>
            <a:endParaRPr lang="ko-KR" altLang="en-US"/>
          </a:p>
        </p:txBody>
      </p:sp>
      <p:sp>
        <p:nvSpPr>
          <p:cNvPr id="11" name="Text 8"/>
          <p:cNvSpPr/>
          <p:nvPr/>
        </p:nvSpPr>
        <p:spPr>
          <a:xfrm>
            <a:off x="1200150" y="4265414"/>
            <a:ext cx="373410"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IBM Plex Mono" pitchFamily="34" charset="0"/>
                <a:ea typeface="IBM Plex Mono" pitchFamily="34" charset="-122"/>
                <a:cs typeface="IBM Plex Mono" pitchFamily="34" charset="-120"/>
              </a:rPr>
              <a:t>02</a:t>
            </a:r>
            <a:endParaRPr lang="en-US" sz="195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010" y="4255889"/>
            <a:ext cx="342900" cy="342900"/>
          </a:xfrm>
          <a:prstGeom prst="rect">
            <a:avLst/>
          </a:prstGeom>
        </p:spPr>
      </p:pic>
      <p:sp>
        <p:nvSpPr>
          <p:cNvPr id="13" name="Text 9"/>
          <p:cNvSpPr/>
          <p:nvPr/>
        </p:nvSpPr>
        <p:spPr>
          <a:xfrm>
            <a:off x="2335560" y="4250234"/>
            <a:ext cx="3562350" cy="392311"/>
          </a:xfrm>
          <a:prstGeom prst="rect">
            <a:avLst/>
          </a:prstGeom>
          <a:noFill/>
          <a:ln/>
        </p:spPr>
        <p:txBody>
          <a:bodyPr wrap="square" lIns="25400" tIns="25400" rIns="25400" bIns="25400" rtlCol="0" anchor="t">
            <a:normAutofit/>
          </a:bodyPr>
          <a:lstStyle/>
          <a:p>
            <a:pPr marL="0" indent="0" algn="l">
              <a:lnSpc>
                <a:spcPct val="82667"/>
              </a:lnSpc>
              <a:buNone/>
            </a:pPr>
            <a:r>
              <a:rPr lang="en-US" sz="2325" b="1" dirty="0">
                <a:solidFill>
                  <a:srgbClr val="1F2937"/>
                </a:solidFill>
                <a:latin typeface="Noto Sans KR" pitchFamily="34" charset="0"/>
                <a:ea typeface="Noto Sans KR" pitchFamily="34" charset="-122"/>
                <a:cs typeface="Noto Sans KR" pitchFamily="34" charset="-120"/>
              </a:rPr>
              <a:t>대시보드</a:t>
            </a:r>
            <a:endParaRPr lang="en-US" sz="2325" dirty="0"/>
          </a:p>
        </p:txBody>
      </p:sp>
      <p:sp>
        <p:nvSpPr>
          <p:cNvPr id="14" name="Text 10"/>
          <p:cNvSpPr/>
          <p:nvPr/>
        </p:nvSpPr>
        <p:spPr>
          <a:xfrm>
            <a:off x="5821710" y="4260205"/>
            <a:ext cx="5150674" cy="372368"/>
          </a:xfrm>
          <a:prstGeom prst="rect">
            <a:avLst/>
          </a:prstGeom>
          <a:noFill/>
          <a:ln/>
        </p:spPr>
        <p:txBody>
          <a:bodyPr wrap="square" lIns="25400" tIns="25400" rIns="25400" bIns="25400" rtlCol="0" anchor="t">
            <a:normAutofit/>
          </a:bodyPr>
          <a:lstStyle/>
          <a:p>
            <a:pPr marL="0" indent="0" algn="l">
              <a:lnSpc>
                <a:spcPct val="94865"/>
              </a:lnSpc>
              <a:buNone/>
            </a:pPr>
            <a:r>
              <a:rPr lang="en-US" sz="1950" dirty="0">
                <a:solidFill>
                  <a:srgbClr val="6B7280"/>
                </a:solidFill>
                <a:latin typeface="Noto Sans KR" pitchFamily="34" charset="0"/>
                <a:ea typeface="Noto Sans KR" pitchFamily="34" charset="-122"/>
                <a:cs typeface="Noto Sans KR" pitchFamily="34" charset="-120"/>
              </a:rPr>
              <a:t>챗봇 기능 선택</a:t>
            </a:r>
            <a:endParaRPr lang="en-US" sz="1950" dirty="0"/>
          </a:p>
        </p:txBody>
      </p:sp>
      <p:sp>
        <p:nvSpPr>
          <p:cNvPr id="15" name="Shape 11"/>
          <p:cNvSpPr/>
          <p:nvPr/>
        </p:nvSpPr>
        <p:spPr>
          <a:xfrm>
            <a:off x="914400" y="5078016"/>
            <a:ext cx="9875490" cy="1072753"/>
          </a:xfrm>
          <a:prstGeom prst="roundRect">
            <a:avLst>
              <a:gd name="adj" fmla="val 17758"/>
            </a:avLst>
          </a:prstGeom>
          <a:solidFill>
            <a:srgbClr val="FFFFFF"/>
          </a:solidFill>
          <a:ln/>
        </p:spPr>
        <p:txBody>
          <a:bodyPr/>
          <a:lstStyle/>
          <a:p>
            <a:endParaRPr lang="ko-KR" altLang="en-US"/>
          </a:p>
        </p:txBody>
      </p:sp>
      <p:sp>
        <p:nvSpPr>
          <p:cNvPr id="16" name="Text 12"/>
          <p:cNvSpPr/>
          <p:nvPr/>
        </p:nvSpPr>
        <p:spPr>
          <a:xfrm>
            <a:off x="1200150" y="5452467"/>
            <a:ext cx="373410"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IBM Plex Mono" pitchFamily="34" charset="0"/>
                <a:ea typeface="IBM Plex Mono" pitchFamily="34" charset="-122"/>
                <a:cs typeface="IBM Plex Mono" pitchFamily="34" charset="-120"/>
              </a:rPr>
              <a:t>03</a:t>
            </a:r>
            <a:endParaRPr lang="en-US" sz="1950"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5010" y="5442942"/>
            <a:ext cx="342900" cy="342900"/>
          </a:xfrm>
          <a:prstGeom prst="rect">
            <a:avLst/>
          </a:prstGeom>
        </p:spPr>
      </p:pic>
      <p:sp>
        <p:nvSpPr>
          <p:cNvPr id="18" name="Text 13"/>
          <p:cNvSpPr/>
          <p:nvPr/>
        </p:nvSpPr>
        <p:spPr>
          <a:xfrm>
            <a:off x="2335560" y="5437287"/>
            <a:ext cx="3562350" cy="392311"/>
          </a:xfrm>
          <a:prstGeom prst="rect">
            <a:avLst/>
          </a:prstGeom>
          <a:noFill/>
          <a:ln/>
        </p:spPr>
        <p:txBody>
          <a:bodyPr wrap="square" lIns="25400" tIns="25400" rIns="25400" bIns="25400" rtlCol="0" anchor="t">
            <a:normAutofit/>
          </a:bodyPr>
          <a:lstStyle/>
          <a:p>
            <a:pPr marL="0" indent="0" algn="l">
              <a:lnSpc>
                <a:spcPct val="82667"/>
              </a:lnSpc>
              <a:buNone/>
            </a:pPr>
            <a:r>
              <a:rPr lang="en-US" sz="2325" b="1" dirty="0">
                <a:solidFill>
                  <a:srgbClr val="1F2937"/>
                </a:solidFill>
                <a:latin typeface="Noto Sans KR" pitchFamily="34" charset="0"/>
                <a:ea typeface="Noto Sans KR" pitchFamily="34" charset="-122"/>
                <a:cs typeface="Noto Sans KR" pitchFamily="34" charset="-120"/>
              </a:rPr>
              <a:t>챗봇 선택</a:t>
            </a:r>
            <a:endParaRPr lang="en-US" sz="2325" dirty="0"/>
          </a:p>
        </p:txBody>
      </p:sp>
      <p:sp>
        <p:nvSpPr>
          <p:cNvPr id="19" name="Text 14"/>
          <p:cNvSpPr/>
          <p:nvPr/>
        </p:nvSpPr>
        <p:spPr>
          <a:xfrm>
            <a:off x="5821710" y="5447258"/>
            <a:ext cx="5150674" cy="372368"/>
          </a:xfrm>
          <a:prstGeom prst="rect">
            <a:avLst/>
          </a:prstGeom>
          <a:noFill/>
          <a:ln/>
        </p:spPr>
        <p:txBody>
          <a:bodyPr wrap="square" lIns="25400" tIns="25400" rIns="25400" bIns="25400" rtlCol="0" anchor="t">
            <a:normAutofit/>
          </a:bodyPr>
          <a:lstStyle/>
          <a:p>
            <a:pPr marL="0" indent="0" algn="l">
              <a:lnSpc>
                <a:spcPct val="94865"/>
              </a:lnSpc>
              <a:buNone/>
            </a:pPr>
            <a:r>
              <a:rPr lang="en-US" sz="1950" dirty="0">
                <a:solidFill>
                  <a:srgbClr val="6B7280"/>
                </a:solidFill>
                <a:latin typeface="Noto Sans KR" pitchFamily="34" charset="0"/>
                <a:ea typeface="Noto Sans KR" pitchFamily="34" charset="-122"/>
                <a:cs typeface="Noto Sans KR" pitchFamily="34" charset="-120"/>
              </a:rPr>
              <a:t>카피니 · 분석이</a:t>
            </a:r>
            <a:endParaRPr lang="en-US" sz="1950" dirty="0"/>
          </a:p>
        </p:txBody>
      </p:sp>
      <p:sp>
        <p:nvSpPr>
          <p:cNvPr id="20" name="Shape 15"/>
          <p:cNvSpPr/>
          <p:nvPr/>
        </p:nvSpPr>
        <p:spPr>
          <a:xfrm>
            <a:off x="914400" y="6265069"/>
            <a:ext cx="9875490" cy="1072753"/>
          </a:xfrm>
          <a:prstGeom prst="roundRect">
            <a:avLst>
              <a:gd name="adj" fmla="val 17758"/>
            </a:avLst>
          </a:prstGeom>
          <a:solidFill>
            <a:srgbClr val="FFFFFF"/>
          </a:solidFill>
          <a:ln/>
        </p:spPr>
        <p:txBody>
          <a:bodyPr/>
          <a:lstStyle/>
          <a:p>
            <a:endParaRPr lang="ko-KR" altLang="en-US"/>
          </a:p>
        </p:txBody>
      </p:sp>
      <p:sp>
        <p:nvSpPr>
          <p:cNvPr id="21" name="Text 16"/>
          <p:cNvSpPr/>
          <p:nvPr/>
        </p:nvSpPr>
        <p:spPr>
          <a:xfrm>
            <a:off x="1200150" y="6639520"/>
            <a:ext cx="373410"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IBM Plex Mono" pitchFamily="34" charset="0"/>
                <a:ea typeface="IBM Plex Mono" pitchFamily="34" charset="-122"/>
                <a:cs typeface="IBM Plex Mono" pitchFamily="34" charset="-120"/>
              </a:rPr>
              <a:t>04</a:t>
            </a:r>
            <a:endParaRPr lang="en-US" sz="1950"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45010" y="6629995"/>
            <a:ext cx="342900" cy="342900"/>
          </a:xfrm>
          <a:prstGeom prst="rect">
            <a:avLst/>
          </a:prstGeom>
        </p:spPr>
      </p:pic>
      <p:sp>
        <p:nvSpPr>
          <p:cNvPr id="23" name="Text 17"/>
          <p:cNvSpPr/>
          <p:nvPr/>
        </p:nvSpPr>
        <p:spPr>
          <a:xfrm>
            <a:off x="2335560" y="6624340"/>
            <a:ext cx="3562350" cy="392311"/>
          </a:xfrm>
          <a:prstGeom prst="rect">
            <a:avLst/>
          </a:prstGeom>
          <a:noFill/>
          <a:ln/>
        </p:spPr>
        <p:txBody>
          <a:bodyPr wrap="square" lIns="25400" tIns="25400" rIns="25400" bIns="25400" rtlCol="0" anchor="t">
            <a:normAutofit/>
          </a:bodyPr>
          <a:lstStyle/>
          <a:p>
            <a:pPr marL="0" indent="0" algn="l">
              <a:lnSpc>
                <a:spcPct val="82667"/>
              </a:lnSpc>
              <a:buNone/>
            </a:pPr>
            <a:r>
              <a:rPr lang="en-US" sz="2325" b="1" dirty="0">
                <a:solidFill>
                  <a:srgbClr val="1F2937"/>
                </a:solidFill>
                <a:latin typeface="Noto Sans KR" pitchFamily="34" charset="0"/>
                <a:ea typeface="Noto Sans KR" pitchFamily="34" charset="-122"/>
                <a:cs typeface="Noto Sans KR" pitchFamily="34" charset="-120"/>
              </a:rPr>
              <a:t>크레딧 확인 · 생성</a:t>
            </a:r>
            <a:endParaRPr lang="en-US" sz="2325" dirty="0"/>
          </a:p>
        </p:txBody>
      </p:sp>
      <p:sp>
        <p:nvSpPr>
          <p:cNvPr id="24" name="Text 18"/>
          <p:cNvSpPr/>
          <p:nvPr/>
        </p:nvSpPr>
        <p:spPr>
          <a:xfrm>
            <a:off x="5821710" y="6634311"/>
            <a:ext cx="5150674" cy="372368"/>
          </a:xfrm>
          <a:prstGeom prst="rect">
            <a:avLst/>
          </a:prstGeom>
          <a:noFill/>
          <a:ln/>
        </p:spPr>
        <p:txBody>
          <a:bodyPr wrap="square" lIns="25400" tIns="25400" rIns="25400" bIns="25400" rtlCol="0" anchor="t">
            <a:normAutofit/>
          </a:bodyPr>
          <a:lstStyle/>
          <a:p>
            <a:pPr marL="0" indent="0" algn="l">
              <a:lnSpc>
                <a:spcPct val="94865"/>
              </a:lnSpc>
              <a:buNone/>
            </a:pPr>
            <a:r>
              <a:rPr lang="en-US" sz="1950" dirty="0">
                <a:solidFill>
                  <a:srgbClr val="6B7280"/>
                </a:solidFill>
                <a:latin typeface="Noto Sans KR" pitchFamily="34" charset="0"/>
                <a:ea typeface="Noto Sans KR" pitchFamily="34" charset="-122"/>
                <a:cs typeface="Noto Sans KR" pitchFamily="34" charset="-120"/>
              </a:rPr>
              <a:t>예상 차감 동의</a:t>
            </a:r>
            <a:endParaRPr lang="en-US" sz="1950" dirty="0"/>
          </a:p>
        </p:txBody>
      </p:sp>
      <p:sp>
        <p:nvSpPr>
          <p:cNvPr id="25" name="Shape 19"/>
          <p:cNvSpPr/>
          <p:nvPr/>
        </p:nvSpPr>
        <p:spPr>
          <a:xfrm>
            <a:off x="914400" y="7452122"/>
            <a:ext cx="9875490" cy="1072753"/>
          </a:xfrm>
          <a:prstGeom prst="roundRect">
            <a:avLst>
              <a:gd name="adj" fmla="val 17758"/>
            </a:avLst>
          </a:prstGeom>
          <a:solidFill>
            <a:srgbClr val="FFFFFF"/>
          </a:solidFill>
          <a:ln/>
        </p:spPr>
        <p:txBody>
          <a:bodyPr/>
          <a:lstStyle/>
          <a:p>
            <a:endParaRPr lang="ko-KR" altLang="en-US"/>
          </a:p>
        </p:txBody>
      </p:sp>
      <p:sp>
        <p:nvSpPr>
          <p:cNvPr id="26" name="Text 20"/>
          <p:cNvSpPr/>
          <p:nvPr/>
        </p:nvSpPr>
        <p:spPr>
          <a:xfrm>
            <a:off x="1200150" y="7826573"/>
            <a:ext cx="373410" cy="361950"/>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IBM Plex Mono" pitchFamily="34" charset="0"/>
                <a:ea typeface="IBM Plex Mono" pitchFamily="34" charset="-122"/>
                <a:cs typeface="IBM Plex Mono" pitchFamily="34" charset="-120"/>
              </a:rPr>
              <a:t>05</a:t>
            </a:r>
            <a:endParaRPr lang="en-US" sz="1950"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45010" y="7817048"/>
            <a:ext cx="342900" cy="342900"/>
          </a:xfrm>
          <a:prstGeom prst="rect">
            <a:avLst/>
          </a:prstGeom>
        </p:spPr>
      </p:pic>
      <p:sp>
        <p:nvSpPr>
          <p:cNvPr id="28" name="Text 21"/>
          <p:cNvSpPr/>
          <p:nvPr/>
        </p:nvSpPr>
        <p:spPr>
          <a:xfrm>
            <a:off x="2335560" y="7811393"/>
            <a:ext cx="3562350" cy="392311"/>
          </a:xfrm>
          <a:prstGeom prst="rect">
            <a:avLst/>
          </a:prstGeom>
          <a:noFill/>
          <a:ln/>
        </p:spPr>
        <p:txBody>
          <a:bodyPr wrap="square" lIns="25400" tIns="25400" rIns="25400" bIns="25400" rtlCol="0" anchor="t">
            <a:normAutofit/>
          </a:bodyPr>
          <a:lstStyle/>
          <a:p>
            <a:pPr marL="0" indent="0" algn="l">
              <a:lnSpc>
                <a:spcPct val="82667"/>
              </a:lnSpc>
              <a:buNone/>
            </a:pPr>
            <a:r>
              <a:rPr lang="en-US" sz="2325" b="1" dirty="0">
                <a:solidFill>
                  <a:srgbClr val="1F2937"/>
                </a:solidFill>
                <a:latin typeface="Noto Sans KR" pitchFamily="34" charset="0"/>
                <a:ea typeface="Noto Sans KR" pitchFamily="34" charset="-122"/>
                <a:cs typeface="Noto Sans KR" pitchFamily="34" charset="-120"/>
              </a:rPr>
              <a:t>결과 확인 · 재사용</a:t>
            </a:r>
            <a:endParaRPr lang="en-US" sz="2325" dirty="0"/>
          </a:p>
        </p:txBody>
      </p:sp>
      <p:sp>
        <p:nvSpPr>
          <p:cNvPr id="29" name="Text 22"/>
          <p:cNvSpPr/>
          <p:nvPr/>
        </p:nvSpPr>
        <p:spPr>
          <a:xfrm>
            <a:off x="5821710" y="7821364"/>
            <a:ext cx="5150674" cy="372368"/>
          </a:xfrm>
          <a:prstGeom prst="rect">
            <a:avLst/>
          </a:prstGeom>
          <a:noFill/>
          <a:ln/>
        </p:spPr>
        <p:txBody>
          <a:bodyPr wrap="square" lIns="25400" tIns="25400" rIns="25400" bIns="25400" rtlCol="0" anchor="t">
            <a:normAutofit/>
          </a:bodyPr>
          <a:lstStyle/>
          <a:p>
            <a:pPr marL="0" indent="0" algn="l">
              <a:lnSpc>
                <a:spcPct val="94865"/>
              </a:lnSpc>
              <a:buNone/>
            </a:pPr>
            <a:r>
              <a:rPr lang="en-US" sz="1950" dirty="0">
                <a:solidFill>
                  <a:srgbClr val="6B7280"/>
                </a:solidFill>
                <a:latin typeface="Noto Sans KR" pitchFamily="34" charset="0"/>
                <a:ea typeface="Noto Sans KR" pitchFamily="34" charset="-122"/>
                <a:cs typeface="Noto Sans KR" pitchFamily="34" charset="-120"/>
              </a:rPr>
              <a:t>3안 선택 · 이력 관리</a:t>
            </a:r>
            <a:endParaRPr lang="en-US" sz="1950" dirty="0"/>
          </a:p>
        </p:txBody>
      </p:sp>
      <p:sp>
        <p:nvSpPr>
          <p:cNvPr id="30" name="Text 23"/>
          <p:cNvSpPr/>
          <p:nvPr/>
        </p:nvSpPr>
        <p:spPr>
          <a:xfrm>
            <a:off x="11094690" y="2284958"/>
            <a:ext cx="690680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REQUEST FLOW</a:t>
            </a:r>
            <a:endParaRPr lang="en-US" sz="1800" dirty="0"/>
          </a:p>
        </p:txBody>
      </p:sp>
      <p:sp>
        <p:nvSpPr>
          <p:cNvPr id="31" name="Shape 24"/>
          <p:cNvSpPr/>
          <p:nvPr/>
        </p:nvSpPr>
        <p:spPr>
          <a:xfrm>
            <a:off x="11094690" y="2665958"/>
            <a:ext cx="6278910" cy="1228725"/>
          </a:xfrm>
          <a:prstGeom prst="roundRect">
            <a:avLst>
              <a:gd name="adj" fmla="val 15504"/>
            </a:avLst>
          </a:prstGeom>
          <a:solidFill>
            <a:srgbClr val="FFFFFF"/>
          </a:solidFill>
          <a:ln/>
        </p:spPr>
        <p:txBody>
          <a:bodyPr/>
          <a:lstStyle/>
          <a:p>
            <a:endParaRPr lang="ko-KR" altLang="en-US"/>
          </a:p>
        </p:txBody>
      </p:sp>
      <p:sp>
        <p:nvSpPr>
          <p:cNvPr id="32" name="Text 25"/>
          <p:cNvSpPr/>
          <p:nvPr/>
        </p:nvSpPr>
        <p:spPr>
          <a:xfrm>
            <a:off x="11361390" y="2875508"/>
            <a:ext cx="6320061"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React / Vite</a:t>
            </a:r>
            <a:endParaRPr lang="en-US" sz="2250" dirty="0"/>
          </a:p>
        </p:txBody>
      </p:sp>
      <p:sp>
        <p:nvSpPr>
          <p:cNvPr id="33" name="Text 26"/>
          <p:cNvSpPr/>
          <p:nvPr/>
        </p:nvSpPr>
        <p:spPr>
          <a:xfrm>
            <a:off x="11361390" y="3351758"/>
            <a:ext cx="632006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주요 화면 8종</a:t>
            </a:r>
            <a:endParaRPr lang="en-US" sz="1800" dirty="0"/>
          </a:p>
        </p:txBody>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119771" y="3970883"/>
            <a:ext cx="228600" cy="285750"/>
          </a:xfrm>
          <a:prstGeom prst="rect">
            <a:avLst/>
          </a:prstGeom>
        </p:spPr>
      </p:pic>
      <p:sp>
        <p:nvSpPr>
          <p:cNvPr id="35" name="Shape 27"/>
          <p:cNvSpPr/>
          <p:nvPr/>
        </p:nvSpPr>
        <p:spPr>
          <a:xfrm>
            <a:off x="11094690" y="4332833"/>
            <a:ext cx="6278910" cy="1228725"/>
          </a:xfrm>
          <a:prstGeom prst="roundRect">
            <a:avLst>
              <a:gd name="adj" fmla="val 15504"/>
            </a:avLst>
          </a:prstGeom>
          <a:solidFill>
            <a:srgbClr val="FFFFFF"/>
          </a:solidFill>
          <a:ln/>
        </p:spPr>
        <p:txBody>
          <a:bodyPr/>
          <a:lstStyle/>
          <a:p>
            <a:endParaRPr lang="ko-KR" altLang="en-US"/>
          </a:p>
        </p:txBody>
      </p:sp>
      <p:sp>
        <p:nvSpPr>
          <p:cNvPr id="36" name="Text 28"/>
          <p:cNvSpPr/>
          <p:nvPr/>
        </p:nvSpPr>
        <p:spPr>
          <a:xfrm>
            <a:off x="11361390" y="4542383"/>
            <a:ext cx="6320061"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FastAPI</a:t>
            </a:r>
            <a:endParaRPr lang="en-US" sz="2250" dirty="0"/>
          </a:p>
        </p:txBody>
      </p:sp>
      <p:sp>
        <p:nvSpPr>
          <p:cNvPr id="37" name="Text 29"/>
          <p:cNvSpPr/>
          <p:nvPr/>
        </p:nvSpPr>
        <p:spPr>
          <a:xfrm>
            <a:off x="11361390" y="5018633"/>
            <a:ext cx="632006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라우터 · 인증 · 이력</a:t>
            </a:r>
            <a:endParaRPr lang="en-US" sz="1800" dirty="0"/>
          </a:p>
        </p:txBody>
      </p:sp>
      <p:pic>
        <p:nvPicPr>
          <p:cNvPr id="3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119771" y="5637758"/>
            <a:ext cx="228600" cy="285750"/>
          </a:xfrm>
          <a:prstGeom prst="rect">
            <a:avLst/>
          </a:prstGeom>
        </p:spPr>
      </p:pic>
      <p:sp>
        <p:nvSpPr>
          <p:cNvPr id="39" name="Shape 30"/>
          <p:cNvSpPr/>
          <p:nvPr/>
        </p:nvSpPr>
        <p:spPr>
          <a:xfrm>
            <a:off x="11094690" y="5999708"/>
            <a:ext cx="6278910" cy="1228725"/>
          </a:xfrm>
          <a:prstGeom prst="roundRect">
            <a:avLst>
              <a:gd name="adj" fmla="val 15504"/>
            </a:avLst>
          </a:prstGeom>
          <a:solidFill>
            <a:srgbClr val="6A5AED"/>
          </a:solidFill>
          <a:ln/>
        </p:spPr>
        <p:txBody>
          <a:bodyPr/>
          <a:lstStyle/>
          <a:p>
            <a:endParaRPr lang="ko-KR" altLang="en-US"/>
          </a:p>
        </p:txBody>
      </p:sp>
      <p:sp>
        <p:nvSpPr>
          <p:cNvPr id="40" name="Text 31"/>
          <p:cNvSpPr/>
          <p:nvPr/>
        </p:nvSpPr>
        <p:spPr>
          <a:xfrm>
            <a:off x="11361390" y="6209258"/>
            <a:ext cx="6320061"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Noto Sans KR" pitchFamily="34" charset="0"/>
                <a:ea typeface="Noto Sans KR" pitchFamily="34" charset="-122"/>
                <a:cs typeface="Noto Sans KR" pitchFamily="34" charset="-120"/>
              </a:rPr>
              <a:t>생성 · 크레딧 서비스</a:t>
            </a:r>
            <a:endParaRPr lang="en-US" sz="2250" dirty="0"/>
          </a:p>
        </p:txBody>
      </p:sp>
      <p:sp>
        <p:nvSpPr>
          <p:cNvPr id="41" name="Text 32"/>
          <p:cNvSpPr/>
          <p:nvPr/>
        </p:nvSpPr>
        <p:spPr>
          <a:xfrm>
            <a:off x="11361390" y="6685508"/>
            <a:ext cx="632006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D6D0FF"/>
                </a:solidFill>
                <a:latin typeface="Noto Sans KR" pitchFamily="34" charset="0"/>
                <a:ea typeface="Noto Sans KR" pitchFamily="34" charset="-122"/>
                <a:cs typeface="Noto Sans KR" pitchFamily="34" charset="-120"/>
              </a:rPr>
              <a:t>차감 → 생성 → 실패 시 롤백</a:t>
            </a:r>
            <a:endParaRPr lang="en-US" sz="1800" dirty="0"/>
          </a:p>
        </p:txBody>
      </p:sp>
      <p:pic>
        <p:nvPicPr>
          <p:cNvPr id="4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119771" y="7304633"/>
            <a:ext cx="228600" cy="285750"/>
          </a:xfrm>
          <a:prstGeom prst="rect">
            <a:avLst/>
          </a:prstGeom>
        </p:spPr>
      </p:pic>
      <p:sp>
        <p:nvSpPr>
          <p:cNvPr id="43" name="Shape 33"/>
          <p:cNvSpPr/>
          <p:nvPr/>
        </p:nvSpPr>
        <p:spPr>
          <a:xfrm>
            <a:off x="11094690" y="7666583"/>
            <a:ext cx="6278910" cy="1228725"/>
          </a:xfrm>
          <a:prstGeom prst="roundRect">
            <a:avLst>
              <a:gd name="adj" fmla="val 15504"/>
            </a:avLst>
          </a:prstGeom>
          <a:solidFill>
            <a:srgbClr val="FFFFFF"/>
          </a:solidFill>
          <a:ln/>
        </p:spPr>
        <p:txBody>
          <a:bodyPr/>
          <a:lstStyle/>
          <a:p>
            <a:endParaRPr lang="ko-KR" altLang="en-US"/>
          </a:p>
        </p:txBody>
      </p:sp>
      <p:sp>
        <p:nvSpPr>
          <p:cNvPr id="44" name="Text 34"/>
          <p:cNvSpPr/>
          <p:nvPr/>
        </p:nvSpPr>
        <p:spPr>
          <a:xfrm>
            <a:off x="11361390" y="7876133"/>
            <a:ext cx="6320061" cy="457200"/>
          </a:xfrm>
          <a:prstGeom prst="rect">
            <a:avLst/>
          </a:prstGeom>
          <a:noFill/>
          <a:ln/>
        </p:spPr>
        <p:txBody>
          <a:bodyPr wrap="square" lIns="25400" tIns="25400" rIns="25400" bIns="25400" rtlCol="0" anchor="t">
            <a:normAutofit/>
          </a:bodyPr>
          <a:lstStyle/>
          <a:p>
            <a:pPr marL="0" indent="0" algn="l">
              <a:buNone/>
            </a:pPr>
            <a:r>
              <a:rPr lang="en-US" sz="2250" b="1" dirty="0">
                <a:solidFill>
                  <a:srgbClr val="1F2937"/>
                </a:solidFill>
                <a:latin typeface="Noto Sans KR" pitchFamily="34" charset="0"/>
                <a:ea typeface="Noto Sans KR" pitchFamily="34" charset="-122"/>
                <a:cs typeface="Noto Sans KR" pitchFamily="34" charset="-120"/>
              </a:rPr>
              <a:t>SQLite · SQLAlchemy</a:t>
            </a:r>
            <a:endParaRPr lang="en-US" sz="2250" dirty="0"/>
          </a:p>
        </p:txBody>
      </p:sp>
      <p:sp>
        <p:nvSpPr>
          <p:cNvPr id="45" name="Text 35"/>
          <p:cNvSpPr/>
          <p:nvPr/>
        </p:nvSpPr>
        <p:spPr>
          <a:xfrm>
            <a:off x="11361390" y="8352383"/>
            <a:ext cx="6320061"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users · payments · generations</a:t>
            </a:r>
            <a:endParaRPr lang="en-US" sz="1800" dirty="0"/>
          </a:p>
        </p:txBody>
      </p:sp>
      <p:sp>
        <p:nvSpPr>
          <p:cNvPr id="46" name="Shape 36"/>
          <p:cNvSpPr/>
          <p:nvPr/>
        </p:nvSpPr>
        <p:spPr>
          <a:xfrm>
            <a:off x="914400" y="8848725"/>
            <a:ext cx="16459200" cy="752475"/>
          </a:xfrm>
          <a:prstGeom prst="roundRect">
            <a:avLst>
              <a:gd name="adj" fmla="val 25316"/>
            </a:avLst>
          </a:prstGeom>
          <a:solidFill>
            <a:srgbClr val="E9EBF2"/>
          </a:solidFill>
          <a:ln/>
        </p:spPr>
        <p:txBody>
          <a:bodyPr/>
          <a:lstStyle/>
          <a:p>
            <a:endParaRPr lang="ko-KR" altLang="en-US"/>
          </a:p>
        </p:txBody>
      </p:sp>
      <p:sp>
        <p:nvSpPr>
          <p:cNvPr id="47" name="Text 37"/>
          <p:cNvSpPr/>
          <p:nvPr/>
        </p:nvSpPr>
        <p:spPr>
          <a:xfrm>
            <a:off x="1200150" y="9072563"/>
            <a:ext cx="899220" cy="342900"/>
          </a:xfrm>
          <a:prstGeom prst="rect">
            <a:avLst/>
          </a:prstGeom>
          <a:noFill/>
          <a:ln/>
        </p:spPr>
        <p:txBody>
          <a:bodyPr wrap="none" lIns="25400" tIns="25400" rIns="25400" bIns="25400" rtlCol="0" anchor="t">
            <a:normAutofit/>
          </a:bodyPr>
          <a:lstStyle/>
          <a:p>
            <a:pPr marL="0" indent="0" algn="l">
              <a:buNone/>
            </a:pPr>
            <a:r>
              <a:rPr lang="en-US" sz="1800" dirty="0">
                <a:solidFill>
                  <a:srgbClr val="6B7280"/>
                </a:solidFill>
                <a:latin typeface="IBM Plex Mono" pitchFamily="34" charset="0"/>
                <a:ea typeface="IBM Plex Mono" pitchFamily="34" charset="-122"/>
                <a:cs typeface="IBM Plex Mono" pitchFamily="34" charset="-120"/>
              </a:rPr>
              <a:t>DEPLOY</a:t>
            </a:r>
            <a:endParaRPr lang="en-US" sz="1800" dirty="0"/>
          </a:p>
        </p:txBody>
      </p:sp>
      <p:sp>
        <p:nvSpPr>
          <p:cNvPr id="48" name="Text 38"/>
          <p:cNvSpPr/>
          <p:nvPr/>
        </p:nvSpPr>
        <p:spPr>
          <a:xfrm>
            <a:off x="2194620" y="9039225"/>
            <a:ext cx="2077819"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F2937"/>
                </a:solidFill>
                <a:latin typeface="Noto Sans KR" pitchFamily="34" charset="0"/>
                <a:ea typeface="Noto Sans KR" pitchFamily="34" charset="-122"/>
                <a:cs typeface="Noto Sans KR" pitchFamily="34" charset="-120"/>
              </a:rPr>
              <a:t>GitHub Actions</a:t>
            </a:r>
            <a:endParaRPr lang="en-US" sz="2025" dirty="0"/>
          </a:p>
        </p:txBody>
      </p:sp>
      <p:sp>
        <p:nvSpPr>
          <p:cNvPr id="49" name="Text 39"/>
          <p:cNvSpPr/>
          <p:nvPr/>
        </p:nvSpPr>
        <p:spPr>
          <a:xfrm>
            <a:off x="4254996" y="9048750"/>
            <a:ext cx="3238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A99BF5"/>
                </a:solidFill>
                <a:latin typeface="Noto Sans KR" pitchFamily="34" charset="0"/>
                <a:ea typeface="Noto Sans KR" pitchFamily="34" charset="-122"/>
                <a:cs typeface="Noto Sans KR" pitchFamily="34" charset="-120"/>
              </a:rPr>
              <a:t>→</a:t>
            </a:r>
            <a:endParaRPr lang="en-US" sz="1950" dirty="0"/>
          </a:p>
        </p:txBody>
      </p:sp>
      <p:sp>
        <p:nvSpPr>
          <p:cNvPr id="50" name="Text 40"/>
          <p:cNvSpPr/>
          <p:nvPr/>
        </p:nvSpPr>
        <p:spPr>
          <a:xfrm>
            <a:off x="4674096" y="9039225"/>
            <a:ext cx="2337792"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F2937"/>
                </a:solidFill>
                <a:latin typeface="Noto Sans KR" pitchFamily="34" charset="0"/>
                <a:ea typeface="Noto Sans KR" pitchFamily="34" charset="-122"/>
                <a:cs typeface="Noto Sans KR" pitchFamily="34" charset="-120"/>
              </a:rPr>
              <a:t>Docker Compose</a:t>
            </a:r>
            <a:endParaRPr lang="en-US" sz="2025" dirty="0"/>
          </a:p>
        </p:txBody>
      </p:sp>
      <p:sp>
        <p:nvSpPr>
          <p:cNvPr id="51" name="Text 41"/>
          <p:cNvSpPr/>
          <p:nvPr/>
        </p:nvSpPr>
        <p:spPr>
          <a:xfrm>
            <a:off x="6970812" y="9048750"/>
            <a:ext cx="3238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A99BF5"/>
                </a:solidFill>
                <a:latin typeface="Noto Sans KR" pitchFamily="34" charset="0"/>
                <a:ea typeface="Noto Sans KR" pitchFamily="34" charset="-122"/>
                <a:cs typeface="Noto Sans KR" pitchFamily="34" charset="-120"/>
              </a:rPr>
              <a:t>→</a:t>
            </a:r>
            <a:endParaRPr lang="en-US" sz="1950" dirty="0"/>
          </a:p>
        </p:txBody>
      </p:sp>
      <p:sp>
        <p:nvSpPr>
          <p:cNvPr id="52" name="Text 42"/>
          <p:cNvSpPr/>
          <p:nvPr/>
        </p:nvSpPr>
        <p:spPr>
          <a:xfrm>
            <a:off x="7389912" y="9039225"/>
            <a:ext cx="1037779"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1F2937"/>
                </a:solidFill>
                <a:latin typeface="Noto Sans KR" pitchFamily="34" charset="0"/>
                <a:ea typeface="Noto Sans KR" pitchFamily="34" charset="-122"/>
                <a:cs typeface="Noto Sans KR" pitchFamily="34" charset="-120"/>
              </a:rPr>
              <a:t>GCP VM</a:t>
            </a:r>
            <a:endParaRPr lang="en-US" sz="2025" dirty="0"/>
          </a:p>
        </p:txBody>
      </p:sp>
      <p:sp>
        <p:nvSpPr>
          <p:cNvPr id="53" name="Text 43"/>
          <p:cNvSpPr/>
          <p:nvPr/>
        </p:nvSpPr>
        <p:spPr>
          <a:xfrm>
            <a:off x="13722846" y="9058275"/>
            <a:ext cx="3701504"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B7280"/>
                </a:solidFill>
                <a:latin typeface="Noto Sans KR" pitchFamily="34" charset="0"/>
                <a:ea typeface="Noto Sans KR" pitchFamily="34" charset="-122"/>
                <a:cs typeface="Noto Sans KR" pitchFamily="34" charset="-120"/>
              </a:rPr>
              <a:t>동일 계약으로 Mock ↔ 실모델 전환</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723900"/>
            <a:ext cx="4571464"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서비스 · UI/UX</a:t>
            </a:r>
            <a:endParaRPr lang="en-US" sz="1875" dirty="0"/>
          </a:p>
        </p:txBody>
      </p:sp>
      <p:sp>
        <p:nvSpPr>
          <p:cNvPr id="3" name="Text 1"/>
          <p:cNvSpPr/>
          <p:nvPr/>
        </p:nvSpPr>
        <p:spPr>
          <a:xfrm>
            <a:off x="914400" y="1200150"/>
            <a:ext cx="4571464"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실제 화면 - 진입</a:t>
            </a:r>
            <a:endParaRPr lang="en-US" sz="4950" dirty="0"/>
          </a:p>
        </p:txBody>
      </p:sp>
      <p:sp>
        <p:nvSpPr>
          <p:cNvPr id="4" name="Shape 2"/>
          <p:cNvSpPr/>
          <p:nvPr/>
        </p:nvSpPr>
        <p:spPr>
          <a:xfrm>
            <a:off x="914400" y="2227808"/>
            <a:ext cx="8124825" cy="7411492"/>
          </a:xfrm>
          <a:prstGeom prst="roundRect">
            <a:avLst>
              <a:gd name="adj" fmla="val 3341"/>
            </a:avLst>
          </a:prstGeom>
          <a:solidFill>
            <a:srgbClr val="FFFFFF"/>
          </a:solidFill>
          <a:ln/>
        </p:spPr>
        <p:txBody>
          <a:bodyPr/>
          <a:lstStyle/>
          <a:p>
            <a:endParaRPr lang="ko-KR" altLang="en-US"/>
          </a:p>
        </p:txBody>
      </p:sp>
      <p:sp>
        <p:nvSpPr>
          <p:cNvPr id="5" name="Shape 3"/>
          <p:cNvSpPr/>
          <p:nvPr/>
        </p:nvSpPr>
        <p:spPr>
          <a:xfrm>
            <a:off x="1123950" y="2437358"/>
            <a:ext cx="7705725" cy="6373267"/>
          </a:xfrm>
          <a:prstGeom prst="roundRect">
            <a:avLst>
              <a:gd name="adj" fmla="val 2092"/>
            </a:avLst>
          </a:prstGeom>
          <a:solidFill>
            <a:srgbClr val="F5F6FA"/>
          </a:solidFill>
          <a:ln/>
        </p:spPr>
        <p:txBody>
          <a:bodyPr/>
          <a:lstStyle/>
          <a:p>
            <a:endParaRPr lang="ko-KR" altLang="en-US"/>
          </a:p>
        </p:txBody>
      </p:sp>
      <p:pic>
        <p:nvPicPr>
          <p:cNvPr id="6" name="Image 0" descr="preencoded.png"/>
          <p:cNvPicPr>
            <a:picLocks noChangeAspect="1"/>
          </p:cNvPicPr>
          <p:nvPr/>
        </p:nvPicPr>
        <p:blipFill>
          <a:blip r:embed="rId3"/>
          <a:srcRect t="-18853" b="-18853"/>
          <a:stretch/>
        </p:blipFill>
        <p:spPr>
          <a:xfrm>
            <a:off x="1123950" y="2437358"/>
            <a:ext cx="7705725" cy="6373267"/>
          </a:xfrm>
          <a:prstGeom prst="rect">
            <a:avLst/>
          </a:prstGeom>
        </p:spPr>
      </p:pic>
      <p:sp>
        <p:nvSpPr>
          <p:cNvPr id="7" name="Text 4"/>
          <p:cNvSpPr/>
          <p:nvPr/>
        </p:nvSpPr>
        <p:spPr>
          <a:xfrm>
            <a:off x="1123950" y="9044859"/>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01</a:t>
            </a:r>
            <a:endParaRPr lang="en-US" sz="1800" dirty="0"/>
          </a:p>
        </p:txBody>
      </p:sp>
      <p:sp>
        <p:nvSpPr>
          <p:cNvPr id="8" name="Text 5"/>
          <p:cNvSpPr/>
          <p:nvPr/>
        </p:nvSpPr>
        <p:spPr>
          <a:xfrm>
            <a:off x="1531739" y="8963025"/>
            <a:ext cx="970062"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로그인</a:t>
            </a:r>
            <a:endParaRPr lang="en-US" sz="2550" dirty="0"/>
          </a:p>
        </p:txBody>
      </p:sp>
      <p:sp>
        <p:nvSpPr>
          <p:cNvPr id="9" name="Text 6"/>
          <p:cNvSpPr/>
          <p:nvPr/>
        </p:nvSpPr>
        <p:spPr>
          <a:xfrm>
            <a:off x="2558951" y="9058275"/>
            <a:ext cx="1768897"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B7280"/>
                </a:solidFill>
                <a:latin typeface="Noto Sans KR" pitchFamily="34" charset="0"/>
                <a:ea typeface="Noto Sans KR" pitchFamily="34" charset="-122"/>
                <a:cs typeface="Noto Sans KR" pitchFamily="34" charset="-120"/>
              </a:rPr>
              <a:t>업종 · 위치 등록</a:t>
            </a:r>
            <a:endParaRPr lang="en-US" sz="1875" dirty="0"/>
          </a:p>
        </p:txBody>
      </p:sp>
      <p:sp>
        <p:nvSpPr>
          <p:cNvPr id="10" name="Shape 7"/>
          <p:cNvSpPr/>
          <p:nvPr/>
        </p:nvSpPr>
        <p:spPr>
          <a:xfrm>
            <a:off x="9248775" y="2227808"/>
            <a:ext cx="8124825" cy="7411492"/>
          </a:xfrm>
          <a:prstGeom prst="roundRect">
            <a:avLst>
              <a:gd name="adj" fmla="val 3341"/>
            </a:avLst>
          </a:prstGeom>
          <a:solidFill>
            <a:srgbClr val="FFFFFF"/>
          </a:solidFill>
          <a:ln/>
        </p:spPr>
        <p:txBody>
          <a:bodyPr/>
          <a:lstStyle/>
          <a:p>
            <a:endParaRPr lang="ko-KR" altLang="en-US"/>
          </a:p>
        </p:txBody>
      </p:sp>
      <p:sp>
        <p:nvSpPr>
          <p:cNvPr id="11" name="Shape 8"/>
          <p:cNvSpPr/>
          <p:nvPr/>
        </p:nvSpPr>
        <p:spPr>
          <a:xfrm>
            <a:off x="9458325" y="2437358"/>
            <a:ext cx="7705725" cy="6373267"/>
          </a:xfrm>
          <a:prstGeom prst="roundRect">
            <a:avLst>
              <a:gd name="adj" fmla="val 2092"/>
            </a:avLst>
          </a:prstGeom>
          <a:solidFill>
            <a:srgbClr val="F5F6FA"/>
          </a:solidFill>
          <a:ln/>
        </p:spPr>
        <p:txBody>
          <a:bodyPr/>
          <a:lstStyle/>
          <a:p>
            <a:endParaRPr lang="ko-KR" altLang="en-US"/>
          </a:p>
        </p:txBody>
      </p:sp>
      <p:pic>
        <p:nvPicPr>
          <p:cNvPr id="12" name="Image 1" descr="preencoded.png"/>
          <p:cNvPicPr>
            <a:picLocks noChangeAspect="1"/>
          </p:cNvPicPr>
          <p:nvPr/>
        </p:nvPicPr>
        <p:blipFill>
          <a:blip r:embed="rId4"/>
          <a:srcRect t="-22449" b="-22449"/>
          <a:stretch/>
        </p:blipFill>
        <p:spPr>
          <a:xfrm>
            <a:off x="9458325" y="2437358"/>
            <a:ext cx="7705725" cy="6373267"/>
          </a:xfrm>
          <a:prstGeom prst="rect">
            <a:avLst/>
          </a:prstGeom>
        </p:spPr>
      </p:pic>
      <p:sp>
        <p:nvSpPr>
          <p:cNvPr id="13" name="Text 9"/>
          <p:cNvSpPr/>
          <p:nvPr/>
        </p:nvSpPr>
        <p:spPr>
          <a:xfrm>
            <a:off x="9458325" y="9031980"/>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02</a:t>
            </a:r>
            <a:endParaRPr lang="en-US" sz="1800" dirty="0"/>
          </a:p>
        </p:txBody>
      </p:sp>
      <p:sp>
        <p:nvSpPr>
          <p:cNvPr id="14" name="Text 10"/>
          <p:cNvSpPr/>
          <p:nvPr/>
        </p:nvSpPr>
        <p:spPr>
          <a:xfrm>
            <a:off x="9866114" y="8963025"/>
            <a:ext cx="1268016"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대시보드</a:t>
            </a:r>
            <a:endParaRPr lang="en-US" sz="2550" dirty="0"/>
          </a:p>
        </p:txBody>
      </p:sp>
      <p:sp>
        <p:nvSpPr>
          <p:cNvPr id="15" name="Text 11"/>
          <p:cNvSpPr/>
          <p:nvPr/>
        </p:nvSpPr>
        <p:spPr>
          <a:xfrm>
            <a:off x="11191280" y="9058275"/>
            <a:ext cx="3201204"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B7280"/>
                </a:solidFill>
                <a:latin typeface="Noto Sans KR" pitchFamily="34" charset="0"/>
                <a:ea typeface="Noto Sans KR" pitchFamily="34" charset="-122"/>
                <a:cs typeface="Noto Sans KR" pitchFamily="34" charset="-120"/>
              </a:rPr>
              <a:t>챗봇 2종 · 무료 잔여 · 크레딧</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723900"/>
            <a:ext cx="6333649" cy="381000"/>
          </a:xfrm>
          <a:prstGeom prst="rect">
            <a:avLst/>
          </a:prstGeom>
          <a:noFill/>
          <a:ln/>
        </p:spPr>
        <p:txBody>
          <a:bodyPr wrap="none" lIns="25400" tIns="25400" rIns="25400" bIns="25400" rtlCol="0" anchor="t">
            <a:normAutofit/>
          </a:bodyPr>
          <a:lstStyle/>
          <a:p>
            <a:pPr marL="0" indent="0" algn="l">
              <a:buNone/>
            </a:pPr>
            <a:r>
              <a:rPr lang="en-US" sz="1875" kern="0" spc="38" dirty="0">
                <a:solidFill>
                  <a:srgbClr val="6A5AED"/>
                </a:solidFill>
                <a:latin typeface="Noto Sans KR" pitchFamily="34" charset="0"/>
                <a:ea typeface="Noto Sans KR" pitchFamily="34" charset="-122"/>
                <a:cs typeface="Noto Sans KR" pitchFamily="34" charset="-120"/>
              </a:rPr>
              <a:t>04 · ARCHITECTURE · 서비스 · UI/UX</a:t>
            </a:r>
            <a:endParaRPr lang="en-US" sz="1875" dirty="0"/>
          </a:p>
        </p:txBody>
      </p:sp>
      <p:sp>
        <p:nvSpPr>
          <p:cNvPr id="3" name="Text 1"/>
          <p:cNvSpPr/>
          <p:nvPr/>
        </p:nvSpPr>
        <p:spPr>
          <a:xfrm>
            <a:off x="914400" y="1200150"/>
            <a:ext cx="6333649"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실제 화면 - 생성과 이력</a:t>
            </a:r>
            <a:endParaRPr lang="en-US" sz="4950" dirty="0"/>
          </a:p>
        </p:txBody>
      </p:sp>
      <p:sp>
        <p:nvSpPr>
          <p:cNvPr id="4" name="Shape 2"/>
          <p:cNvSpPr/>
          <p:nvPr/>
        </p:nvSpPr>
        <p:spPr>
          <a:xfrm>
            <a:off x="914400" y="2227808"/>
            <a:ext cx="8124825" cy="6306592"/>
          </a:xfrm>
          <a:prstGeom prst="roundRect">
            <a:avLst>
              <a:gd name="adj" fmla="val 3927"/>
            </a:avLst>
          </a:prstGeom>
          <a:solidFill>
            <a:srgbClr val="FFFFFF"/>
          </a:solidFill>
          <a:ln/>
        </p:spPr>
        <p:txBody>
          <a:bodyPr/>
          <a:lstStyle/>
          <a:p>
            <a:endParaRPr lang="ko-KR" altLang="en-US"/>
          </a:p>
        </p:txBody>
      </p:sp>
      <p:sp>
        <p:nvSpPr>
          <p:cNvPr id="5" name="Shape 3"/>
          <p:cNvSpPr/>
          <p:nvPr/>
        </p:nvSpPr>
        <p:spPr>
          <a:xfrm>
            <a:off x="1123950" y="2437358"/>
            <a:ext cx="7705725" cy="5268367"/>
          </a:xfrm>
          <a:prstGeom prst="roundRect">
            <a:avLst>
              <a:gd name="adj" fmla="val 2531"/>
            </a:avLst>
          </a:prstGeom>
          <a:solidFill>
            <a:srgbClr val="F5F6FA"/>
          </a:solidFill>
          <a:ln/>
        </p:spPr>
        <p:txBody>
          <a:bodyPr/>
          <a:lstStyle/>
          <a:p>
            <a:endParaRPr lang="ko-KR" altLang="en-US"/>
          </a:p>
        </p:txBody>
      </p:sp>
      <p:pic>
        <p:nvPicPr>
          <p:cNvPr id="6" name="Image 0" descr="preencoded.png"/>
          <p:cNvPicPr>
            <a:picLocks noChangeAspect="1"/>
          </p:cNvPicPr>
          <p:nvPr/>
        </p:nvPicPr>
        <p:blipFill>
          <a:blip r:embed="rId3"/>
          <a:srcRect t="-2949" b="-2949"/>
          <a:stretch/>
        </p:blipFill>
        <p:spPr>
          <a:xfrm>
            <a:off x="1123950" y="2437358"/>
            <a:ext cx="7705725" cy="5268367"/>
          </a:xfrm>
          <a:prstGeom prst="rect">
            <a:avLst/>
          </a:prstGeom>
        </p:spPr>
      </p:pic>
      <p:sp>
        <p:nvSpPr>
          <p:cNvPr id="7" name="Text 4"/>
          <p:cNvSpPr/>
          <p:nvPr/>
        </p:nvSpPr>
        <p:spPr>
          <a:xfrm>
            <a:off x="1123950" y="7965717"/>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03</a:t>
            </a:r>
            <a:endParaRPr lang="en-US" sz="1800" dirty="0"/>
          </a:p>
        </p:txBody>
      </p:sp>
      <p:sp>
        <p:nvSpPr>
          <p:cNvPr id="8" name="Text 5"/>
          <p:cNvSpPr/>
          <p:nvPr/>
        </p:nvSpPr>
        <p:spPr>
          <a:xfrm>
            <a:off x="1531739" y="7858125"/>
            <a:ext cx="1392525"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챗봇 대화</a:t>
            </a:r>
            <a:endParaRPr lang="en-US" sz="2550" dirty="0"/>
          </a:p>
        </p:txBody>
      </p:sp>
      <p:sp>
        <p:nvSpPr>
          <p:cNvPr id="9" name="Text 6"/>
          <p:cNvSpPr/>
          <p:nvPr/>
        </p:nvSpPr>
        <p:spPr>
          <a:xfrm>
            <a:off x="2931021" y="7953375"/>
            <a:ext cx="3091190"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B7280"/>
                </a:solidFill>
                <a:latin typeface="Noto Sans KR" pitchFamily="34" charset="0"/>
                <a:ea typeface="Noto Sans KR" pitchFamily="34" charset="-122"/>
                <a:cs typeface="Noto Sans KR" pitchFamily="34" charset="-120"/>
              </a:rPr>
              <a:t>추천 질문 · 예상 사용량 확인</a:t>
            </a:r>
            <a:endParaRPr lang="en-US" sz="1875" dirty="0"/>
          </a:p>
        </p:txBody>
      </p:sp>
      <p:sp>
        <p:nvSpPr>
          <p:cNvPr id="10" name="Shape 7"/>
          <p:cNvSpPr/>
          <p:nvPr/>
        </p:nvSpPr>
        <p:spPr>
          <a:xfrm>
            <a:off x="9248775" y="2227808"/>
            <a:ext cx="8124825" cy="6306592"/>
          </a:xfrm>
          <a:prstGeom prst="roundRect">
            <a:avLst>
              <a:gd name="adj" fmla="val 3927"/>
            </a:avLst>
          </a:prstGeom>
          <a:solidFill>
            <a:srgbClr val="FFFFFF"/>
          </a:solidFill>
          <a:ln/>
        </p:spPr>
        <p:txBody>
          <a:bodyPr/>
          <a:lstStyle/>
          <a:p>
            <a:endParaRPr lang="ko-KR" altLang="en-US"/>
          </a:p>
        </p:txBody>
      </p:sp>
      <p:sp>
        <p:nvSpPr>
          <p:cNvPr id="11" name="Shape 8"/>
          <p:cNvSpPr/>
          <p:nvPr/>
        </p:nvSpPr>
        <p:spPr>
          <a:xfrm>
            <a:off x="9458325" y="2437358"/>
            <a:ext cx="7705725" cy="5268367"/>
          </a:xfrm>
          <a:prstGeom prst="roundRect">
            <a:avLst>
              <a:gd name="adj" fmla="val 2531"/>
            </a:avLst>
          </a:prstGeom>
          <a:solidFill>
            <a:srgbClr val="F5F6FA"/>
          </a:solidFill>
          <a:ln/>
        </p:spPr>
        <p:txBody>
          <a:bodyPr/>
          <a:lstStyle/>
          <a:p>
            <a:endParaRPr lang="ko-KR" altLang="en-US"/>
          </a:p>
        </p:txBody>
      </p:sp>
      <p:pic>
        <p:nvPicPr>
          <p:cNvPr id="12" name="Image 1" descr="preencoded.png"/>
          <p:cNvPicPr>
            <a:picLocks noChangeAspect="1"/>
          </p:cNvPicPr>
          <p:nvPr/>
        </p:nvPicPr>
        <p:blipFill>
          <a:blip r:embed="rId4"/>
          <a:srcRect l="-3270" r="-3270"/>
          <a:stretch/>
        </p:blipFill>
        <p:spPr>
          <a:xfrm>
            <a:off x="9458325" y="2437358"/>
            <a:ext cx="7705725" cy="5268367"/>
          </a:xfrm>
          <a:prstGeom prst="rect">
            <a:avLst/>
          </a:prstGeom>
        </p:spPr>
      </p:pic>
      <p:sp>
        <p:nvSpPr>
          <p:cNvPr id="13" name="Text 9"/>
          <p:cNvSpPr/>
          <p:nvPr/>
        </p:nvSpPr>
        <p:spPr>
          <a:xfrm>
            <a:off x="9458325" y="7965717"/>
            <a:ext cx="350639"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IBM Plex Mono" pitchFamily="34" charset="0"/>
                <a:ea typeface="IBM Plex Mono" pitchFamily="34" charset="-122"/>
                <a:cs typeface="IBM Plex Mono" pitchFamily="34" charset="-120"/>
              </a:rPr>
              <a:t>04</a:t>
            </a:r>
            <a:endParaRPr lang="en-US" sz="1800" dirty="0"/>
          </a:p>
        </p:txBody>
      </p:sp>
      <p:sp>
        <p:nvSpPr>
          <p:cNvPr id="14" name="Text 10"/>
          <p:cNvSpPr/>
          <p:nvPr/>
        </p:nvSpPr>
        <p:spPr>
          <a:xfrm>
            <a:off x="9866114" y="7858125"/>
            <a:ext cx="1638746" cy="504825"/>
          </a:xfrm>
          <a:prstGeom prst="rect">
            <a:avLst/>
          </a:prstGeom>
          <a:noFill/>
          <a:ln/>
        </p:spPr>
        <p:txBody>
          <a:bodyPr wrap="square" lIns="25400" tIns="25400" rIns="25400" bIns="25400" rtlCol="0" anchor="t">
            <a:normAutofit/>
          </a:bodyPr>
          <a:lstStyle/>
          <a:p>
            <a:pPr marL="0" indent="0" algn="l">
              <a:buNone/>
            </a:pPr>
            <a:r>
              <a:rPr lang="en-US" sz="2550" b="1" dirty="0">
                <a:solidFill>
                  <a:srgbClr val="1F2937"/>
                </a:solidFill>
                <a:latin typeface="Noto Sans KR" pitchFamily="34" charset="0"/>
                <a:ea typeface="Noto Sans KR" pitchFamily="34" charset="-122"/>
                <a:cs typeface="Noto Sans KR" pitchFamily="34" charset="-120"/>
              </a:rPr>
              <a:t>마이페이지</a:t>
            </a:r>
            <a:endParaRPr lang="en-US" sz="2550" dirty="0"/>
          </a:p>
        </p:txBody>
      </p:sp>
      <p:sp>
        <p:nvSpPr>
          <p:cNvPr id="15" name="Text 11"/>
          <p:cNvSpPr/>
          <p:nvPr/>
        </p:nvSpPr>
        <p:spPr>
          <a:xfrm>
            <a:off x="11489234" y="7953375"/>
            <a:ext cx="2550616" cy="381000"/>
          </a:xfrm>
          <a:prstGeom prst="rect">
            <a:avLst/>
          </a:prstGeom>
          <a:noFill/>
          <a:ln/>
        </p:spPr>
        <p:txBody>
          <a:bodyPr wrap="square" lIns="25400" tIns="25400" rIns="25400" bIns="25400" rtlCol="0" anchor="t">
            <a:normAutofit/>
          </a:bodyPr>
          <a:lstStyle/>
          <a:p>
            <a:pPr marL="0" indent="0" algn="l">
              <a:buNone/>
            </a:pPr>
            <a:r>
              <a:rPr lang="en-US" sz="1875" dirty="0">
                <a:solidFill>
                  <a:srgbClr val="6B7280"/>
                </a:solidFill>
                <a:latin typeface="Noto Sans KR" pitchFamily="34" charset="0"/>
                <a:ea typeface="Noto Sans KR" pitchFamily="34" charset="-122"/>
                <a:cs typeface="Noto Sans KR" pitchFamily="34" charset="-120"/>
              </a:rPr>
              <a:t>생성 이력 · 크레딧 잔액</a:t>
            </a:r>
            <a:endParaRPr lang="en-US" sz="1875" dirty="0"/>
          </a:p>
        </p:txBody>
      </p:sp>
      <p:sp>
        <p:nvSpPr>
          <p:cNvPr id="16" name="Shape 12"/>
          <p:cNvSpPr/>
          <p:nvPr/>
        </p:nvSpPr>
        <p:spPr>
          <a:xfrm>
            <a:off x="914400" y="8839200"/>
            <a:ext cx="5372100" cy="800100"/>
          </a:xfrm>
          <a:prstGeom prst="roundRect">
            <a:avLst>
              <a:gd name="adj" fmla="val 23810"/>
            </a:avLst>
          </a:prstGeom>
          <a:solidFill>
            <a:srgbClr val="FFFFFF"/>
          </a:solidFill>
          <a:ln/>
        </p:spPr>
        <p:txBody>
          <a:bodyPr/>
          <a:lstStyle/>
          <a:p>
            <a:endParaRPr lang="ko-KR" altLang="en-US"/>
          </a:p>
        </p:txBody>
      </p:sp>
      <p:sp>
        <p:nvSpPr>
          <p:cNvPr id="17" name="Text 13"/>
          <p:cNvSpPr/>
          <p:nvPr/>
        </p:nvSpPr>
        <p:spPr>
          <a:xfrm>
            <a:off x="1181100" y="9096375"/>
            <a:ext cx="162581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일일 무료 생성</a:t>
            </a:r>
            <a:endParaRPr lang="en-US" sz="1950" dirty="0"/>
          </a:p>
        </p:txBody>
      </p:sp>
      <p:sp>
        <p:nvSpPr>
          <p:cNvPr id="18" name="Text 14"/>
          <p:cNvSpPr/>
          <p:nvPr/>
        </p:nvSpPr>
        <p:spPr>
          <a:xfrm>
            <a:off x="5205115" y="9081216"/>
            <a:ext cx="890885" cy="419100"/>
          </a:xfrm>
          <a:prstGeom prst="rect">
            <a:avLst/>
          </a:prstGeom>
          <a:noFill/>
          <a:ln/>
        </p:spPr>
        <p:txBody>
          <a:bodyPr wrap="square" lIns="25400" tIns="25400" rIns="25400" bIns="25400" rtlCol="0" anchor="t">
            <a:normAutofit/>
          </a:bodyPr>
          <a:lstStyle/>
          <a:p>
            <a:pPr marL="0" indent="0" algn="l">
              <a:lnSpc>
                <a:spcPct val="68966"/>
              </a:lnSpc>
              <a:buNone/>
            </a:pPr>
            <a:r>
              <a:rPr lang="en-US" sz="3000" b="1" dirty="0">
                <a:solidFill>
                  <a:srgbClr val="6A5AED"/>
                </a:solidFill>
                <a:latin typeface="Noto Sans KR" pitchFamily="34" charset="0"/>
                <a:ea typeface="Noto Sans KR" pitchFamily="34" charset="-122"/>
                <a:cs typeface="Noto Sans KR" pitchFamily="34" charset="-120"/>
              </a:rPr>
              <a:t>10회</a:t>
            </a:r>
            <a:endParaRPr lang="en-US" sz="3000" dirty="0"/>
          </a:p>
        </p:txBody>
      </p:sp>
      <p:sp>
        <p:nvSpPr>
          <p:cNvPr id="19" name="Shape 15"/>
          <p:cNvSpPr/>
          <p:nvPr/>
        </p:nvSpPr>
        <p:spPr>
          <a:xfrm>
            <a:off x="6457950" y="8839200"/>
            <a:ext cx="5372100" cy="800100"/>
          </a:xfrm>
          <a:prstGeom prst="roundRect">
            <a:avLst>
              <a:gd name="adj" fmla="val 23810"/>
            </a:avLst>
          </a:prstGeom>
          <a:solidFill>
            <a:srgbClr val="FFFFFF"/>
          </a:solidFill>
          <a:ln/>
        </p:spPr>
        <p:txBody>
          <a:bodyPr/>
          <a:lstStyle/>
          <a:p>
            <a:endParaRPr lang="ko-KR" altLang="en-US"/>
          </a:p>
        </p:txBody>
      </p:sp>
      <p:sp>
        <p:nvSpPr>
          <p:cNvPr id="20" name="Text 16"/>
          <p:cNvSpPr/>
          <p:nvPr/>
        </p:nvSpPr>
        <p:spPr>
          <a:xfrm>
            <a:off x="6724650" y="9096375"/>
            <a:ext cx="156491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컨설턴트 회당</a:t>
            </a:r>
            <a:endParaRPr lang="en-US" sz="1950" dirty="0"/>
          </a:p>
        </p:txBody>
      </p:sp>
      <p:sp>
        <p:nvSpPr>
          <p:cNvPr id="21" name="Text 17"/>
          <p:cNvSpPr/>
          <p:nvPr/>
        </p:nvSpPr>
        <p:spPr>
          <a:xfrm>
            <a:off x="9960471" y="9081216"/>
            <a:ext cx="1763167" cy="419100"/>
          </a:xfrm>
          <a:prstGeom prst="rect">
            <a:avLst/>
          </a:prstGeom>
          <a:noFill/>
          <a:ln/>
        </p:spPr>
        <p:txBody>
          <a:bodyPr wrap="square" lIns="25400" tIns="25400" rIns="25400" bIns="25400" rtlCol="0" anchor="t">
            <a:normAutofit/>
          </a:bodyPr>
          <a:lstStyle/>
          <a:p>
            <a:pPr marL="0" indent="0" algn="l">
              <a:lnSpc>
                <a:spcPct val="68966"/>
              </a:lnSpc>
              <a:buNone/>
            </a:pPr>
            <a:r>
              <a:rPr lang="en-US" sz="3000" b="1" dirty="0">
                <a:solidFill>
                  <a:srgbClr val="6A5AED"/>
                </a:solidFill>
                <a:latin typeface="Noto Sans KR" pitchFamily="34" charset="0"/>
                <a:ea typeface="Noto Sans KR" pitchFamily="34" charset="-122"/>
                <a:cs typeface="Noto Sans KR" pitchFamily="34" charset="-120"/>
              </a:rPr>
              <a:t>10 크레딧</a:t>
            </a:r>
            <a:endParaRPr lang="en-US" sz="3000" dirty="0"/>
          </a:p>
        </p:txBody>
      </p:sp>
      <p:sp>
        <p:nvSpPr>
          <p:cNvPr id="22" name="Shape 18"/>
          <p:cNvSpPr/>
          <p:nvPr/>
        </p:nvSpPr>
        <p:spPr>
          <a:xfrm>
            <a:off x="12001500" y="8839200"/>
            <a:ext cx="5372100" cy="800100"/>
          </a:xfrm>
          <a:prstGeom prst="roundRect">
            <a:avLst>
              <a:gd name="adj" fmla="val 23810"/>
            </a:avLst>
          </a:prstGeom>
          <a:solidFill>
            <a:srgbClr val="FFFFFF"/>
          </a:solidFill>
          <a:ln/>
        </p:spPr>
        <p:txBody>
          <a:bodyPr/>
          <a:lstStyle/>
          <a:p>
            <a:endParaRPr lang="ko-KR" altLang="en-US"/>
          </a:p>
        </p:txBody>
      </p:sp>
      <p:sp>
        <p:nvSpPr>
          <p:cNvPr id="23" name="Text 19"/>
          <p:cNvSpPr/>
          <p:nvPr/>
        </p:nvSpPr>
        <p:spPr>
          <a:xfrm>
            <a:off x="12268200" y="9096375"/>
            <a:ext cx="1625813" cy="390525"/>
          </a:xfrm>
          <a:prstGeom prst="rect">
            <a:avLst/>
          </a:prstGeom>
          <a:noFill/>
          <a:ln/>
        </p:spPr>
        <p:txBody>
          <a:bodyPr wrap="square" lIns="25400" tIns="25400" rIns="25400" bIns="25400" rtlCol="0" anchor="t">
            <a:normAutofit/>
          </a:bodyPr>
          <a:lstStyle/>
          <a:p>
            <a:pPr marL="0" indent="0" algn="l">
              <a:buNone/>
            </a:pPr>
            <a:r>
              <a:rPr lang="en-US" sz="1950" dirty="0">
                <a:solidFill>
                  <a:srgbClr val="6B7280"/>
                </a:solidFill>
                <a:latin typeface="Noto Sans KR" pitchFamily="34" charset="0"/>
                <a:ea typeface="Noto Sans KR" pitchFamily="34" charset="-122"/>
                <a:cs typeface="Noto Sans KR" pitchFamily="34" charset="-120"/>
              </a:rPr>
              <a:t>광고 생성 회당</a:t>
            </a:r>
            <a:endParaRPr lang="en-US" sz="1950" dirty="0"/>
          </a:p>
        </p:txBody>
      </p:sp>
      <p:sp>
        <p:nvSpPr>
          <p:cNvPr id="24" name="Text 20"/>
          <p:cNvSpPr/>
          <p:nvPr/>
        </p:nvSpPr>
        <p:spPr>
          <a:xfrm>
            <a:off x="15504021" y="9081216"/>
            <a:ext cx="1763167" cy="419100"/>
          </a:xfrm>
          <a:prstGeom prst="rect">
            <a:avLst/>
          </a:prstGeom>
          <a:noFill/>
          <a:ln/>
        </p:spPr>
        <p:txBody>
          <a:bodyPr wrap="square" lIns="25400" tIns="25400" rIns="25400" bIns="25400" rtlCol="0" anchor="t">
            <a:normAutofit/>
          </a:bodyPr>
          <a:lstStyle/>
          <a:p>
            <a:pPr marL="0" indent="0" algn="l">
              <a:lnSpc>
                <a:spcPct val="68966"/>
              </a:lnSpc>
              <a:buNone/>
            </a:pPr>
            <a:r>
              <a:rPr lang="en-US" sz="3000" b="1" dirty="0">
                <a:solidFill>
                  <a:srgbClr val="6A5AED"/>
                </a:solidFill>
                <a:latin typeface="Noto Sans KR" pitchFamily="34" charset="0"/>
                <a:ea typeface="Noto Sans KR" pitchFamily="34" charset="-122"/>
                <a:cs typeface="Noto Sans KR" pitchFamily="34" charset="-120"/>
              </a:rPr>
              <a:t>50 크레딧</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76300"/>
            <a:ext cx="18105120"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06 · DATA &amp; OPERATION</a:t>
            </a:r>
            <a:endParaRPr lang="en-US" sz="1875" dirty="0"/>
          </a:p>
        </p:txBody>
      </p:sp>
      <p:sp>
        <p:nvSpPr>
          <p:cNvPr id="3" name="Text 1"/>
          <p:cNvSpPr/>
          <p:nvPr/>
        </p:nvSpPr>
        <p:spPr>
          <a:xfrm>
            <a:off x="914400" y="1343025"/>
            <a:ext cx="18105120" cy="782836"/>
          </a:xfrm>
          <a:prstGeom prst="rect">
            <a:avLst/>
          </a:prstGeom>
          <a:noFill/>
          <a:ln/>
        </p:spPr>
        <p:txBody>
          <a:bodyPr wrap="square" lIns="25400" tIns="25400" rIns="25400" bIns="25400" rtlCol="0" anchor="t">
            <a:normAutofit/>
          </a:bodyPr>
          <a:lstStyle/>
          <a:p>
            <a:pPr marL="0" indent="0" algn="l">
              <a:lnSpc>
                <a:spcPct val="78990"/>
              </a:lnSpc>
              <a:buNone/>
            </a:pPr>
            <a:r>
              <a:rPr lang="en-US" sz="5100" b="1" kern="0" spc="-153" dirty="0">
                <a:solidFill>
                  <a:srgbClr val="1F2937"/>
                </a:solidFill>
                <a:latin typeface="Noto Sans KR" pitchFamily="34" charset="0"/>
                <a:ea typeface="Noto Sans KR" pitchFamily="34" charset="-122"/>
                <a:cs typeface="Noto Sans KR" pitchFamily="34" charset="-120"/>
              </a:rPr>
              <a:t>데이터와 운영</a:t>
            </a:r>
            <a:endParaRPr lang="en-US" sz="5100" dirty="0"/>
          </a:p>
        </p:txBody>
      </p:sp>
      <p:sp>
        <p:nvSpPr>
          <p:cNvPr id="4" name="Shape 2"/>
          <p:cNvSpPr/>
          <p:nvPr/>
        </p:nvSpPr>
        <p:spPr>
          <a:xfrm>
            <a:off x="914400" y="2468761"/>
            <a:ext cx="5346650" cy="3642420"/>
          </a:xfrm>
          <a:prstGeom prst="roundRect">
            <a:avLst>
              <a:gd name="adj" fmla="val 6276"/>
            </a:avLst>
          </a:prstGeom>
          <a:solidFill>
            <a:srgbClr val="FFFFFF"/>
          </a:solidFill>
          <a:ln/>
        </p:spPr>
        <p:txBody>
          <a:bodyPr/>
          <a:lstStyle/>
          <a:p>
            <a:endParaRPr lang="ko-KR" altLang="en-US"/>
          </a:p>
        </p:txBody>
      </p:sp>
      <p:sp>
        <p:nvSpPr>
          <p:cNvPr id="5" name="Text 3"/>
          <p:cNvSpPr/>
          <p:nvPr/>
        </p:nvSpPr>
        <p:spPr>
          <a:xfrm>
            <a:off x="1219200" y="2792611"/>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Noto Sans KR" pitchFamily="34" charset="0"/>
                <a:ea typeface="Noto Sans KR" pitchFamily="34" charset="-122"/>
                <a:cs typeface="Noto Sans KR" pitchFamily="34" charset="-120"/>
              </a:rPr>
              <a:t>상권</a:t>
            </a:r>
            <a:endParaRPr lang="en-US" sz="1800" dirty="0"/>
          </a:p>
        </p:txBody>
      </p:sp>
      <p:sp>
        <p:nvSpPr>
          <p:cNvPr id="6" name="Text 4"/>
          <p:cNvSpPr/>
          <p:nvPr/>
        </p:nvSpPr>
        <p:spPr>
          <a:xfrm>
            <a:off x="1219200" y="3240286"/>
            <a:ext cx="5210755"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1F2937"/>
                </a:solidFill>
                <a:latin typeface="Noto Sans KR" pitchFamily="34" charset="0"/>
                <a:ea typeface="Noto Sans KR" pitchFamily="34" charset="-122"/>
                <a:cs typeface="Noto Sans KR" pitchFamily="34" charset="-120"/>
              </a:rPr>
              <a:t>소상공인시장진흥공단</a:t>
            </a:r>
            <a:endParaRPr lang="en-US" sz="2400" dirty="0"/>
          </a:p>
        </p:txBody>
      </p:sp>
      <p:sp>
        <p:nvSpPr>
          <p:cNvPr id="7" name="Text 5"/>
          <p:cNvSpPr/>
          <p:nvPr/>
        </p:nvSpPr>
        <p:spPr>
          <a:xfrm>
            <a:off x="1219200" y="3792736"/>
            <a:ext cx="5210755" cy="410914"/>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6B7280"/>
                </a:solidFill>
                <a:latin typeface="Noto Sans KR" pitchFamily="34" charset="0"/>
                <a:ea typeface="Noto Sans KR" pitchFamily="34" charset="-122"/>
                <a:cs typeface="Noto Sans KR" pitchFamily="34" charset="-120"/>
              </a:rPr>
              <a:t>반경 내 상가업소 · 업종코드 기반 판정</a:t>
            </a:r>
            <a:endParaRPr lang="en-US" sz="2025" dirty="0"/>
          </a:p>
        </p:txBody>
      </p:sp>
      <p:sp>
        <p:nvSpPr>
          <p:cNvPr id="8" name="Shape 6"/>
          <p:cNvSpPr/>
          <p:nvPr/>
        </p:nvSpPr>
        <p:spPr>
          <a:xfrm>
            <a:off x="6470600" y="2468761"/>
            <a:ext cx="5346650" cy="3642420"/>
          </a:xfrm>
          <a:prstGeom prst="roundRect">
            <a:avLst>
              <a:gd name="adj" fmla="val 6276"/>
            </a:avLst>
          </a:prstGeom>
          <a:solidFill>
            <a:srgbClr val="FFFFFF"/>
          </a:solidFill>
          <a:ln/>
        </p:spPr>
        <p:txBody>
          <a:bodyPr/>
          <a:lstStyle/>
          <a:p>
            <a:endParaRPr lang="ko-KR" altLang="en-US"/>
          </a:p>
        </p:txBody>
      </p:sp>
      <p:sp>
        <p:nvSpPr>
          <p:cNvPr id="9" name="Text 7"/>
          <p:cNvSpPr/>
          <p:nvPr/>
        </p:nvSpPr>
        <p:spPr>
          <a:xfrm>
            <a:off x="6775400" y="2792611"/>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Noto Sans KR" pitchFamily="34" charset="0"/>
                <a:ea typeface="Noto Sans KR" pitchFamily="34" charset="-122"/>
                <a:cs typeface="Noto Sans KR" pitchFamily="34" charset="-120"/>
              </a:rPr>
              <a:t>트렌드</a:t>
            </a:r>
            <a:endParaRPr lang="en-US" sz="1800" dirty="0"/>
          </a:p>
        </p:txBody>
      </p:sp>
      <p:sp>
        <p:nvSpPr>
          <p:cNvPr id="10" name="Text 8"/>
          <p:cNvSpPr/>
          <p:nvPr/>
        </p:nvSpPr>
        <p:spPr>
          <a:xfrm>
            <a:off x="6775400" y="3240286"/>
            <a:ext cx="4879162" cy="914400"/>
          </a:xfrm>
          <a:prstGeom prst="rect">
            <a:avLst/>
          </a:prstGeom>
          <a:noFill/>
          <a:ln/>
        </p:spPr>
        <p:txBody>
          <a:bodyPr wrap="square" lIns="25400" tIns="25400" rIns="25400" bIns="25400" rtlCol="0" anchor="t">
            <a:normAutofit/>
          </a:bodyPr>
          <a:lstStyle/>
          <a:p>
            <a:pPr marL="0" indent="0" algn="l">
              <a:buNone/>
            </a:pPr>
            <a:r>
              <a:rPr lang="en-US" sz="2400" b="1" dirty="0">
                <a:solidFill>
                  <a:srgbClr val="1F2937"/>
                </a:solidFill>
                <a:latin typeface="Noto Sans KR" pitchFamily="34" charset="0"/>
                <a:ea typeface="Noto Sans KR" pitchFamily="34" charset="-122"/>
                <a:cs typeface="Noto Sans KR" pitchFamily="34" charset="-120"/>
              </a:rPr>
              <a:t>NAVER API HUB · NAVER 검색광고</a:t>
            </a:r>
            <a:endParaRPr lang="en-US" sz="2400" dirty="0"/>
          </a:p>
        </p:txBody>
      </p:sp>
      <p:sp>
        <p:nvSpPr>
          <p:cNvPr id="11" name="Text 9"/>
          <p:cNvSpPr/>
          <p:nvPr/>
        </p:nvSpPr>
        <p:spPr>
          <a:xfrm>
            <a:off x="6775400" y="3793180"/>
            <a:ext cx="4879162" cy="783729"/>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6B7280"/>
                </a:solidFill>
                <a:latin typeface="Noto Sans KR" pitchFamily="34" charset="0"/>
                <a:ea typeface="Noto Sans KR" pitchFamily="34" charset="-122"/>
                <a:cs typeface="Noto Sans KR" pitchFamily="34" charset="-120"/>
              </a:rPr>
              <a:t>NAVER API HUB 검색어 트렌드 조회 · NAVER 검색광고 연관 검색어</a:t>
            </a:r>
            <a:endParaRPr lang="en-US" sz="2025" dirty="0"/>
          </a:p>
        </p:txBody>
      </p:sp>
      <p:sp>
        <p:nvSpPr>
          <p:cNvPr id="12" name="Shape 10"/>
          <p:cNvSpPr/>
          <p:nvPr/>
        </p:nvSpPr>
        <p:spPr>
          <a:xfrm>
            <a:off x="12026801" y="2468761"/>
            <a:ext cx="5346650" cy="3642420"/>
          </a:xfrm>
          <a:prstGeom prst="roundRect">
            <a:avLst>
              <a:gd name="adj" fmla="val 6276"/>
            </a:avLst>
          </a:prstGeom>
          <a:solidFill>
            <a:srgbClr val="FFFFFF"/>
          </a:solidFill>
          <a:ln/>
        </p:spPr>
        <p:txBody>
          <a:bodyPr/>
          <a:lstStyle/>
          <a:p>
            <a:endParaRPr lang="ko-KR" altLang="en-US"/>
          </a:p>
        </p:txBody>
      </p:sp>
      <p:sp>
        <p:nvSpPr>
          <p:cNvPr id="13" name="Text 11"/>
          <p:cNvSpPr/>
          <p:nvPr/>
        </p:nvSpPr>
        <p:spPr>
          <a:xfrm>
            <a:off x="12331601" y="2792611"/>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Noto Sans KR" pitchFamily="34" charset="0"/>
                <a:ea typeface="Noto Sans KR" pitchFamily="34" charset="-122"/>
                <a:cs typeface="Noto Sans KR" pitchFamily="34" charset="-120"/>
              </a:rPr>
              <a:t>위치</a:t>
            </a:r>
            <a:endParaRPr lang="en-US" sz="1800" dirty="0"/>
          </a:p>
        </p:txBody>
      </p:sp>
      <p:sp>
        <p:nvSpPr>
          <p:cNvPr id="14" name="Text 12"/>
          <p:cNvSpPr/>
          <p:nvPr/>
        </p:nvSpPr>
        <p:spPr>
          <a:xfrm>
            <a:off x="12331601" y="3240286"/>
            <a:ext cx="5210755"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1F2937"/>
                </a:solidFill>
                <a:latin typeface="Noto Sans KR" pitchFamily="34" charset="0"/>
                <a:ea typeface="Noto Sans KR" pitchFamily="34" charset="-122"/>
                <a:cs typeface="Noto Sans KR" pitchFamily="34" charset="-120"/>
              </a:rPr>
              <a:t>NAVER Maps</a:t>
            </a:r>
            <a:endParaRPr lang="en-US" sz="2400" dirty="0"/>
          </a:p>
        </p:txBody>
      </p:sp>
      <p:sp>
        <p:nvSpPr>
          <p:cNvPr id="15" name="Text 13"/>
          <p:cNvSpPr/>
          <p:nvPr/>
        </p:nvSpPr>
        <p:spPr>
          <a:xfrm>
            <a:off x="12331601" y="3792736"/>
            <a:ext cx="5210755" cy="410914"/>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6B7280"/>
                </a:solidFill>
                <a:latin typeface="Noto Sans KR" pitchFamily="34" charset="0"/>
                <a:ea typeface="Noto Sans KR" pitchFamily="34" charset="-122"/>
                <a:cs typeface="Noto Sans KR" pitchFamily="34" charset="-120"/>
              </a:rPr>
              <a:t>주소 → 좌표 지오코딩</a:t>
            </a:r>
            <a:endParaRPr lang="en-US" sz="2025" dirty="0"/>
          </a:p>
        </p:txBody>
      </p:sp>
      <p:sp>
        <p:nvSpPr>
          <p:cNvPr id="16" name="Shape 14"/>
          <p:cNvSpPr/>
          <p:nvPr/>
        </p:nvSpPr>
        <p:spPr>
          <a:xfrm>
            <a:off x="914400" y="6320730"/>
            <a:ext cx="5346650" cy="3204270"/>
          </a:xfrm>
          <a:prstGeom prst="roundRect">
            <a:avLst>
              <a:gd name="adj" fmla="val 7134"/>
            </a:avLst>
          </a:prstGeom>
          <a:solidFill>
            <a:srgbClr val="FFFFFF"/>
          </a:solidFill>
          <a:ln/>
        </p:spPr>
        <p:txBody>
          <a:bodyPr/>
          <a:lstStyle/>
          <a:p>
            <a:endParaRPr lang="ko-KR" altLang="en-US"/>
          </a:p>
        </p:txBody>
      </p:sp>
      <p:sp>
        <p:nvSpPr>
          <p:cNvPr id="17" name="Text 15"/>
          <p:cNvSpPr/>
          <p:nvPr/>
        </p:nvSpPr>
        <p:spPr>
          <a:xfrm>
            <a:off x="1219200" y="6644580"/>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6A5AED"/>
                </a:solidFill>
                <a:latin typeface="Noto Sans KR" pitchFamily="34" charset="0"/>
                <a:ea typeface="Noto Sans KR" pitchFamily="34" charset="-122"/>
                <a:cs typeface="Noto Sans KR" pitchFamily="34" charset="-120"/>
              </a:rPr>
              <a:t>법률</a:t>
            </a:r>
            <a:endParaRPr lang="en-US" sz="1800" dirty="0"/>
          </a:p>
        </p:txBody>
      </p:sp>
      <p:sp>
        <p:nvSpPr>
          <p:cNvPr id="18" name="Text 16"/>
          <p:cNvSpPr/>
          <p:nvPr/>
        </p:nvSpPr>
        <p:spPr>
          <a:xfrm>
            <a:off x="1219200" y="7092255"/>
            <a:ext cx="5210755"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1F2937"/>
                </a:solidFill>
                <a:latin typeface="Noto Sans KR" pitchFamily="34" charset="0"/>
                <a:ea typeface="Noto Sans KR" pitchFamily="34" charset="-122"/>
                <a:cs typeface="Noto Sans KR" pitchFamily="34" charset="-120"/>
              </a:rPr>
              <a:t>표시광고법 · 식품표시광고법</a:t>
            </a:r>
            <a:endParaRPr lang="en-US" sz="2400" dirty="0"/>
          </a:p>
        </p:txBody>
      </p:sp>
      <p:sp>
        <p:nvSpPr>
          <p:cNvPr id="19" name="Text 17"/>
          <p:cNvSpPr/>
          <p:nvPr/>
        </p:nvSpPr>
        <p:spPr>
          <a:xfrm>
            <a:off x="1219200" y="7644705"/>
            <a:ext cx="5210755" cy="410914"/>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6B7280"/>
                </a:solidFill>
                <a:latin typeface="Noto Sans KR" pitchFamily="34" charset="0"/>
                <a:ea typeface="Noto Sans KR" pitchFamily="34" charset="-122"/>
                <a:cs typeface="Noto Sans KR" pitchFamily="34" charset="-120"/>
              </a:rPr>
              <a:t>조문 + 위반·허용 예시 → 규제 검증 RAG</a:t>
            </a:r>
            <a:endParaRPr lang="en-US" sz="2025" dirty="0"/>
          </a:p>
        </p:txBody>
      </p:sp>
      <p:sp>
        <p:nvSpPr>
          <p:cNvPr id="20" name="Shape 18"/>
          <p:cNvSpPr/>
          <p:nvPr/>
        </p:nvSpPr>
        <p:spPr>
          <a:xfrm>
            <a:off x="6470600" y="6320730"/>
            <a:ext cx="5346650" cy="3204270"/>
          </a:xfrm>
          <a:prstGeom prst="roundRect">
            <a:avLst>
              <a:gd name="adj" fmla="val 7134"/>
            </a:avLst>
          </a:prstGeom>
          <a:solidFill>
            <a:srgbClr val="FFF4DC"/>
          </a:solidFill>
          <a:ln/>
        </p:spPr>
        <p:txBody>
          <a:bodyPr/>
          <a:lstStyle/>
          <a:p>
            <a:endParaRPr lang="ko-KR" altLang="en-US"/>
          </a:p>
        </p:txBody>
      </p:sp>
      <p:sp>
        <p:nvSpPr>
          <p:cNvPr id="21" name="Text 19"/>
          <p:cNvSpPr/>
          <p:nvPr/>
        </p:nvSpPr>
        <p:spPr>
          <a:xfrm>
            <a:off x="6775400" y="6644580"/>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A87A00"/>
                </a:solidFill>
                <a:latin typeface="Noto Sans KR" pitchFamily="34" charset="0"/>
                <a:ea typeface="Noto Sans KR" pitchFamily="34" charset="-122"/>
                <a:cs typeface="Noto Sans KR" pitchFamily="34" charset="-120"/>
              </a:rPr>
              <a:t>캐시 전략</a:t>
            </a:r>
            <a:endParaRPr lang="en-US" sz="1800" dirty="0"/>
          </a:p>
        </p:txBody>
      </p:sp>
      <p:sp>
        <p:nvSpPr>
          <p:cNvPr id="22" name="Text 20"/>
          <p:cNvSpPr/>
          <p:nvPr/>
        </p:nvSpPr>
        <p:spPr>
          <a:xfrm>
            <a:off x="6775400" y="7092255"/>
            <a:ext cx="5210755"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1F2937"/>
                </a:solidFill>
                <a:latin typeface="Noto Sans KR" pitchFamily="34" charset="0"/>
                <a:ea typeface="Noto Sans KR" pitchFamily="34" charset="-122"/>
                <a:cs typeface="Noto Sans KR" pitchFamily="34" charset="-120"/>
              </a:rPr>
              <a:t>상권·트렌드 캐시 · TTL 7일</a:t>
            </a:r>
            <a:endParaRPr lang="en-US" sz="2400" dirty="0"/>
          </a:p>
        </p:txBody>
      </p:sp>
      <p:sp>
        <p:nvSpPr>
          <p:cNvPr id="23" name="Text 21"/>
          <p:cNvSpPr/>
          <p:nvPr/>
        </p:nvSpPr>
        <p:spPr>
          <a:xfrm>
            <a:off x="6775400" y="7644705"/>
            <a:ext cx="4879162" cy="783729"/>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7A5A00"/>
                </a:solidFill>
                <a:latin typeface="Noto Sans KR" pitchFamily="34" charset="0"/>
                <a:ea typeface="Noto Sans KR" pitchFamily="34" charset="-122"/>
                <a:cs typeface="Noto Sans KR" pitchFamily="34" charset="-120"/>
              </a:rPr>
              <a:t>Cache-Aside · 적중률 향상으로 외부 호출 절감</a:t>
            </a:r>
            <a:endParaRPr lang="en-US" sz="2025" dirty="0"/>
          </a:p>
        </p:txBody>
      </p:sp>
      <p:sp>
        <p:nvSpPr>
          <p:cNvPr id="24" name="Shape 22"/>
          <p:cNvSpPr/>
          <p:nvPr/>
        </p:nvSpPr>
        <p:spPr>
          <a:xfrm>
            <a:off x="12026801" y="6320730"/>
            <a:ext cx="5346650" cy="3204270"/>
          </a:xfrm>
          <a:prstGeom prst="roundRect">
            <a:avLst>
              <a:gd name="adj" fmla="val 7134"/>
            </a:avLst>
          </a:prstGeom>
          <a:solidFill>
            <a:srgbClr val="1F2937"/>
          </a:solidFill>
          <a:ln/>
        </p:spPr>
        <p:txBody>
          <a:bodyPr/>
          <a:lstStyle/>
          <a:p>
            <a:endParaRPr lang="ko-KR" altLang="en-US"/>
          </a:p>
        </p:txBody>
      </p:sp>
      <p:sp>
        <p:nvSpPr>
          <p:cNvPr id="25" name="Text 23"/>
          <p:cNvSpPr/>
          <p:nvPr/>
        </p:nvSpPr>
        <p:spPr>
          <a:xfrm>
            <a:off x="12331601" y="6644580"/>
            <a:ext cx="5210755" cy="371475"/>
          </a:xfrm>
          <a:prstGeom prst="rect">
            <a:avLst/>
          </a:prstGeom>
          <a:noFill/>
          <a:ln/>
        </p:spPr>
        <p:txBody>
          <a:bodyPr wrap="square" lIns="25400" tIns="25400" rIns="25400" bIns="25400" rtlCol="0" anchor="t">
            <a:normAutofit/>
          </a:bodyPr>
          <a:lstStyle/>
          <a:p>
            <a:pPr marL="0" indent="0" algn="l">
              <a:buNone/>
            </a:pPr>
            <a:r>
              <a:rPr lang="en-US" sz="1800" dirty="0">
                <a:solidFill>
                  <a:srgbClr val="FFB703"/>
                </a:solidFill>
                <a:latin typeface="Noto Sans KR" pitchFamily="34" charset="0"/>
                <a:ea typeface="Noto Sans KR" pitchFamily="34" charset="-122"/>
                <a:cs typeface="Noto Sans KR" pitchFamily="34" charset="-120"/>
              </a:rPr>
              <a:t>OpenAI 예산</a:t>
            </a:r>
            <a:endParaRPr lang="en-US" sz="1800" dirty="0"/>
          </a:p>
        </p:txBody>
      </p:sp>
      <p:sp>
        <p:nvSpPr>
          <p:cNvPr id="26" name="Text 24"/>
          <p:cNvSpPr/>
          <p:nvPr/>
        </p:nvSpPr>
        <p:spPr>
          <a:xfrm>
            <a:off x="12331601" y="7092255"/>
            <a:ext cx="5210755" cy="476250"/>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Noto Sans KR" pitchFamily="34" charset="0"/>
                <a:ea typeface="Noto Sans KR" pitchFamily="34" charset="-122"/>
                <a:cs typeface="Noto Sans KR" pitchFamily="34" charset="-120"/>
              </a:rPr>
              <a:t>한도 30달러</a:t>
            </a:r>
            <a:endParaRPr lang="en-US" sz="2400" dirty="0"/>
          </a:p>
        </p:txBody>
      </p:sp>
      <p:sp>
        <p:nvSpPr>
          <p:cNvPr id="27" name="Text 25"/>
          <p:cNvSpPr/>
          <p:nvPr/>
        </p:nvSpPr>
        <p:spPr>
          <a:xfrm>
            <a:off x="12331601" y="7644705"/>
            <a:ext cx="5210755" cy="410914"/>
          </a:xfrm>
          <a:prstGeom prst="rect">
            <a:avLst/>
          </a:prstGeom>
          <a:noFill/>
          <a:ln/>
        </p:spPr>
        <p:txBody>
          <a:bodyPr wrap="square" lIns="25400" tIns="25400" rIns="25400" bIns="25400" rtlCol="0" anchor="t">
            <a:normAutofit/>
          </a:bodyPr>
          <a:lstStyle/>
          <a:p>
            <a:pPr marL="0" indent="0" algn="l">
              <a:lnSpc>
                <a:spcPct val="100385"/>
              </a:lnSpc>
              <a:buNone/>
            </a:pPr>
            <a:r>
              <a:rPr lang="en-US" sz="2025" dirty="0">
                <a:solidFill>
                  <a:srgbClr val="B6C0CC"/>
                </a:solidFill>
                <a:latin typeface="Noto Sans KR" pitchFamily="34" charset="0"/>
                <a:ea typeface="Noto Sans KR" pitchFamily="34" charset="-122"/>
                <a:cs typeface="Noto Sans KR" pitchFamily="34" charset="-120"/>
              </a:rPr>
              <a:t>대량 평가 사전 승인 · 사용량 일일 공유</a:t>
            </a:r>
            <a:endParaRPr lang="en-US" sz="20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914400" y="876300"/>
            <a:ext cx="18105120"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07 · CONCLUSION</a:t>
            </a:r>
            <a:endParaRPr lang="en-US" sz="1875" dirty="0"/>
          </a:p>
        </p:txBody>
      </p:sp>
      <p:sp>
        <p:nvSpPr>
          <p:cNvPr id="3" name="Text 1"/>
          <p:cNvSpPr/>
          <p:nvPr/>
        </p:nvSpPr>
        <p:spPr>
          <a:xfrm>
            <a:off x="914400" y="1343025"/>
            <a:ext cx="18105120" cy="782836"/>
          </a:xfrm>
          <a:prstGeom prst="rect">
            <a:avLst/>
          </a:prstGeom>
          <a:noFill/>
          <a:ln/>
        </p:spPr>
        <p:txBody>
          <a:bodyPr wrap="square" lIns="25400" tIns="25400" rIns="25400" bIns="25400" rtlCol="0" anchor="t">
            <a:normAutofit/>
          </a:bodyPr>
          <a:lstStyle/>
          <a:p>
            <a:pPr marL="0" indent="0" algn="l">
              <a:lnSpc>
                <a:spcPct val="78990"/>
              </a:lnSpc>
              <a:buNone/>
            </a:pPr>
            <a:r>
              <a:rPr lang="en-US" sz="5100" b="1" kern="0" spc="-153" dirty="0">
                <a:solidFill>
                  <a:srgbClr val="1F2937"/>
                </a:solidFill>
                <a:latin typeface="Noto Sans KR" pitchFamily="34" charset="0"/>
                <a:ea typeface="Noto Sans KR" pitchFamily="34" charset="-122"/>
                <a:cs typeface="Noto Sans KR" pitchFamily="34" charset="-120"/>
              </a:rPr>
              <a:t>핵심 요약</a:t>
            </a:r>
            <a:endParaRPr lang="en-US" sz="5100" dirty="0"/>
          </a:p>
        </p:txBody>
      </p:sp>
      <p:sp>
        <p:nvSpPr>
          <p:cNvPr id="4" name="Shape 2"/>
          <p:cNvSpPr/>
          <p:nvPr/>
        </p:nvSpPr>
        <p:spPr>
          <a:xfrm>
            <a:off x="914400" y="2544961"/>
            <a:ext cx="16459200" cy="1771650"/>
          </a:xfrm>
          <a:prstGeom prst="roundRect">
            <a:avLst>
              <a:gd name="adj" fmla="val 13978"/>
            </a:avLst>
          </a:prstGeom>
          <a:solidFill>
            <a:srgbClr val="FFFFFF"/>
          </a:solidFill>
          <a:ln/>
        </p:spPr>
        <p:txBody>
          <a:bodyPr/>
          <a:lstStyle/>
          <a:p>
            <a:endParaRPr lang="ko-KR" altLang="en-US"/>
          </a:p>
        </p:txBody>
      </p:sp>
      <p:sp>
        <p:nvSpPr>
          <p:cNvPr id="5" name="Text 3"/>
          <p:cNvSpPr/>
          <p:nvPr/>
        </p:nvSpPr>
        <p:spPr>
          <a:xfrm>
            <a:off x="1314450" y="2906911"/>
            <a:ext cx="749201" cy="590550"/>
          </a:xfrm>
          <a:prstGeom prst="rect">
            <a:avLst/>
          </a:prstGeom>
          <a:noFill/>
          <a:ln/>
        </p:spPr>
        <p:txBody>
          <a:bodyPr wrap="square" lIns="25400" tIns="25400" rIns="25400" bIns="25400" rtlCol="0" anchor="t">
            <a:normAutofit/>
          </a:bodyPr>
          <a:lstStyle/>
          <a:p>
            <a:pPr marL="0" indent="0" algn="l">
              <a:lnSpc>
                <a:spcPct val="69048"/>
              </a:lnSpc>
              <a:buNone/>
            </a:pPr>
            <a:r>
              <a:rPr lang="en-US" sz="4350" b="1" dirty="0">
                <a:solidFill>
                  <a:srgbClr val="6A5AED"/>
                </a:solidFill>
                <a:latin typeface="Noto Sans KR" pitchFamily="34" charset="0"/>
                <a:ea typeface="Noto Sans KR" pitchFamily="34" charset="-122"/>
                <a:cs typeface="Noto Sans KR" pitchFamily="34" charset="-120"/>
              </a:rPr>
              <a:t>01</a:t>
            </a:r>
            <a:endParaRPr lang="en-US" sz="4350" dirty="0"/>
          </a:p>
        </p:txBody>
      </p:sp>
      <p:sp>
        <p:nvSpPr>
          <p:cNvPr id="6" name="Text 4"/>
          <p:cNvSpPr/>
          <p:nvPr/>
        </p:nvSpPr>
        <p:spPr>
          <a:xfrm>
            <a:off x="2330351" y="2906911"/>
            <a:ext cx="5906199"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F2937"/>
                </a:solidFill>
                <a:latin typeface="Noto Sans KR" pitchFamily="34" charset="0"/>
                <a:ea typeface="Noto Sans KR" pitchFamily="34" charset="-122"/>
                <a:cs typeface="Noto Sans KR" pitchFamily="34" charset="-120"/>
              </a:rPr>
              <a:t>전략에서 광고까지 한 흐름으로</a:t>
            </a:r>
            <a:endParaRPr lang="en-US" sz="2850" dirty="0"/>
          </a:p>
        </p:txBody>
      </p:sp>
      <p:sp>
        <p:nvSpPr>
          <p:cNvPr id="7" name="Text 5"/>
          <p:cNvSpPr/>
          <p:nvPr/>
        </p:nvSpPr>
        <p:spPr>
          <a:xfrm>
            <a:off x="2330351" y="3526036"/>
            <a:ext cx="5906199" cy="466725"/>
          </a:xfrm>
          <a:prstGeom prst="rect">
            <a:avLst/>
          </a:prstGeom>
          <a:noFill/>
          <a:ln/>
        </p:spPr>
        <p:txBody>
          <a:bodyPr wrap="square" lIns="25400" tIns="25400" rIns="25400" bIns="25400" rtlCol="0" anchor="t">
            <a:normAutofit/>
          </a:bodyPr>
          <a:lstStyle/>
          <a:p>
            <a:pPr marL="0" indent="0" algn="l">
              <a:lnSpc>
                <a:spcPct val="102273"/>
              </a:lnSpc>
              <a:buNone/>
            </a:pPr>
            <a:r>
              <a:rPr lang="en-US" sz="2250" dirty="0">
                <a:solidFill>
                  <a:srgbClr val="6B7280"/>
                </a:solidFill>
                <a:latin typeface="Noto Sans KR" pitchFamily="34" charset="0"/>
                <a:ea typeface="Noto Sans KR" pitchFamily="34" charset="-122"/>
                <a:cs typeface="Noto Sans KR" pitchFamily="34" charset="-120"/>
              </a:rPr>
              <a:t>상권 데이터 → 전략 → 광고, 한 흐름으로 연결</a:t>
            </a:r>
            <a:endParaRPr lang="en-US" sz="2250" dirty="0"/>
          </a:p>
        </p:txBody>
      </p:sp>
      <p:sp>
        <p:nvSpPr>
          <p:cNvPr id="8" name="Shape 6"/>
          <p:cNvSpPr/>
          <p:nvPr/>
        </p:nvSpPr>
        <p:spPr>
          <a:xfrm>
            <a:off x="914400" y="4545211"/>
            <a:ext cx="16459200" cy="1771650"/>
          </a:xfrm>
          <a:prstGeom prst="roundRect">
            <a:avLst>
              <a:gd name="adj" fmla="val 13978"/>
            </a:avLst>
          </a:prstGeom>
          <a:solidFill>
            <a:srgbClr val="FFFFFF"/>
          </a:solidFill>
          <a:ln/>
        </p:spPr>
        <p:txBody>
          <a:bodyPr/>
          <a:lstStyle/>
          <a:p>
            <a:endParaRPr lang="ko-KR" altLang="en-US"/>
          </a:p>
        </p:txBody>
      </p:sp>
      <p:sp>
        <p:nvSpPr>
          <p:cNvPr id="9" name="Text 7"/>
          <p:cNvSpPr/>
          <p:nvPr/>
        </p:nvSpPr>
        <p:spPr>
          <a:xfrm>
            <a:off x="1314450" y="4907161"/>
            <a:ext cx="749201" cy="590550"/>
          </a:xfrm>
          <a:prstGeom prst="rect">
            <a:avLst/>
          </a:prstGeom>
          <a:noFill/>
          <a:ln/>
        </p:spPr>
        <p:txBody>
          <a:bodyPr wrap="square" lIns="25400" tIns="25400" rIns="25400" bIns="25400" rtlCol="0" anchor="t">
            <a:normAutofit/>
          </a:bodyPr>
          <a:lstStyle/>
          <a:p>
            <a:pPr marL="0" indent="0" algn="l">
              <a:lnSpc>
                <a:spcPct val="69048"/>
              </a:lnSpc>
              <a:buNone/>
            </a:pPr>
            <a:r>
              <a:rPr lang="en-US" sz="4350" b="1" dirty="0">
                <a:solidFill>
                  <a:srgbClr val="6A5AED"/>
                </a:solidFill>
                <a:latin typeface="Noto Sans KR" pitchFamily="34" charset="0"/>
                <a:ea typeface="Noto Sans KR" pitchFamily="34" charset="-122"/>
                <a:cs typeface="Noto Sans KR" pitchFamily="34" charset="-120"/>
              </a:rPr>
              <a:t>02</a:t>
            </a:r>
            <a:endParaRPr lang="en-US" sz="4350" dirty="0"/>
          </a:p>
        </p:txBody>
      </p:sp>
      <p:sp>
        <p:nvSpPr>
          <p:cNvPr id="10" name="Text 8"/>
          <p:cNvSpPr/>
          <p:nvPr/>
        </p:nvSpPr>
        <p:spPr>
          <a:xfrm>
            <a:off x="2330351" y="4907161"/>
            <a:ext cx="5830238"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1F2937"/>
                </a:solidFill>
                <a:latin typeface="Noto Sans KR" pitchFamily="34" charset="0"/>
                <a:ea typeface="Noto Sans KR" pitchFamily="34" charset="-122"/>
                <a:cs typeface="Noto Sans KR" pitchFamily="34" charset="-120"/>
              </a:rPr>
              <a:t>안전장치와 데이터는 공유 자산으로</a:t>
            </a:r>
            <a:endParaRPr lang="en-US" sz="2850" dirty="0"/>
          </a:p>
        </p:txBody>
      </p:sp>
      <p:sp>
        <p:nvSpPr>
          <p:cNvPr id="11" name="Text 9"/>
          <p:cNvSpPr/>
          <p:nvPr/>
        </p:nvSpPr>
        <p:spPr>
          <a:xfrm>
            <a:off x="2330351" y="5526286"/>
            <a:ext cx="5830238" cy="466725"/>
          </a:xfrm>
          <a:prstGeom prst="rect">
            <a:avLst/>
          </a:prstGeom>
          <a:noFill/>
          <a:ln/>
        </p:spPr>
        <p:txBody>
          <a:bodyPr wrap="square" lIns="25400" tIns="25400" rIns="25400" bIns="25400" rtlCol="0" anchor="t">
            <a:normAutofit/>
          </a:bodyPr>
          <a:lstStyle/>
          <a:p>
            <a:pPr marL="0" indent="0" algn="l">
              <a:lnSpc>
                <a:spcPct val="102273"/>
              </a:lnSpc>
              <a:buNone/>
            </a:pPr>
            <a:r>
              <a:rPr lang="en-US" sz="2250" dirty="0">
                <a:solidFill>
                  <a:srgbClr val="6B7280"/>
                </a:solidFill>
                <a:latin typeface="Noto Sans KR" pitchFamily="34" charset="0"/>
                <a:ea typeface="Noto Sans KR" pitchFamily="34" charset="-122"/>
                <a:cs typeface="Noto Sans KR" pitchFamily="34" charset="-120"/>
              </a:rPr>
              <a:t>검증 함수 4종 · 데이터 캐시를 두 챗봇이 공유</a:t>
            </a:r>
            <a:endParaRPr lang="en-US" sz="2250" dirty="0"/>
          </a:p>
        </p:txBody>
      </p:sp>
      <p:sp>
        <p:nvSpPr>
          <p:cNvPr id="12" name="Shape 10"/>
          <p:cNvSpPr/>
          <p:nvPr/>
        </p:nvSpPr>
        <p:spPr>
          <a:xfrm>
            <a:off x="914400" y="6545461"/>
            <a:ext cx="16459200" cy="1771650"/>
          </a:xfrm>
          <a:prstGeom prst="roundRect">
            <a:avLst>
              <a:gd name="adj" fmla="val 13978"/>
            </a:avLst>
          </a:prstGeom>
          <a:solidFill>
            <a:srgbClr val="6A5AED"/>
          </a:solidFill>
          <a:ln/>
        </p:spPr>
        <p:txBody>
          <a:bodyPr/>
          <a:lstStyle/>
          <a:p>
            <a:endParaRPr lang="ko-KR" altLang="en-US"/>
          </a:p>
        </p:txBody>
      </p:sp>
      <p:sp>
        <p:nvSpPr>
          <p:cNvPr id="13" name="Text 11"/>
          <p:cNvSpPr/>
          <p:nvPr/>
        </p:nvSpPr>
        <p:spPr>
          <a:xfrm>
            <a:off x="1314450" y="6907411"/>
            <a:ext cx="749201" cy="590550"/>
          </a:xfrm>
          <a:prstGeom prst="rect">
            <a:avLst/>
          </a:prstGeom>
          <a:noFill/>
          <a:ln/>
        </p:spPr>
        <p:txBody>
          <a:bodyPr wrap="square" lIns="25400" tIns="25400" rIns="25400" bIns="25400" rtlCol="0" anchor="t">
            <a:normAutofit/>
          </a:bodyPr>
          <a:lstStyle/>
          <a:p>
            <a:pPr marL="0" indent="0" algn="l">
              <a:lnSpc>
                <a:spcPct val="69048"/>
              </a:lnSpc>
              <a:buNone/>
            </a:pPr>
            <a:r>
              <a:rPr lang="en-US" sz="4350" b="1" dirty="0">
                <a:solidFill>
                  <a:srgbClr val="FFB703"/>
                </a:solidFill>
                <a:latin typeface="Noto Sans KR" pitchFamily="34" charset="0"/>
                <a:ea typeface="Noto Sans KR" pitchFamily="34" charset="-122"/>
                <a:cs typeface="Noto Sans KR" pitchFamily="34" charset="-120"/>
              </a:rPr>
              <a:t>03</a:t>
            </a:r>
            <a:endParaRPr lang="en-US" sz="4350" dirty="0"/>
          </a:p>
        </p:txBody>
      </p:sp>
      <p:sp>
        <p:nvSpPr>
          <p:cNvPr id="14" name="Text 12"/>
          <p:cNvSpPr/>
          <p:nvPr/>
        </p:nvSpPr>
        <p:spPr>
          <a:xfrm>
            <a:off x="2330351" y="6907411"/>
            <a:ext cx="9493925" cy="561975"/>
          </a:xfrm>
          <a:prstGeom prst="rect">
            <a:avLst/>
          </a:prstGeom>
          <a:noFill/>
          <a:ln/>
        </p:spPr>
        <p:txBody>
          <a:bodyPr wrap="square" lIns="25400" tIns="25400" rIns="25400" bIns="25400" rtlCol="0" anchor="t">
            <a:normAutofit/>
          </a:bodyPr>
          <a:lstStyle/>
          <a:p>
            <a:pPr marL="0" indent="0" algn="l">
              <a:buNone/>
            </a:pPr>
            <a:r>
              <a:rPr lang="en-US" sz="2850" b="1" dirty="0">
                <a:solidFill>
                  <a:srgbClr val="FFFFFF"/>
                </a:solidFill>
                <a:latin typeface="Noto Sans KR" pitchFamily="34" charset="0"/>
                <a:ea typeface="Noto Sans KR" pitchFamily="34" charset="-122"/>
                <a:cs typeface="Noto Sans KR" pitchFamily="34" charset="-120"/>
              </a:rPr>
              <a:t>인터페이스 계약을 먼저 고정하고 병렬로</a:t>
            </a:r>
            <a:endParaRPr lang="en-US" sz="2850" dirty="0"/>
          </a:p>
        </p:txBody>
      </p:sp>
      <p:sp>
        <p:nvSpPr>
          <p:cNvPr id="15" name="Text 13"/>
          <p:cNvSpPr/>
          <p:nvPr/>
        </p:nvSpPr>
        <p:spPr>
          <a:xfrm>
            <a:off x="2330351" y="7526536"/>
            <a:ext cx="9493925" cy="466725"/>
          </a:xfrm>
          <a:prstGeom prst="rect">
            <a:avLst/>
          </a:prstGeom>
          <a:noFill/>
          <a:ln/>
        </p:spPr>
        <p:txBody>
          <a:bodyPr wrap="square" lIns="25400" tIns="25400" rIns="25400" bIns="25400" rtlCol="0" anchor="t">
            <a:normAutofit/>
          </a:bodyPr>
          <a:lstStyle/>
          <a:p>
            <a:pPr marL="0" indent="0" algn="l">
              <a:lnSpc>
                <a:spcPct val="102273"/>
              </a:lnSpc>
              <a:buNone/>
            </a:pPr>
            <a:r>
              <a:rPr lang="en-US" sz="2250" dirty="0">
                <a:solidFill>
                  <a:srgbClr val="D6D0FF"/>
                </a:solidFill>
                <a:latin typeface="Noto Sans KR" pitchFamily="34" charset="0"/>
                <a:ea typeface="Noto Sans KR" pitchFamily="34" charset="-122"/>
                <a:cs typeface="Noto Sans KR" pitchFamily="34" charset="-120"/>
              </a:rPr>
              <a:t>Mock · 스텁으로 계약을 먼저 굳혀 네 명이 서로를 기다리지 않고 2주 완주</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BFE"/>
        </a:solidFill>
        <a:effectLst/>
      </p:bgPr>
    </p:bg>
    <p:spTree>
      <p:nvGrpSpPr>
        <p:cNvPr id="1" name=""/>
        <p:cNvGrpSpPr/>
        <p:nvPr/>
      </p:nvGrpSpPr>
      <p:grpSpPr>
        <a:xfrm>
          <a:off x="0" y="0"/>
          <a:ext cx="0" cy="0"/>
          <a:chOff x="0" y="0"/>
          <a:chExt cx="0" cy="0"/>
        </a:xfrm>
      </p:grpSpPr>
      <p:sp>
        <p:nvSpPr>
          <p:cNvPr id="2" name="Text 0"/>
          <p:cNvSpPr/>
          <p:nvPr/>
        </p:nvSpPr>
        <p:spPr>
          <a:xfrm>
            <a:off x="914400" y="800100"/>
            <a:ext cx="18105120"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6A5AED"/>
                </a:solidFill>
                <a:latin typeface="IBM Plex Mono" pitchFamily="34" charset="0"/>
                <a:ea typeface="IBM Plex Mono" pitchFamily="34" charset="-122"/>
                <a:cs typeface="IBM Plex Mono" pitchFamily="34" charset="-120"/>
              </a:rPr>
              <a:t>07 · CONCLUSION</a:t>
            </a:r>
            <a:endParaRPr lang="en-US" sz="1875" dirty="0"/>
          </a:p>
        </p:txBody>
      </p:sp>
      <p:sp>
        <p:nvSpPr>
          <p:cNvPr id="3" name="Text 1"/>
          <p:cNvSpPr/>
          <p:nvPr/>
        </p:nvSpPr>
        <p:spPr>
          <a:xfrm>
            <a:off x="914400" y="1247775"/>
            <a:ext cx="18105120" cy="760958"/>
          </a:xfrm>
          <a:prstGeom prst="rect">
            <a:avLst/>
          </a:prstGeom>
          <a:noFill/>
          <a:ln/>
        </p:spPr>
        <p:txBody>
          <a:bodyPr wrap="square" lIns="25400" tIns="25400" rIns="25400" bIns="25400" rtlCol="0" anchor="t">
            <a:normAutofit/>
          </a:bodyPr>
          <a:lstStyle/>
          <a:p>
            <a:pPr marL="0" indent="0" algn="l">
              <a:lnSpc>
                <a:spcPct val="79063"/>
              </a:lnSpc>
              <a:buNone/>
            </a:pPr>
            <a:r>
              <a:rPr lang="en-US" sz="4950" b="1" kern="0" spc="-148" dirty="0">
                <a:solidFill>
                  <a:srgbClr val="1F2937"/>
                </a:solidFill>
                <a:latin typeface="Noto Sans KR" pitchFamily="34" charset="0"/>
                <a:ea typeface="Noto Sans KR" pitchFamily="34" charset="-122"/>
                <a:cs typeface="Noto Sans KR" pitchFamily="34" charset="-120"/>
              </a:rPr>
              <a:t>한계점과 개선 방향</a:t>
            </a:r>
            <a:endParaRPr lang="en-US" sz="4950" dirty="0"/>
          </a:p>
        </p:txBody>
      </p:sp>
      <p:sp>
        <p:nvSpPr>
          <p:cNvPr id="4" name="Shape 2"/>
          <p:cNvSpPr/>
          <p:nvPr/>
        </p:nvSpPr>
        <p:spPr>
          <a:xfrm>
            <a:off x="914400" y="2389733"/>
            <a:ext cx="16459200" cy="1650355"/>
          </a:xfrm>
          <a:prstGeom prst="roundRect">
            <a:avLst>
              <a:gd name="adj" fmla="val 13852"/>
            </a:avLst>
          </a:prstGeom>
          <a:solidFill>
            <a:srgbClr val="FFFFFF"/>
          </a:solidFill>
          <a:ln/>
        </p:spPr>
        <p:txBody>
          <a:bodyPr/>
          <a:lstStyle/>
          <a:p>
            <a:endParaRPr lang="ko-KR" altLang="en-US"/>
          </a:p>
        </p:txBody>
      </p:sp>
      <p:sp>
        <p:nvSpPr>
          <p:cNvPr id="5" name="Text 3"/>
          <p:cNvSpPr/>
          <p:nvPr/>
        </p:nvSpPr>
        <p:spPr>
          <a:xfrm>
            <a:off x="1238250" y="3038624"/>
            <a:ext cx="31432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Noto Sans KR" pitchFamily="34" charset="0"/>
                <a:ea typeface="Noto Sans KR" pitchFamily="34" charset="-122"/>
                <a:cs typeface="Noto Sans KR" pitchFamily="34" charset="-120"/>
              </a:rPr>
              <a:t>기본 챗봇</a:t>
            </a:r>
            <a:endParaRPr lang="en-US" sz="1950" dirty="0"/>
          </a:p>
        </p:txBody>
      </p:sp>
      <p:sp>
        <p:nvSpPr>
          <p:cNvPr id="6" name="Text 4"/>
          <p:cNvSpPr/>
          <p:nvPr/>
        </p:nvSpPr>
        <p:spPr>
          <a:xfrm>
            <a:off x="4400550" y="2829074"/>
            <a:ext cx="9387840" cy="419100"/>
          </a:xfrm>
          <a:prstGeom prst="rect">
            <a:avLst/>
          </a:prstGeom>
          <a:noFill/>
          <a:ln/>
        </p:spPr>
        <p:txBody>
          <a:bodyPr wrap="square" lIns="25400" tIns="25400" rIns="25400" bIns="25400" rtlCol="0" anchor="t">
            <a:normAutofit/>
          </a:bodyPr>
          <a:lstStyle/>
          <a:p>
            <a:pPr marL="0" indent="0" algn="l">
              <a:lnSpc>
                <a:spcPct val="86957"/>
              </a:lnSpc>
              <a:buNone/>
            </a:pPr>
            <a:r>
              <a:rPr lang="en-US" sz="2400" b="1" dirty="0">
                <a:solidFill>
                  <a:srgbClr val="1F2937"/>
                </a:solidFill>
                <a:latin typeface="Noto Sans KR" pitchFamily="34" charset="0"/>
                <a:ea typeface="Noto Sans KR" pitchFamily="34" charset="-122"/>
                <a:cs typeface="Noto Sans KR" pitchFamily="34" charset="-120"/>
              </a:rPr>
              <a:t>프롬프트 지시만으로 생성 결과를 통제할 수 없다</a:t>
            </a:r>
            <a:endParaRPr lang="en-US" sz="2400" dirty="0"/>
          </a:p>
        </p:txBody>
      </p:sp>
      <p:sp>
        <p:nvSpPr>
          <p:cNvPr id="7" name="Text 5"/>
          <p:cNvSpPr/>
          <p:nvPr/>
        </p:nvSpPr>
        <p:spPr>
          <a:xfrm>
            <a:off x="4400550" y="3267224"/>
            <a:ext cx="9387840" cy="371475"/>
          </a:xfrm>
          <a:prstGeom prst="rect">
            <a:avLst/>
          </a:prstGeom>
          <a:noFill/>
          <a:ln/>
        </p:spPr>
        <p:txBody>
          <a:bodyPr wrap="square" lIns="25400" tIns="25400" rIns="25400" bIns="25400" rtlCol="0" anchor="t">
            <a:normAutofit/>
          </a:bodyPr>
          <a:lstStyle/>
          <a:p>
            <a:pPr marL="0" indent="0" algn="l">
              <a:lnSpc>
                <a:spcPct val="97222"/>
              </a:lnSpc>
              <a:buNone/>
            </a:pPr>
            <a:r>
              <a:rPr lang="en-US" sz="1875" dirty="0">
                <a:solidFill>
                  <a:srgbClr val="6B7280"/>
                </a:solidFill>
                <a:latin typeface="Noto Sans KR" pitchFamily="34" charset="0"/>
                <a:ea typeface="Noto Sans KR" pitchFamily="34" charset="-122"/>
                <a:cs typeface="Noto Sans KR" pitchFamily="34" charset="-120"/>
              </a:rPr>
              <a:t>금지어 확대 시 카피 구체성 하락, 위반은 재발</a:t>
            </a:r>
            <a:endParaRPr lang="en-US" sz="1875" dirty="0"/>
          </a:p>
        </p:txBody>
      </p:sp>
      <p:sp>
        <p:nvSpPr>
          <p:cNvPr id="8" name="Text 6"/>
          <p:cNvSpPr/>
          <p:nvPr/>
        </p:nvSpPr>
        <p:spPr>
          <a:xfrm>
            <a:off x="13239750" y="3029099"/>
            <a:ext cx="4191000"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6A5AED"/>
                </a:solidFill>
                <a:latin typeface="Noto Sans KR" pitchFamily="34" charset="0"/>
                <a:ea typeface="Noto Sans KR" pitchFamily="34" charset="-122"/>
                <a:cs typeface="Noto Sans KR" pitchFamily="34" charset="-120"/>
              </a:rPr>
              <a:t>→ 사후 검증 계층으로 방어 이동</a:t>
            </a:r>
            <a:endParaRPr lang="en-US" sz="2025" dirty="0"/>
          </a:p>
        </p:txBody>
      </p:sp>
      <p:sp>
        <p:nvSpPr>
          <p:cNvPr id="9" name="Shape 7"/>
          <p:cNvSpPr/>
          <p:nvPr/>
        </p:nvSpPr>
        <p:spPr>
          <a:xfrm>
            <a:off x="914400" y="4230588"/>
            <a:ext cx="16459200" cy="1650504"/>
          </a:xfrm>
          <a:prstGeom prst="roundRect">
            <a:avLst>
              <a:gd name="adj" fmla="val 13850"/>
            </a:avLst>
          </a:prstGeom>
          <a:solidFill>
            <a:srgbClr val="FFFFFF"/>
          </a:solidFill>
          <a:ln/>
        </p:spPr>
        <p:txBody>
          <a:bodyPr/>
          <a:lstStyle/>
          <a:p>
            <a:endParaRPr lang="ko-KR" altLang="en-US"/>
          </a:p>
        </p:txBody>
      </p:sp>
      <p:sp>
        <p:nvSpPr>
          <p:cNvPr id="10" name="Text 8"/>
          <p:cNvSpPr/>
          <p:nvPr/>
        </p:nvSpPr>
        <p:spPr>
          <a:xfrm>
            <a:off x="1238250" y="4879628"/>
            <a:ext cx="31432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Noto Sans KR" pitchFamily="34" charset="0"/>
                <a:ea typeface="Noto Sans KR" pitchFamily="34" charset="-122"/>
                <a:cs typeface="Noto Sans KR" pitchFamily="34" charset="-120"/>
              </a:rPr>
              <a:t>컨설턴트 챗봇</a:t>
            </a:r>
            <a:endParaRPr lang="en-US" sz="1950" dirty="0"/>
          </a:p>
        </p:txBody>
      </p:sp>
      <p:sp>
        <p:nvSpPr>
          <p:cNvPr id="11" name="Text 9"/>
          <p:cNvSpPr/>
          <p:nvPr/>
        </p:nvSpPr>
        <p:spPr>
          <a:xfrm>
            <a:off x="4400550" y="4670078"/>
            <a:ext cx="9387840" cy="419100"/>
          </a:xfrm>
          <a:prstGeom prst="rect">
            <a:avLst/>
          </a:prstGeom>
          <a:noFill/>
          <a:ln/>
        </p:spPr>
        <p:txBody>
          <a:bodyPr wrap="square" lIns="25400" tIns="25400" rIns="25400" bIns="25400" rtlCol="0" anchor="t">
            <a:normAutofit/>
          </a:bodyPr>
          <a:lstStyle/>
          <a:p>
            <a:pPr marL="0" indent="0" algn="l">
              <a:lnSpc>
                <a:spcPct val="86957"/>
              </a:lnSpc>
              <a:buNone/>
            </a:pPr>
            <a:r>
              <a:rPr lang="en-US" sz="2400" b="1" dirty="0">
                <a:solidFill>
                  <a:srgbClr val="1F2937"/>
                </a:solidFill>
                <a:latin typeface="Noto Sans KR" pitchFamily="34" charset="0"/>
                <a:ea typeface="Noto Sans KR" pitchFamily="34" charset="-122"/>
                <a:cs typeface="Noto Sans KR" pitchFamily="34" charset="-120"/>
              </a:rPr>
              <a:t>날짜만 보고 수요를 단정하는 표현이 남는다</a:t>
            </a:r>
            <a:endParaRPr lang="en-US" sz="2400" dirty="0"/>
          </a:p>
        </p:txBody>
      </p:sp>
      <p:sp>
        <p:nvSpPr>
          <p:cNvPr id="12" name="Text 10"/>
          <p:cNvSpPr/>
          <p:nvPr/>
        </p:nvSpPr>
        <p:spPr>
          <a:xfrm>
            <a:off x="4400550" y="5108228"/>
            <a:ext cx="9387840" cy="371475"/>
          </a:xfrm>
          <a:prstGeom prst="rect">
            <a:avLst/>
          </a:prstGeom>
          <a:noFill/>
          <a:ln/>
        </p:spPr>
        <p:txBody>
          <a:bodyPr wrap="square" lIns="25400" tIns="25400" rIns="25400" bIns="25400" rtlCol="0" anchor="t">
            <a:normAutofit/>
          </a:bodyPr>
          <a:lstStyle/>
          <a:p>
            <a:pPr marL="0" indent="0" algn="l">
              <a:lnSpc>
                <a:spcPct val="97222"/>
              </a:lnSpc>
              <a:buNone/>
            </a:pPr>
            <a:r>
              <a:rPr lang="en-US" sz="1875" dirty="0">
                <a:solidFill>
                  <a:srgbClr val="6B7280"/>
                </a:solidFill>
                <a:latin typeface="Noto Sans KR" pitchFamily="34" charset="0"/>
                <a:ea typeface="Noto Sans KR" pitchFamily="34" charset="-122"/>
                <a:cs typeface="Noto Sans KR" pitchFamily="34" charset="-120"/>
              </a:rPr>
              <a:t>계절성은 날짜 기반 힌트, 수요 근거 아님</a:t>
            </a:r>
            <a:endParaRPr lang="en-US" sz="1875" dirty="0"/>
          </a:p>
        </p:txBody>
      </p:sp>
      <p:sp>
        <p:nvSpPr>
          <p:cNvPr id="13" name="Text 11"/>
          <p:cNvSpPr/>
          <p:nvPr/>
        </p:nvSpPr>
        <p:spPr>
          <a:xfrm>
            <a:off x="13239750" y="4870103"/>
            <a:ext cx="4191000"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6A5AED"/>
                </a:solidFill>
                <a:latin typeface="Noto Sans KR" pitchFamily="34" charset="0"/>
                <a:ea typeface="Noto Sans KR" pitchFamily="34" charset="-122"/>
                <a:cs typeface="Noto Sans KR" pitchFamily="34" charset="-120"/>
              </a:rPr>
              <a:t>→ 의미 기반 검사를 평가에 추가</a:t>
            </a:r>
            <a:endParaRPr lang="en-US" sz="2025" dirty="0"/>
          </a:p>
        </p:txBody>
      </p:sp>
      <p:sp>
        <p:nvSpPr>
          <p:cNvPr id="14" name="Shape 12"/>
          <p:cNvSpPr/>
          <p:nvPr/>
        </p:nvSpPr>
        <p:spPr>
          <a:xfrm>
            <a:off x="914400" y="6071592"/>
            <a:ext cx="16459200" cy="1650504"/>
          </a:xfrm>
          <a:prstGeom prst="roundRect">
            <a:avLst>
              <a:gd name="adj" fmla="val 13850"/>
            </a:avLst>
          </a:prstGeom>
          <a:solidFill>
            <a:srgbClr val="FFFFFF"/>
          </a:solidFill>
          <a:ln/>
        </p:spPr>
        <p:txBody>
          <a:bodyPr/>
          <a:lstStyle/>
          <a:p>
            <a:endParaRPr lang="ko-KR" altLang="en-US"/>
          </a:p>
        </p:txBody>
      </p:sp>
      <p:sp>
        <p:nvSpPr>
          <p:cNvPr id="15" name="Text 13"/>
          <p:cNvSpPr/>
          <p:nvPr/>
        </p:nvSpPr>
        <p:spPr>
          <a:xfrm>
            <a:off x="1238250" y="6720632"/>
            <a:ext cx="31432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Noto Sans KR" pitchFamily="34" charset="0"/>
                <a:ea typeface="Noto Sans KR" pitchFamily="34" charset="-122"/>
                <a:cs typeface="Noto Sans KR" pitchFamily="34" charset="-120"/>
              </a:rPr>
              <a:t>검증 · 운영</a:t>
            </a:r>
            <a:endParaRPr lang="en-US" sz="1950" dirty="0"/>
          </a:p>
        </p:txBody>
      </p:sp>
      <p:sp>
        <p:nvSpPr>
          <p:cNvPr id="16" name="Text 14"/>
          <p:cNvSpPr/>
          <p:nvPr/>
        </p:nvSpPr>
        <p:spPr>
          <a:xfrm>
            <a:off x="4400550" y="6511082"/>
            <a:ext cx="9387840" cy="419100"/>
          </a:xfrm>
          <a:prstGeom prst="rect">
            <a:avLst/>
          </a:prstGeom>
          <a:noFill/>
          <a:ln/>
        </p:spPr>
        <p:txBody>
          <a:bodyPr wrap="square" lIns="25400" tIns="25400" rIns="25400" bIns="25400" rtlCol="0" anchor="t">
            <a:normAutofit/>
          </a:bodyPr>
          <a:lstStyle/>
          <a:p>
            <a:pPr marL="0" indent="0" algn="l">
              <a:lnSpc>
                <a:spcPct val="86957"/>
              </a:lnSpc>
              <a:buNone/>
            </a:pPr>
            <a:r>
              <a:rPr lang="en-US" sz="2400" b="1" dirty="0">
                <a:solidFill>
                  <a:srgbClr val="1F2937"/>
                </a:solidFill>
                <a:latin typeface="Noto Sans KR" pitchFamily="34" charset="0"/>
                <a:ea typeface="Noto Sans KR" pitchFamily="34" charset="-122"/>
                <a:cs typeface="Noto Sans KR" pitchFamily="34" charset="-120"/>
              </a:rPr>
              <a:t>이미지 안의 텍스트는 검증하지 않는다</a:t>
            </a:r>
            <a:endParaRPr lang="en-US" sz="2400" dirty="0"/>
          </a:p>
        </p:txBody>
      </p:sp>
      <p:sp>
        <p:nvSpPr>
          <p:cNvPr id="17" name="Text 15"/>
          <p:cNvSpPr/>
          <p:nvPr/>
        </p:nvSpPr>
        <p:spPr>
          <a:xfrm>
            <a:off x="4400550" y="6949232"/>
            <a:ext cx="9387840" cy="371475"/>
          </a:xfrm>
          <a:prstGeom prst="rect">
            <a:avLst/>
          </a:prstGeom>
          <a:noFill/>
          <a:ln/>
        </p:spPr>
        <p:txBody>
          <a:bodyPr wrap="square" lIns="25400" tIns="25400" rIns="25400" bIns="25400" rtlCol="0" anchor="t">
            <a:normAutofit/>
          </a:bodyPr>
          <a:lstStyle/>
          <a:p>
            <a:pPr marL="0" indent="0" algn="l">
              <a:lnSpc>
                <a:spcPct val="97222"/>
              </a:lnSpc>
              <a:buNone/>
            </a:pPr>
            <a:r>
              <a:rPr lang="en-US" sz="1875" dirty="0">
                <a:solidFill>
                  <a:srgbClr val="6B7280"/>
                </a:solidFill>
                <a:latin typeface="Noto Sans KR" pitchFamily="34" charset="0"/>
                <a:ea typeface="Noto Sans KR" pitchFamily="34" charset="-122"/>
                <a:cs typeface="Noto Sans KR" pitchFamily="34" charset="-120"/>
              </a:rPr>
              <a:t>카피 문자열만 검증, 이미지 내 문구는 범위 밖</a:t>
            </a:r>
            <a:endParaRPr lang="en-US" sz="1875" dirty="0"/>
          </a:p>
        </p:txBody>
      </p:sp>
      <p:sp>
        <p:nvSpPr>
          <p:cNvPr id="18" name="Text 16"/>
          <p:cNvSpPr/>
          <p:nvPr/>
        </p:nvSpPr>
        <p:spPr>
          <a:xfrm>
            <a:off x="13239750" y="6711107"/>
            <a:ext cx="4191000"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6A5AED"/>
                </a:solidFill>
                <a:latin typeface="Noto Sans KR" pitchFamily="34" charset="0"/>
                <a:ea typeface="Noto Sans KR" pitchFamily="34" charset="-122"/>
                <a:cs typeface="Noto Sans KR" pitchFamily="34" charset="-120"/>
              </a:rPr>
              <a:t>→ OCR 기반 검증 추가</a:t>
            </a:r>
            <a:endParaRPr lang="en-US" sz="2025" dirty="0"/>
          </a:p>
        </p:txBody>
      </p:sp>
      <p:sp>
        <p:nvSpPr>
          <p:cNvPr id="19" name="Shape 17"/>
          <p:cNvSpPr/>
          <p:nvPr/>
        </p:nvSpPr>
        <p:spPr>
          <a:xfrm>
            <a:off x="914400" y="7912596"/>
            <a:ext cx="16459200" cy="1650504"/>
          </a:xfrm>
          <a:prstGeom prst="roundRect">
            <a:avLst>
              <a:gd name="adj" fmla="val 13850"/>
            </a:avLst>
          </a:prstGeom>
          <a:solidFill>
            <a:srgbClr val="FFFFFF"/>
          </a:solidFill>
          <a:ln/>
        </p:spPr>
        <p:txBody>
          <a:bodyPr/>
          <a:lstStyle/>
          <a:p>
            <a:endParaRPr lang="ko-KR" altLang="en-US"/>
          </a:p>
        </p:txBody>
      </p:sp>
      <p:sp>
        <p:nvSpPr>
          <p:cNvPr id="20" name="Text 18"/>
          <p:cNvSpPr/>
          <p:nvPr/>
        </p:nvSpPr>
        <p:spPr>
          <a:xfrm>
            <a:off x="1238250" y="8561636"/>
            <a:ext cx="3143250" cy="390525"/>
          </a:xfrm>
          <a:prstGeom prst="rect">
            <a:avLst/>
          </a:prstGeom>
          <a:noFill/>
          <a:ln/>
        </p:spPr>
        <p:txBody>
          <a:bodyPr wrap="square" lIns="25400" tIns="25400" rIns="25400" bIns="25400" rtlCol="0" anchor="t">
            <a:normAutofit/>
          </a:bodyPr>
          <a:lstStyle/>
          <a:p>
            <a:pPr marL="0" indent="0" algn="l">
              <a:buNone/>
            </a:pPr>
            <a:r>
              <a:rPr lang="en-US" sz="1950" b="1" dirty="0">
                <a:solidFill>
                  <a:srgbClr val="6A5AED"/>
                </a:solidFill>
                <a:latin typeface="Noto Sans KR" pitchFamily="34" charset="0"/>
                <a:ea typeface="Noto Sans KR" pitchFamily="34" charset="-122"/>
                <a:cs typeface="Noto Sans KR" pitchFamily="34" charset="-120"/>
              </a:rPr>
              <a:t>서비스 · UI</a:t>
            </a:r>
            <a:endParaRPr lang="en-US" sz="1950" dirty="0"/>
          </a:p>
        </p:txBody>
      </p:sp>
      <p:sp>
        <p:nvSpPr>
          <p:cNvPr id="21" name="Text 19"/>
          <p:cNvSpPr/>
          <p:nvPr/>
        </p:nvSpPr>
        <p:spPr>
          <a:xfrm>
            <a:off x="4400550" y="8352086"/>
            <a:ext cx="9387840" cy="419100"/>
          </a:xfrm>
          <a:prstGeom prst="rect">
            <a:avLst/>
          </a:prstGeom>
          <a:noFill/>
          <a:ln/>
        </p:spPr>
        <p:txBody>
          <a:bodyPr wrap="square" lIns="25400" tIns="25400" rIns="25400" bIns="25400" rtlCol="0" anchor="t">
            <a:normAutofit/>
          </a:bodyPr>
          <a:lstStyle/>
          <a:p>
            <a:pPr marL="0" indent="0" algn="l">
              <a:lnSpc>
                <a:spcPct val="86957"/>
              </a:lnSpc>
              <a:buNone/>
            </a:pPr>
            <a:r>
              <a:rPr lang="en-US" sz="2400" b="1" dirty="0">
                <a:solidFill>
                  <a:srgbClr val="1F2937"/>
                </a:solidFill>
                <a:latin typeface="Noto Sans KR" pitchFamily="34" charset="0"/>
                <a:ea typeface="Noto Sans KR" pitchFamily="34" charset="-122"/>
                <a:cs typeface="Noto Sans KR" pitchFamily="34" charset="-120"/>
              </a:rPr>
              <a:t>이미지 3장 생성이 응답 속도를 붙잡는다</a:t>
            </a:r>
            <a:endParaRPr lang="en-US" sz="2400" dirty="0"/>
          </a:p>
        </p:txBody>
      </p:sp>
      <p:sp>
        <p:nvSpPr>
          <p:cNvPr id="22" name="Text 20"/>
          <p:cNvSpPr/>
          <p:nvPr/>
        </p:nvSpPr>
        <p:spPr>
          <a:xfrm>
            <a:off x="4400550" y="8790236"/>
            <a:ext cx="9387840" cy="371475"/>
          </a:xfrm>
          <a:prstGeom prst="rect">
            <a:avLst/>
          </a:prstGeom>
          <a:noFill/>
          <a:ln/>
        </p:spPr>
        <p:txBody>
          <a:bodyPr wrap="square" lIns="25400" tIns="25400" rIns="25400" bIns="25400" rtlCol="0" anchor="t">
            <a:normAutofit/>
          </a:bodyPr>
          <a:lstStyle/>
          <a:p>
            <a:pPr marL="0" indent="0" algn="l">
              <a:lnSpc>
                <a:spcPct val="97222"/>
              </a:lnSpc>
              <a:buNone/>
            </a:pPr>
            <a:r>
              <a:rPr lang="en-US" sz="1875" dirty="0">
                <a:solidFill>
                  <a:srgbClr val="6B7280"/>
                </a:solidFill>
                <a:latin typeface="Noto Sans KR" pitchFamily="34" charset="0"/>
                <a:ea typeface="Noto Sans KR" pitchFamily="34" charset="-122"/>
                <a:cs typeface="Noto Sans KR" pitchFamily="34" charset="-120"/>
              </a:rPr>
              <a:t>순차 생성 구조라 요청당 대기 시간이 길어짐</a:t>
            </a:r>
            <a:endParaRPr lang="en-US" sz="1875" dirty="0"/>
          </a:p>
        </p:txBody>
      </p:sp>
      <p:sp>
        <p:nvSpPr>
          <p:cNvPr id="23" name="Text 21"/>
          <p:cNvSpPr/>
          <p:nvPr/>
        </p:nvSpPr>
        <p:spPr>
          <a:xfrm>
            <a:off x="13239750" y="8552111"/>
            <a:ext cx="4191000" cy="409575"/>
          </a:xfrm>
          <a:prstGeom prst="rect">
            <a:avLst/>
          </a:prstGeom>
          <a:noFill/>
          <a:ln/>
        </p:spPr>
        <p:txBody>
          <a:bodyPr wrap="square" lIns="25400" tIns="25400" rIns="25400" bIns="25400" rtlCol="0" anchor="t">
            <a:normAutofit/>
          </a:bodyPr>
          <a:lstStyle/>
          <a:p>
            <a:pPr marL="0" indent="0" algn="l">
              <a:buNone/>
            </a:pPr>
            <a:r>
              <a:rPr lang="en-US" sz="2025" b="1" dirty="0">
                <a:solidFill>
                  <a:srgbClr val="6A5AED"/>
                </a:solidFill>
                <a:latin typeface="Noto Sans KR" pitchFamily="34" charset="0"/>
                <a:ea typeface="Noto Sans KR" pitchFamily="34" charset="-122"/>
                <a:cs typeface="Noto Sans KR" pitchFamily="34" charset="-120"/>
              </a:rPr>
              <a:t>→ 비동기 큐 + 추론 서버 병렬화</a:t>
            </a:r>
            <a:endParaRPr lang="en-US" sz="20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6A5AED"/>
        </a:solidFill>
        <a:effectLst/>
      </p:bgPr>
    </p:bg>
    <p:spTree>
      <p:nvGrpSpPr>
        <p:cNvPr id="1" name=""/>
        <p:cNvGrpSpPr/>
        <p:nvPr/>
      </p:nvGrpSpPr>
      <p:grpSpPr>
        <a:xfrm>
          <a:off x="0" y="0"/>
          <a:ext cx="0" cy="0"/>
          <a:chOff x="0" y="0"/>
          <a:chExt cx="0" cy="0"/>
        </a:xfrm>
      </p:grpSpPr>
      <p:sp>
        <p:nvSpPr>
          <p:cNvPr id="2" name="Shape 0"/>
          <p:cNvSpPr/>
          <p:nvPr/>
        </p:nvSpPr>
        <p:spPr>
          <a:xfrm>
            <a:off x="914400" y="862013"/>
            <a:ext cx="114300" cy="114300"/>
          </a:xfrm>
          <a:prstGeom prst="ellipse">
            <a:avLst/>
          </a:prstGeom>
          <a:solidFill>
            <a:srgbClr val="FFB703"/>
          </a:solidFill>
          <a:ln/>
        </p:spPr>
        <p:txBody>
          <a:bodyPr/>
          <a:lstStyle/>
          <a:p>
            <a:endParaRPr lang="ko-KR" altLang="en-US"/>
          </a:p>
        </p:txBody>
      </p:sp>
      <p:sp>
        <p:nvSpPr>
          <p:cNvPr id="3" name="Text 1"/>
          <p:cNvSpPr/>
          <p:nvPr/>
        </p:nvSpPr>
        <p:spPr>
          <a:xfrm>
            <a:off x="1181100" y="762000"/>
            <a:ext cx="2640330" cy="352425"/>
          </a:xfrm>
          <a:prstGeom prst="rect">
            <a:avLst/>
          </a:prstGeom>
          <a:noFill/>
          <a:ln/>
        </p:spPr>
        <p:txBody>
          <a:bodyPr wrap="square" lIns="25400" tIns="25400" rIns="25400" bIns="25400" rtlCol="0" anchor="t">
            <a:normAutofit/>
          </a:bodyPr>
          <a:lstStyle/>
          <a:p>
            <a:pPr marL="0" indent="0" algn="l">
              <a:buNone/>
            </a:pPr>
            <a:r>
              <a:rPr lang="en-US" sz="1875" kern="0" spc="225" dirty="0">
                <a:solidFill>
                  <a:srgbClr val="D6D0FF"/>
                </a:solidFill>
                <a:latin typeface="IBM Plex Mono" pitchFamily="34" charset="0"/>
                <a:ea typeface="IBM Plex Mono" pitchFamily="34" charset="-122"/>
                <a:cs typeface="IBM Plex Mono" pitchFamily="34" charset="-120"/>
              </a:rPr>
              <a:t>08 · LIVE DEMO</a:t>
            </a:r>
            <a:endParaRPr lang="en-US" sz="1875" dirty="0"/>
          </a:p>
        </p:txBody>
      </p:sp>
      <p:sp>
        <p:nvSpPr>
          <p:cNvPr id="4" name="Text 2"/>
          <p:cNvSpPr/>
          <p:nvPr/>
        </p:nvSpPr>
        <p:spPr>
          <a:xfrm>
            <a:off x="914400" y="4101554"/>
            <a:ext cx="10446559" cy="1211461"/>
          </a:xfrm>
          <a:prstGeom prst="rect">
            <a:avLst/>
          </a:prstGeom>
          <a:noFill/>
          <a:ln/>
        </p:spPr>
        <p:txBody>
          <a:bodyPr wrap="square" lIns="25400" tIns="25400" rIns="25400" bIns="25400" rtlCol="0" anchor="t">
            <a:normAutofit/>
          </a:bodyPr>
          <a:lstStyle/>
          <a:p>
            <a:pPr marL="0" indent="0" algn="l">
              <a:lnSpc>
                <a:spcPct val="76049"/>
              </a:lnSpc>
              <a:buNone/>
            </a:pPr>
            <a:r>
              <a:rPr lang="en-US" sz="8400" b="1" kern="0" spc="-336" dirty="0">
                <a:solidFill>
                  <a:srgbClr val="FFFFFF"/>
                </a:solidFill>
                <a:latin typeface="Noto Sans KR" pitchFamily="34" charset="0"/>
                <a:ea typeface="Noto Sans KR" pitchFamily="34" charset="-122"/>
                <a:cs typeface="Noto Sans KR" pitchFamily="34" charset="-120"/>
              </a:rPr>
              <a:t>감사합니다</a:t>
            </a:r>
            <a:endParaRPr lang="en-US" sz="8400" dirty="0"/>
          </a:p>
        </p:txBody>
      </p:sp>
      <p:sp>
        <p:nvSpPr>
          <p:cNvPr id="5" name="Text 3"/>
          <p:cNvSpPr/>
          <p:nvPr/>
        </p:nvSpPr>
        <p:spPr>
          <a:xfrm>
            <a:off x="914400" y="5598765"/>
            <a:ext cx="10446559" cy="624780"/>
          </a:xfrm>
          <a:prstGeom prst="rect">
            <a:avLst/>
          </a:prstGeom>
          <a:noFill/>
          <a:ln/>
        </p:spPr>
        <p:txBody>
          <a:bodyPr wrap="square" lIns="25400" tIns="25400" rIns="25400" bIns="25400" rtlCol="0" anchor="t">
            <a:normAutofit/>
          </a:bodyPr>
          <a:lstStyle/>
          <a:p>
            <a:pPr marL="0" indent="0" algn="l">
              <a:lnSpc>
                <a:spcPct val="96250"/>
              </a:lnSpc>
              <a:buNone/>
            </a:pPr>
            <a:r>
              <a:rPr lang="en-US" sz="3300" dirty="0">
                <a:solidFill>
                  <a:srgbClr val="EDEAFE"/>
                </a:solidFill>
                <a:latin typeface="Noto Sans KR" pitchFamily="34" charset="0"/>
                <a:ea typeface="Noto Sans KR" pitchFamily="34" charset="-122"/>
                <a:cs typeface="Noto Sans KR" pitchFamily="34" charset="-120"/>
              </a:rPr>
              <a:t>이어서 라이브 시연으로 넘어가겠습니다</a:t>
            </a:r>
            <a:endParaRPr lang="en-US" sz="3300" dirty="0"/>
          </a:p>
        </p:txBody>
      </p:sp>
      <p:sp>
        <p:nvSpPr>
          <p:cNvPr id="6" name="Text 4"/>
          <p:cNvSpPr/>
          <p:nvPr/>
        </p:nvSpPr>
        <p:spPr>
          <a:xfrm>
            <a:off x="914400" y="9210675"/>
            <a:ext cx="10446559" cy="390525"/>
          </a:xfrm>
          <a:prstGeom prst="rect">
            <a:avLst/>
          </a:prstGeom>
          <a:noFill/>
          <a:ln/>
        </p:spPr>
        <p:txBody>
          <a:bodyPr wrap="square" lIns="25400" tIns="25400" rIns="25400" bIns="25400" rtlCol="0" anchor="t">
            <a:normAutofit/>
          </a:bodyPr>
          <a:lstStyle/>
          <a:p>
            <a:pPr marL="0" indent="0" algn="l">
              <a:buNone/>
            </a:pPr>
            <a:r>
              <a:rPr lang="en-US" sz="1950" dirty="0">
                <a:solidFill>
                  <a:srgbClr val="C7BEFB"/>
                </a:solidFill>
                <a:latin typeface="Noto Sans KR" pitchFamily="34" charset="0"/>
                <a:ea typeface="Noto Sans KR" pitchFamily="34" charset="-122"/>
                <a:cs typeface="Noto Sans KR" pitchFamily="34" charset="-120"/>
              </a:rPr>
              <a:t>매출부스터 · 불꽃6팀</a:t>
            </a:r>
            <a:endParaRPr lang="en-US" sz="1950" dirty="0"/>
          </a:p>
        </p:txBody>
      </p:sp>
      <p:pic>
        <p:nvPicPr>
          <p:cNvPr id="7" name="Image 0" descr="preencoded.png"/>
          <p:cNvPicPr>
            <a:picLocks noChangeAspect="1"/>
          </p:cNvPicPr>
          <p:nvPr/>
        </p:nvPicPr>
        <p:blipFill>
          <a:blip r:embed="rId3"/>
          <a:srcRect/>
          <a:stretch/>
        </p:blipFill>
        <p:spPr>
          <a:xfrm>
            <a:off x="10601771" y="6081861"/>
            <a:ext cx="7305229" cy="42051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1938</Words>
  <Application>Microsoft Office PowerPoint</Application>
  <PresentationFormat>사용자 지정</PresentationFormat>
  <Paragraphs>365</Paragraphs>
  <Slides>19</Slides>
  <Notes>19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19</vt:i4>
      </vt:variant>
    </vt:vector>
  </HeadingPairs>
  <TitlesOfParts>
    <vt:vector size="23" baseType="lpstr">
      <vt:lpstr>Noto Sans KR</vt:lpstr>
      <vt:lpstr>Arial</vt:lpstr>
      <vt:lpstr>IBM Plex Mono</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봉학 전</cp:lastModifiedBy>
  <cp:revision>26</cp:revision>
  <dcterms:created xsi:type="dcterms:W3CDTF">2026-08-30T13:28:24Z</dcterms:created>
  <dcterms:modified xsi:type="dcterms:W3CDTF">2026-08-30T13:59:55Z</dcterms:modified>
</cp:coreProperties>
</file>